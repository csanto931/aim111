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58" r:id="rId3"/>
    <p:sldId id="257" r:id="rId4"/>
    <p:sldId id="287" r:id="rId5"/>
    <p:sldId id="288" r:id="rId6"/>
    <p:sldId id="289" r:id="rId7"/>
    <p:sldId id="290" r:id="rId8"/>
    <p:sldId id="291"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6" r:id="rId22"/>
    <p:sldId id="307" r:id="rId23"/>
    <p:sldId id="30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DC9FD-E3B8-212A-BDB0-273D0356A4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24F6FD-64F1-634D-94BF-357DA27208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9A6D35-D60B-13B9-BB84-C262825D886B}"/>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5" name="Footer Placeholder 4">
            <a:extLst>
              <a:ext uri="{FF2B5EF4-FFF2-40B4-BE49-F238E27FC236}">
                <a16:creationId xmlns:a16="http://schemas.microsoft.com/office/drawing/2014/main" id="{EA954EE2-9952-A148-9E9E-AD0BA0323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3F291F-DB48-0F34-D84C-7AD4EBB3023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23336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2C735-779F-C757-F774-855FED5270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38C84-1DAF-F7E9-0A5A-294A5D6014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9E8461-36A7-1E94-F809-07AD0D84C704}"/>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5" name="Footer Placeholder 4">
            <a:extLst>
              <a:ext uri="{FF2B5EF4-FFF2-40B4-BE49-F238E27FC236}">
                <a16:creationId xmlns:a16="http://schemas.microsoft.com/office/drawing/2014/main" id="{278DE4FF-ACA8-8AA4-3E49-84B3F2C0C3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9AB5A-7DF1-F212-C1F2-43F1F7B2E11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104398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4341-D5C9-E033-66FB-77F08F15DA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D941C3-9570-0A85-FDBC-20D8BE22A6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2059B-D474-7B99-4D12-87AAFEB9DDD9}"/>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5" name="Footer Placeholder 4">
            <a:extLst>
              <a:ext uri="{FF2B5EF4-FFF2-40B4-BE49-F238E27FC236}">
                <a16:creationId xmlns:a16="http://schemas.microsoft.com/office/drawing/2014/main" id="{4E67481D-6C92-BF07-32EA-EB6806847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1AD186-8D2F-9115-8872-7850FED92CFC}"/>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89317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4C481-80A3-972A-500F-9453DD8337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56019-55AE-831D-2EE2-D5A8759230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35599D-C0D6-E642-67EF-31EC984CEA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025033-B440-E621-E395-EE82C52D11A6}"/>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6" name="Footer Placeholder 5">
            <a:extLst>
              <a:ext uri="{FF2B5EF4-FFF2-40B4-BE49-F238E27FC236}">
                <a16:creationId xmlns:a16="http://schemas.microsoft.com/office/drawing/2014/main" id="{B6CBC36A-2637-7090-257A-F3851CB06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71F7EF-9CA4-6038-7DEA-604810A8856C}"/>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885845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49E5-09FD-F56F-A4AA-2DED9B7FE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6239B2-139F-616E-E7D3-5F9D388E25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B7AF94-CA4F-DC99-2B34-D53BE4B46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155B7-950F-67A9-DFA8-2BBBEB6EAE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F30D30-FDFE-5CD2-BFFB-709A807599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3615E9-2BEE-67D0-3425-5B8A12E92ADA}"/>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8" name="Footer Placeholder 7">
            <a:extLst>
              <a:ext uri="{FF2B5EF4-FFF2-40B4-BE49-F238E27FC236}">
                <a16:creationId xmlns:a16="http://schemas.microsoft.com/office/drawing/2014/main" id="{AE17D5A5-D2B3-8820-2E1C-8832789198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48A4E-F611-2729-904F-701D0F016E93}"/>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205621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FB271-BA21-C458-C84B-ABC51B6AA2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DAD841-18E9-A579-DBC9-88FDCEC24A5C}"/>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4" name="Footer Placeholder 3">
            <a:extLst>
              <a:ext uri="{FF2B5EF4-FFF2-40B4-BE49-F238E27FC236}">
                <a16:creationId xmlns:a16="http://schemas.microsoft.com/office/drawing/2014/main" id="{4C352AC2-D92A-6B51-C3A2-5148239BD9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AE40B-2BB8-D754-C22A-B276CD95F408}"/>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337750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70B851-C0CD-8081-7F05-8BBCD533E756}"/>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3" name="Footer Placeholder 2">
            <a:extLst>
              <a:ext uri="{FF2B5EF4-FFF2-40B4-BE49-F238E27FC236}">
                <a16:creationId xmlns:a16="http://schemas.microsoft.com/office/drawing/2014/main" id="{78FA55F1-D9E0-C598-B56C-AAAF3B39D4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425BD6-C706-FFEC-EDD3-1FC5E5DFC150}"/>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53304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A170-E7EF-C57B-50A9-66CF14AAE7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1571D2-A59D-EC89-E66D-9CA7D007FB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66F628-CA58-7290-3CEA-5AF3C1CAF1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656E4F-FAF1-1314-E813-8DD762AC5341}"/>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6" name="Footer Placeholder 5">
            <a:extLst>
              <a:ext uri="{FF2B5EF4-FFF2-40B4-BE49-F238E27FC236}">
                <a16:creationId xmlns:a16="http://schemas.microsoft.com/office/drawing/2014/main" id="{B4CBAC08-31B6-33AD-63B0-4D368EAF64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9413B7-DC01-1696-C6F9-C291973652C0}"/>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481382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0D6E3-3E56-627F-415E-B4509CAC4C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F568D5-CEDC-C147-DBAF-ADE9E137AF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6136B5-8221-5378-A21D-28C916058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B659EB-19C9-B77B-FC92-9DA20DF5C47C}"/>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6" name="Footer Placeholder 5">
            <a:extLst>
              <a:ext uri="{FF2B5EF4-FFF2-40B4-BE49-F238E27FC236}">
                <a16:creationId xmlns:a16="http://schemas.microsoft.com/office/drawing/2014/main" id="{F8870438-E152-2FE8-93F5-5DC3E56174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DEDAF4-AA61-A60C-DF2A-57FC28D38E1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74820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D34A-13DE-5EB1-B5CD-D9E45D5C64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FE28C1-A2B8-BB84-13A5-121BF7BFAB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AB042F-4C06-3D08-0DFE-792E151134E2}"/>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5" name="Footer Placeholder 4">
            <a:extLst>
              <a:ext uri="{FF2B5EF4-FFF2-40B4-BE49-F238E27FC236}">
                <a16:creationId xmlns:a16="http://schemas.microsoft.com/office/drawing/2014/main" id="{FC08FC7A-87D3-EFB7-EDDF-4420131A8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C2BE9-8577-17CE-675C-D35045D58387}"/>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16593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24A8DE-F49C-1A4E-FA36-C7D9DF1C1E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C56811-E407-77CD-52B0-4E0668B60E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D37D6-4E4F-3E31-4311-084B118394C3}"/>
              </a:ext>
            </a:extLst>
          </p:cNvPr>
          <p:cNvSpPr>
            <a:spLocks noGrp="1"/>
          </p:cNvSpPr>
          <p:nvPr>
            <p:ph type="dt" sz="half" idx="10"/>
          </p:nvPr>
        </p:nvSpPr>
        <p:spPr/>
        <p:txBody>
          <a:bodyPr/>
          <a:lstStyle/>
          <a:p>
            <a:fld id="{C7DB579E-1A88-429C-AB76-003AB8900BC5}" type="datetimeFigureOut">
              <a:rPr lang="en-US" smtClean="0"/>
              <a:t>1/21/2024</a:t>
            </a:fld>
            <a:endParaRPr lang="en-US"/>
          </a:p>
        </p:txBody>
      </p:sp>
      <p:sp>
        <p:nvSpPr>
          <p:cNvPr id="5" name="Footer Placeholder 4">
            <a:extLst>
              <a:ext uri="{FF2B5EF4-FFF2-40B4-BE49-F238E27FC236}">
                <a16:creationId xmlns:a16="http://schemas.microsoft.com/office/drawing/2014/main" id="{29628165-A1F8-5BE3-330B-AFE474D69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4DA54-7235-E818-079B-DB443DD44FFD}"/>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157123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0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F4E9FE9-6A07-4A56-9C75-EDF2AEA0D093}"/>
              </a:ext>
            </a:extLst>
          </p:cNvPr>
          <p:cNvSpPr>
            <a:spLocks noGrp="1"/>
          </p:cNvSpPr>
          <p:nvPr>
            <p:ph type="pic" sz="quarter" idx="20" hasCustomPrompt="1"/>
          </p:nvPr>
        </p:nvSpPr>
        <p:spPr>
          <a:xfrm>
            <a:off x="6096002" y="441325"/>
            <a:ext cx="6095999" cy="5062828"/>
          </a:xfrm>
          <a:custGeom>
            <a:avLst/>
            <a:gdLst>
              <a:gd name="connsiteX0" fmla="*/ 0 w 6095999"/>
              <a:gd name="connsiteY0" fmla="*/ 0 h 5062828"/>
              <a:gd name="connsiteX1" fmla="*/ 6095999 w 6095999"/>
              <a:gd name="connsiteY1" fmla="*/ 0 h 5062828"/>
              <a:gd name="connsiteX2" fmla="*/ 6095999 w 6095999"/>
              <a:gd name="connsiteY2" fmla="*/ 5062828 h 5062828"/>
              <a:gd name="connsiteX3" fmla="*/ 0 w 6095999"/>
              <a:gd name="connsiteY3" fmla="*/ 5062828 h 5062828"/>
            </a:gdLst>
            <a:ahLst/>
            <a:cxnLst>
              <a:cxn ang="0">
                <a:pos x="connsiteX0" y="connsiteY0"/>
              </a:cxn>
              <a:cxn ang="0">
                <a:pos x="connsiteX1" y="connsiteY1"/>
              </a:cxn>
              <a:cxn ang="0">
                <a:pos x="connsiteX2" y="connsiteY2"/>
              </a:cxn>
              <a:cxn ang="0">
                <a:pos x="connsiteX3" y="connsiteY3"/>
              </a:cxn>
            </a:cxnLst>
            <a:rect l="l" t="t" r="r" b="b"/>
            <a:pathLst>
              <a:path w="6095999" h="5062828">
                <a:moveTo>
                  <a:pt x="0" y="0"/>
                </a:moveTo>
                <a:lnTo>
                  <a:pt x="6095999" y="0"/>
                </a:lnTo>
                <a:lnTo>
                  <a:pt x="6095999" y="5062828"/>
                </a:lnTo>
                <a:lnTo>
                  <a:pt x="0" y="5062828"/>
                </a:lnTo>
                <a:close/>
              </a:path>
            </a:pathLst>
          </a:custGeom>
          <a:solidFill>
            <a:schemeClr val="tx2"/>
          </a:solidFill>
        </p:spPr>
        <p:txBody>
          <a:bodyPr wrap="square">
            <a:noAutofit/>
          </a:bodyPr>
          <a:lstStyle/>
          <a:p>
            <a:r>
              <a:rPr lang="en-US" dirty="0"/>
              <a:t>Photo Placeholders. Click icon to add picture</a:t>
            </a:r>
          </a:p>
        </p:txBody>
      </p:sp>
      <p:sp>
        <p:nvSpPr>
          <p:cNvPr id="7" name="Title 1">
            <a:extLst>
              <a:ext uri="{FF2B5EF4-FFF2-40B4-BE49-F238E27FC236}">
                <a16:creationId xmlns:a16="http://schemas.microsoft.com/office/drawing/2014/main" id="{C7FE5080-4CBF-4E22-BC00-52B66CC3E7C9}"/>
              </a:ext>
            </a:extLst>
          </p:cNvPr>
          <p:cNvSpPr>
            <a:spLocks noGrp="1"/>
          </p:cNvSpPr>
          <p:nvPr>
            <p:ph type="title"/>
          </p:nvPr>
        </p:nvSpPr>
        <p:spPr>
          <a:xfrm>
            <a:off x="673534" y="1274596"/>
            <a:ext cx="4745736" cy="2587752"/>
          </a:xfrm>
        </p:spPr>
        <p:txBody>
          <a:bodyPr anchor="t"/>
          <a:lstStyle>
            <a:lvl1pPr>
              <a:defRPr sz="5400" b="0" i="0">
                <a:solidFill>
                  <a:schemeClr val="accent5"/>
                </a:solidFill>
              </a:defRPr>
            </a:lvl1pPr>
          </a:lstStyle>
          <a:p>
            <a:r>
              <a:rPr lang="en-US" dirty="0"/>
              <a:t>Click to edit Master title style</a:t>
            </a:r>
            <a:endParaRPr lang="en-ID" dirty="0"/>
          </a:p>
        </p:txBody>
      </p:sp>
      <p:sp>
        <p:nvSpPr>
          <p:cNvPr id="8" name="Text Placeholder 9">
            <a:extLst>
              <a:ext uri="{FF2B5EF4-FFF2-40B4-BE49-F238E27FC236}">
                <a16:creationId xmlns:a16="http://schemas.microsoft.com/office/drawing/2014/main" id="{571609DA-66ED-4C86-872A-61E196B38594}"/>
              </a:ext>
            </a:extLst>
          </p:cNvPr>
          <p:cNvSpPr>
            <a:spLocks noGrp="1"/>
          </p:cNvSpPr>
          <p:nvPr>
            <p:ph type="body" sz="quarter" idx="19"/>
          </p:nvPr>
        </p:nvSpPr>
        <p:spPr>
          <a:xfrm>
            <a:off x="6437387" y="5818272"/>
            <a:ext cx="5413248" cy="274320"/>
          </a:xfrm>
        </p:spPr>
        <p:txBody>
          <a:bodyPr/>
          <a:lstStyle>
            <a:lvl1pPr algn="l">
              <a:defRPr sz="1200" b="0">
                <a:solidFill>
                  <a:schemeClr val="tx1"/>
                </a:solidFill>
                <a:latin typeface="+mj-lt"/>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9" name="Text Placeholder 9">
            <a:extLst>
              <a:ext uri="{FF2B5EF4-FFF2-40B4-BE49-F238E27FC236}">
                <a16:creationId xmlns:a16="http://schemas.microsoft.com/office/drawing/2014/main" id="{2FB15010-F25A-4BF8-B8E2-5AF627C382F4}"/>
              </a:ext>
            </a:extLst>
          </p:cNvPr>
          <p:cNvSpPr>
            <a:spLocks noGrp="1"/>
          </p:cNvSpPr>
          <p:nvPr>
            <p:ph type="body" sz="quarter" idx="21"/>
          </p:nvPr>
        </p:nvSpPr>
        <p:spPr>
          <a:xfrm>
            <a:off x="6437387" y="6116794"/>
            <a:ext cx="5413248" cy="429768"/>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12" name="Text Placeholder 9">
            <a:extLst>
              <a:ext uri="{FF2B5EF4-FFF2-40B4-BE49-F238E27FC236}">
                <a16:creationId xmlns:a16="http://schemas.microsoft.com/office/drawing/2014/main" id="{10E7DD5E-B87C-401E-A519-F54908646751}"/>
              </a:ext>
            </a:extLst>
          </p:cNvPr>
          <p:cNvSpPr>
            <a:spLocks noGrp="1"/>
          </p:cNvSpPr>
          <p:nvPr>
            <p:ph type="body" sz="quarter" idx="22"/>
          </p:nvPr>
        </p:nvSpPr>
        <p:spPr>
          <a:xfrm>
            <a:off x="2755466" y="4812879"/>
            <a:ext cx="2670048" cy="768096"/>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Tree>
    <p:extLst>
      <p:ext uri="{BB962C8B-B14F-4D97-AF65-F5344CB8AC3E}">
        <p14:creationId xmlns:p14="http://schemas.microsoft.com/office/powerpoint/2010/main" val="147916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85FE1F-0EB5-FB27-D8A2-B72BA27CB7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25D2FC-D485-963D-1C9F-F0148A862E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4B699-CD63-C147-6023-44E1629E7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DB579E-1A88-429C-AB76-003AB8900BC5}" type="datetimeFigureOut">
              <a:rPr lang="en-US" smtClean="0"/>
              <a:t>1/21/2024</a:t>
            </a:fld>
            <a:endParaRPr lang="en-US"/>
          </a:p>
        </p:txBody>
      </p:sp>
      <p:sp>
        <p:nvSpPr>
          <p:cNvPr id="5" name="Footer Placeholder 4">
            <a:extLst>
              <a:ext uri="{FF2B5EF4-FFF2-40B4-BE49-F238E27FC236}">
                <a16:creationId xmlns:a16="http://schemas.microsoft.com/office/drawing/2014/main" id="{85FE528B-810B-0C3B-AC81-229D514CE3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9FC8D6-DE69-E919-8AE5-7C3B316846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336F93-8E0C-4AEA-B888-672BED38A984}" type="slidenum">
              <a:rPr lang="en-US" smtClean="0"/>
              <a:t>‹#›</a:t>
            </a:fld>
            <a:endParaRPr lang="en-US"/>
          </a:p>
        </p:txBody>
      </p:sp>
    </p:spTree>
    <p:extLst>
      <p:ext uri="{BB962C8B-B14F-4D97-AF65-F5344CB8AC3E}">
        <p14:creationId xmlns:p14="http://schemas.microsoft.com/office/powerpoint/2010/main" val="3260927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86B6488-1CC9-7F40-82C6-F909C530C29A}"/>
              </a:ext>
            </a:extLst>
          </p:cNvPr>
          <p:cNvGrpSpPr/>
          <p:nvPr/>
        </p:nvGrpSpPr>
        <p:grpSpPr>
          <a:xfrm>
            <a:off x="-1" y="6022608"/>
            <a:ext cx="12192000" cy="847493"/>
            <a:chOff x="-1" y="0"/>
            <a:chExt cx="12192000" cy="847493"/>
          </a:xfrm>
        </p:grpSpPr>
        <p:sp>
          <p:nvSpPr>
            <p:cNvPr id="39" name="Rectangle 38">
              <a:extLst>
                <a:ext uri="{FF2B5EF4-FFF2-40B4-BE49-F238E27FC236}">
                  <a16:creationId xmlns:a16="http://schemas.microsoft.com/office/drawing/2014/main" id="{F5FFB2B3-4333-BA42-AEBD-E7148E7E68DA}"/>
                </a:ext>
              </a:extLst>
            </p:cNvPr>
            <p:cNvSpPr/>
            <p:nvPr/>
          </p:nvSpPr>
          <p:spPr>
            <a:xfrm>
              <a:off x="-1" y="0"/>
              <a:ext cx="12192000" cy="847493"/>
            </a:xfrm>
            <a:prstGeom prst="rect">
              <a:avLst/>
            </a:prstGeom>
            <a:solidFill>
              <a:srgbClr val="004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4" descr="DO-white_H.eps">
              <a:extLst>
                <a:ext uri="{FF2B5EF4-FFF2-40B4-BE49-F238E27FC236}">
                  <a16:creationId xmlns:a16="http://schemas.microsoft.com/office/drawing/2014/main" id="{CD194316-BFB1-3B44-8C9C-C22D48FD7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3374" y="232193"/>
              <a:ext cx="21240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5">
              <a:extLst>
                <a:ext uri="{FF2B5EF4-FFF2-40B4-BE49-F238E27FC236}">
                  <a16:creationId xmlns:a16="http://schemas.microsoft.com/office/drawing/2014/main" id="{2E6F5819-6105-2748-BD8B-F8502F108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07" y="201824"/>
              <a:ext cx="2577215" cy="498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Title 9">
            <a:extLst>
              <a:ext uri="{FF2B5EF4-FFF2-40B4-BE49-F238E27FC236}">
                <a16:creationId xmlns:a16="http://schemas.microsoft.com/office/drawing/2014/main" id="{208786AD-4912-4815-ADE4-F0D99F14C52E}"/>
              </a:ext>
            </a:extLst>
          </p:cNvPr>
          <p:cNvSpPr>
            <a:spLocks noGrp="1"/>
          </p:cNvSpPr>
          <p:nvPr>
            <p:ph type="title"/>
          </p:nvPr>
        </p:nvSpPr>
        <p:spPr>
          <a:xfrm>
            <a:off x="159391" y="427106"/>
            <a:ext cx="3092767" cy="5448513"/>
          </a:xfrm>
        </p:spPr>
        <p:txBody>
          <a:bodyPr>
            <a:normAutofit/>
          </a:bodyPr>
          <a:lstStyle/>
          <a:p>
            <a:br>
              <a:rPr lang="en-US" dirty="0">
                <a:solidFill>
                  <a:srgbClr val="004C97"/>
                </a:solidFill>
              </a:rPr>
            </a:br>
            <a:r>
              <a:rPr lang="en-US" sz="5300" dirty="0">
                <a:solidFill>
                  <a:srgbClr val="004C97"/>
                </a:solidFill>
              </a:rPr>
              <a:t>CIS215 </a:t>
            </a:r>
            <a:br>
              <a:rPr lang="en-US" sz="1800" dirty="0">
                <a:solidFill>
                  <a:srgbClr val="004C97"/>
                </a:solidFill>
              </a:rPr>
            </a:br>
            <a:br>
              <a:rPr lang="en-US" sz="1800" dirty="0">
                <a:solidFill>
                  <a:srgbClr val="004C97"/>
                </a:solidFill>
              </a:rPr>
            </a:br>
            <a:br>
              <a:rPr lang="en-US" sz="1800" dirty="0">
                <a:solidFill>
                  <a:srgbClr val="004C97"/>
                </a:solidFill>
              </a:rPr>
            </a:br>
            <a:br>
              <a:rPr lang="en-US" sz="1800" dirty="0">
                <a:solidFill>
                  <a:srgbClr val="004C97"/>
                </a:solidFill>
              </a:rPr>
            </a:br>
            <a:br>
              <a:rPr lang="en-US" sz="1800" dirty="0">
                <a:solidFill>
                  <a:srgbClr val="004C97"/>
                </a:solidFill>
              </a:rPr>
            </a:br>
            <a:r>
              <a:rPr lang="en-US" sz="1800" dirty="0">
                <a:solidFill>
                  <a:srgbClr val="004C97"/>
                </a:solidFill>
              </a:rPr>
              <a:t>Foundations of Data Analytics and Programming</a:t>
            </a:r>
            <a:br>
              <a:rPr lang="en-US" sz="1800" dirty="0">
                <a:solidFill>
                  <a:srgbClr val="004C97"/>
                </a:solidFill>
              </a:rPr>
            </a:br>
            <a:br>
              <a:rPr lang="en-US" sz="1800" dirty="0">
                <a:solidFill>
                  <a:srgbClr val="004C97"/>
                </a:solidFill>
              </a:rPr>
            </a:br>
            <a:r>
              <a:rPr lang="en-US" sz="1800" dirty="0">
                <a:solidFill>
                  <a:srgbClr val="004C97"/>
                </a:solidFill>
              </a:rPr>
              <a:t>Instructor:  Chris Santo</a:t>
            </a:r>
            <a:br>
              <a:rPr lang="en-US" sz="1800" dirty="0">
                <a:solidFill>
                  <a:srgbClr val="004C97"/>
                </a:solidFill>
              </a:rPr>
            </a:br>
            <a:br>
              <a:rPr lang="en-US" sz="1800" dirty="0">
                <a:solidFill>
                  <a:srgbClr val="004C97"/>
                </a:solidFill>
              </a:rPr>
            </a:br>
            <a:br>
              <a:rPr lang="en-US" sz="1800" dirty="0">
                <a:solidFill>
                  <a:srgbClr val="004C97"/>
                </a:solidFill>
              </a:rPr>
            </a:br>
            <a:r>
              <a:rPr lang="en-US" sz="1800" dirty="0">
                <a:solidFill>
                  <a:srgbClr val="004C97"/>
                </a:solidFill>
              </a:rPr>
              <a:t>Module #2</a:t>
            </a:r>
            <a:br>
              <a:rPr lang="en-US" sz="1800" dirty="0">
                <a:solidFill>
                  <a:srgbClr val="004C97"/>
                </a:solidFill>
              </a:rPr>
            </a:br>
            <a:r>
              <a:rPr lang="en-US" sz="1800" dirty="0">
                <a:solidFill>
                  <a:srgbClr val="004C97"/>
                </a:solidFill>
              </a:rPr>
              <a:t>Practice Lab #1</a:t>
            </a:r>
            <a:br>
              <a:rPr lang="en-US" sz="1800" dirty="0">
                <a:solidFill>
                  <a:srgbClr val="004C97"/>
                </a:solidFill>
              </a:rPr>
            </a:br>
            <a:r>
              <a:rPr lang="en-US" sz="1800" dirty="0">
                <a:solidFill>
                  <a:srgbClr val="004C97"/>
                </a:solidFill>
              </a:rPr>
              <a:t>Hello World Assignment</a:t>
            </a:r>
            <a:br>
              <a:rPr lang="en-US" sz="1800" dirty="0">
                <a:solidFill>
                  <a:srgbClr val="004C97"/>
                </a:solidFill>
              </a:rPr>
            </a:br>
            <a:r>
              <a:rPr lang="en-US" sz="1800" dirty="0">
                <a:solidFill>
                  <a:srgbClr val="004C97"/>
                </a:solidFill>
              </a:rPr>
              <a:t>Walkthrough</a:t>
            </a:r>
            <a:endParaRPr lang="en-US" sz="5400" dirty="0">
              <a:solidFill>
                <a:srgbClr val="004C97"/>
              </a:solidFill>
              <a:latin typeface="+mj-lt"/>
            </a:endParaRPr>
          </a:p>
        </p:txBody>
      </p:sp>
      <p:pic>
        <p:nvPicPr>
          <p:cNvPr id="2" name="Picture 2" descr="Hello World | Microsoft Learn">
            <a:extLst>
              <a:ext uri="{FF2B5EF4-FFF2-40B4-BE49-F238E27FC236}">
                <a16:creationId xmlns:a16="http://schemas.microsoft.com/office/drawing/2014/main" id="{BE440890-7D10-CDA1-67CD-AC9C537DA1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6595" y="753918"/>
            <a:ext cx="8236445" cy="4612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9400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fontScale="92500"/>
          </a:bodyPr>
          <a:lstStyle/>
          <a:p>
            <a:pPr marL="0" indent="0" algn="l">
              <a:buNone/>
            </a:pPr>
            <a:r>
              <a:rPr lang="en-US" sz="2400" b="0" i="0" u="none" strike="noStrike" baseline="0" dirty="0">
                <a:latin typeface="BookAntiqua"/>
              </a:rPr>
              <a:t>As you put together your first workflow, you will learn how to interact with KNIME's user interface to connect, configure, and execute nodes: this is the bread and butter of any KNIME user, which you are about to become.</a:t>
            </a:r>
            <a:br>
              <a:rPr lang="en-US" sz="2400" b="0" i="0" u="none" strike="noStrike" baseline="0" dirty="0">
                <a:latin typeface="BookAntiqua"/>
              </a:rPr>
            </a:br>
            <a:br>
              <a:rPr lang="en-US" sz="2400" b="0" i="0" u="none" strike="noStrike" baseline="0" dirty="0">
                <a:latin typeface="BookAntiqua"/>
              </a:rPr>
            </a:br>
            <a:endParaRPr lang="en-US" sz="2400" b="0" i="0" u="none" strike="noStrike" baseline="0" dirty="0">
              <a:latin typeface="BookAntiqua"/>
            </a:endParaRPr>
          </a:p>
          <a:p>
            <a:pPr marL="0" indent="0" algn="l">
              <a:buNone/>
            </a:pPr>
            <a:endParaRPr lang="en-US" sz="2400" dirty="0">
              <a:latin typeface="BookAntiqua"/>
            </a:endParaRPr>
          </a:p>
          <a:p>
            <a:pPr marL="0" indent="0" algn="l">
              <a:buNone/>
            </a:pPr>
            <a:endParaRPr lang="en-US" sz="2400" b="0" i="0" u="none" strike="noStrike" baseline="0" dirty="0">
              <a:latin typeface="BookAntiqua"/>
            </a:endParaRPr>
          </a:p>
          <a:p>
            <a:pPr marL="0" indent="0" algn="l">
              <a:buNone/>
            </a:pPr>
            <a:endParaRPr lang="en-US" sz="2400" dirty="0">
              <a:latin typeface="BookAntiqua"/>
            </a:endParaRPr>
          </a:p>
          <a:p>
            <a:pPr marL="0" indent="0" algn="l">
              <a:buNone/>
            </a:pPr>
            <a:r>
              <a:rPr lang="en-US" sz="2400" b="0" i="0" u="none" strike="noStrike" baseline="0" dirty="0">
                <a:latin typeface="BookAntiqua"/>
              </a:rPr>
              <a:t>Let's imagine we have a simple and repetitive data operation to perform regularly:  every day we receive a text file in </a:t>
            </a:r>
            <a:r>
              <a:rPr lang="en-US" sz="2400" b="1" i="0" u="none" strike="noStrike" baseline="0" dirty="0">
                <a:latin typeface="BookAntiqua-Bold"/>
              </a:rPr>
              <a:t>Comma-Separated Value </a:t>
            </a:r>
            <a:r>
              <a:rPr lang="en-US" sz="2400" b="0" i="0" u="none" strike="noStrike" baseline="0" dirty="0">
                <a:latin typeface="BookAntiqua"/>
              </a:rPr>
              <a:t>(</a:t>
            </a:r>
            <a:r>
              <a:rPr lang="en-US" sz="2400" b="1" i="0" u="none" strike="noStrike" baseline="0" dirty="0">
                <a:latin typeface="BookAntiqua-Bold"/>
              </a:rPr>
              <a:t>CSV</a:t>
            </a:r>
            <a:r>
              <a:rPr lang="en-US" sz="2400" b="0" i="0" u="none" strike="noStrike" baseline="0" dirty="0">
                <a:latin typeface="BookAntiqua"/>
              </a:rPr>
              <a:t>) format, which reports the cumulative sales generated by country in the year to date. The original file has some unnecessary columns, and the order of rows is random. We need to apply some basic transformation steps so that we end up with a simple table showing just two columns: one is the name of the country, and the other is the amount of generated sales. We also want the rows to be sorted by decreasing sales. Lastly, we need to convert the file into Excel as it is a format that's easier to read for our colleagues. We can build a KNIME workflow that does exactly that once, in a way that we don't need to repeat the tedious task manually every day. Let's open KNIME Analytics Platform and build our time-saving workflow.</a:t>
            </a:r>
            <a:endParaRPr lang="en-US" sz="2400" dirty="0"/>
          </a:p>
        </p:txBody>
      </p:sp>
      <p:pic>
        <p:nvPicPr>
          <p:cNvPr id="5" name="Picture 4">
            <a:extLst>
              <a:ext uri="{FF2B5EF4-FFF2-40B4-BE49-F238E27FC236}">
                <a16:creationId xmlns:a16="http://schemas.microsoft.com/office/drawing/2014/main" id="{166B0D2E-56AB-8B57-A0F6-4D28E0054065}"/>
              </a:ext>
            </a:extLst>
          </p:cNvPr>
          <p:cNvPicPr>
            <a:picLocks noChangeAspect="1"/>
          </p:cNvPicPr>
          <p:nvPr/>
        </p:nvPicPr>
        <p:blipFill>
          <a:blip r:embed="rId2"/>
          <a:stretch>
            <a:fillRect/>
          </a:stretch>
        </p:blipFill>
        <p:spPr>
          <a:xfrm>
            <a:off x="926792" y="2066593"/>
            <a:ext cx="10421804" cy="1686160"/>
          </a:xfrm>
          <a:prstGeom prst="rect">
            <a:avLst/>
          </a:prstGeom>
        </p:spPr>
      </p:pic>
    </p:spTree>
    <p:extLst>
      <p:ext uri="{BB962C8B-B14F-4D97-AF65-F5344CB8AC3E}">
        <p14:creationId xmlns:p14="http://schemas.microsoft.com/office/powerpoint/2010/main" val="2019618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5BD8-867F-DD6F-933D-4A682189DE33}"/>
              </a:ext>
            </a:extLst>
          </p:cNvPr>
          <p:cNvSpPr>
            <a:spLocks noGrp="1"/>
          </p:cNvSpPr>
          <p:nvPr>
            <p:ph type="title"/>
          </p:nvPr>
        </p:nvSpPr>
        <p:spPr>
          <a:xfrm>
            <a:off x="810491" y="346653"/>
            <a:ext cx="10515600" cy="646332"/>
          </a:xfrm>
        </p:spPr>
        <p:txBody>
          <a:bodyPr>
            <a:normAutofit fontScale="90000"/>
          </a:bodyPr>
          <a:lstStyle/>
          <a:p>
            <a:pPr algn="ctr"/>
            <a:r>
              <a:rPr lang="en-US" dirty="0"/>
              <a:t>Hello World – An Overview of the ETL Process</a:t>
            </a:r>
          </a:p>
        </p:txBody>
      </p:sp>
      <p:pic>
        <p:nvPicPr>
          <p:cNvPr id="7" name="Picture 6">
            <a:extLst>
              <a:ext uri="{FF2B5EF4-FFF2-40B4-BE49-F238E27FC236}">
                <a16:creationId xmlns:a16="http://schemas.microsoft.com/office/drawing/2014/main" id="{88E2A757-79AA-6953-BEA6-FD7F70A9CCE1}"/>
              </a:ext>
            </a:extLst>
          </p:cNvPr>
          <p:cNvPicPr>
            <a:picLocks noChangeAspect="1"/>
          </p:cNvPicPr>
          <p:nvPr/>
        </p:nvPicPr>
        <p:blipFill>
          <a:blip r:embed="rId2"/>
          <a:stretch>
            <a:fillRect/>
          </a:stretch>
        </p:blipFill>
        <p:spPr>
          <a:xfrm>
            <a:off x="152167" y="3749394"/>
            <a:ext cx="3458351" cy="1811178"/>
          </a:xfrm>
          <a:prstGeom prst="rect">
            <a:avLst/>
          </a:prstGeom>
        </p:spPr>
      </p:pic>
      <p:pic>
        <p:nvPicPr>
          <p:cNvPr id="9" name="Picture 8">
            <a:extLst>
              <a:ext uri="{FF2B5EF4-FFF2-40B4-BE49-F238E27FC236}">
                <a16:creationId xmlns:a16="http://schemas.microsoft.com/office/drawing/2014/main" id="{4F7A03D3-D311-021F-9E35-AFFCAFD95C25}"/>
              </a:ext>
            </a:extLst>
          </p:cNvPr>
          <p:cNvPicPr>
            <a:picLocks noChangeAspect="1"/>
          </p:cNvPicPr>
          <p:nvPr/>
        </p:nvPicPr>
        <p:blipFill>
          <a:blip r:embed="rId3"/>
          <a:stretch>
            <a:fillRect/>
          </a:stretch>
        </p:blipFill>
        <p:spPr>
          <a:xfrm>
            <a:off x="6197890" y="3218547"/>
            <a:ext cx="1536183" cy="1366052"/>
          </a:xfrm>
          <a:prstGeom prst="rect">
            <a:avLst/>
          </a:prstGeom>
        </p:spPr>
      </p:pic>
      <p:pic>
        <p:nvPicPr>
          <p:cNvPr id="11" name="Picture 10">
            <a:extLst>
              <a:ext uri="{FF2B5EF4-FFF2-40B4-BE49-F238E27FC236}">
                <a16:creationId xmlns:a16="http://schemas.microsoft.com/office/drawing/2014/main" id="{D0FC7FBF-1B1A-D4A7-414E-BB901C27F555}"/>
              </a:ext>
            </a:extLst>
          </p:cNvPr>
          <p:cNvPicPr>
            <a:picLocks noChangeAspect="1"/>
          </p:cNvPicPr>
          <p:nvPr/>
        </p:nvPicPr>
        <p:blipFill>
          <a:blip r:embed="rId4"/>
          <a:stretch>
            <a:fillRect/>
          </a:stretch>
        </p:blipFill>
        <p:spPr>
          <a:xfrm>
            <a:off x="10094972" y="2706018"/>
            <a:ext cx="1826190" cy="1878581"/>
          </a:xfrm>
          <a:prstGeom prst="rect">
            <a:avLst/>
          </a:prstGeom>
        </p:spPr>
      </p:pic>
      <p:sp>
        <p:nvSpPr>
          <p:cNvPr id="12" name="TextBox 11">
            <a:extLst>
              <a:ext uri="{FF2B5EF4-FFF2-40B4-BE49-F238E27FC236}">
                <a16:creationId xmlns:a16="http://schemas.microsoft.com/office/drawing/2014/main" id="{E90FE2AF-AD92-8FAC-D366-A6073294841E}"/>
              </a:ext>
            </a:extLst>
          </p:cNvPr>
          <p:cNvSpPr txBox="1"/>
          <p:nvPr/>
        </p:nvSpPr>
        <p:spPr>
          <a:xfrm>
            <a:off x="141685" y="1459434"/>
            <a:ext cx="4350327" cy="646331"/>
          </a:xfrm>
          <a:prstGeom prst="rect">
            <a:avLst/>
          </a:prstGeom>
          <a:noFill/>
        </p:spPr>
        <p:txBody>
          <a:bodyPr wrap="square" rtlCol="0">
            <a:spAutoFit/>
          </a:bodyPr>
          <a:lstStyle/>
          <a:p>
            <a:r>
              <a:rPr lang="en-US" b="1" dirty="0">
                <a:solidFill>
                  <a:schemeClr val="tx2">
                    <a:lumMod val="75000"/>
                    <a:lumOff val="25000"/>
                  </a:schemeClr>
                </a:solidFill>
                <a:latin typeface="Courier New" panose="02070309020205020404" pitchFamily="49" charset="0"/>
                <a:cs typeface="Courier New" panose="02070309020205020404" pitchFamily="49" charset="0"/>
              </a:rPr>
              <a:t>Comma Separated File:</a:t>
            </a:r>
            <a:br>
              <a:rPr lang="en-US" b="1" dirty="0">
                <a:solidFill>
                  <a:schemeClr val="tx2">
                    <a:lumMod val="75000"/>
                    <a:lumOff val="25000"/>
                  </a:schemeClr>
                </a:solidFill>
                <a:latin typeface="Courier New" panose="02070309020205020404" pitchFamily="49" charset="0"/>
                <a:cs typeface="Courier New" panose="02070309020205020404" pitchFamily="49" charset="0"/>
              </a:rPr>
            </a:br>
            <a:r>
              <a:rPr lang="en-US" b="1" dirty="0">
                <a:solidFill>
                  <a:schemeClr val="tx2">
                    <a:lumMod val="75000"/>
                    <a:lumOff val="25000"/>
                  </a:schemeClr>
                </a:solidFill>
                <a:latin typeface="Courier New" panose="02070309020205020404" pitchFamily="49" charset="0"/>
                <a:cs typeface="Courier New" panose="02070309020205020404" pitchFamily="49" charset="0"/>
              </a:rPr>
              <a:t>raw_sales_country.csv</a:t>
            </a:r>
          </a:p>
        </p:txBody>
      </p:sp>
      <p:pic>
        <p:nvPicPr>
          <p:cNvPr id="14" name="Picture 13">
            <a:extLst>
              <a:ext uri="{FF2B5EF4-FFF2-40B4-BE49-F238E27FC236}">
                <a16:creationId xmlns:a16="http://schemas.microsoft.com/office/drawing/2014/main" id="{A217DC00-BF3D-6DD1-54B2-FD7E1B927DE4}"/>
              </a:ext>
            </a:extLst>
          </p:cNvPr>
          <p:cNvPicPr>
            <a:picLocks noChangeAspect="1"/>
          </p:cNvPicPr>
          <p:nvPr/>
        </p:nvPicPr>
        <p:blipFill>
          <a:blip r:embed="rId5"/>
          <a:stretch>
            <a:fillRect/>
          </a:stretch>
        </p:blipFill>
        <p:spPr>
          <a:xfrm>
            <a:off x="141685" y="2169450"/>
            <a:ext cx="3559047" cy="1516403"/>
          </a:xfrm>
          <a:prstGeom prst="rect">
            <a:avLst/>
          </a:prstGeom>
        </p:spPr>
      </p:pic>
      <p:sp>
        <p:nvSpPr>
          <p:cNvPr id="15" name="TextBox 14">
            <a:extLst>
              <a:ext uri="{FF2B5EF4-FFF2-40B4-BE49-F238E27FC236}">
                <a16:creationId xmlns:a16="http://schemas.microsoft.com/office/drawing/2014/main" id="{7C17D09F-59AA-570C-E880-F5A92A08D2E8}"/>
              </a:ext>
            </a:extLst>
          </p:cNvPr>
          <p:cNvSpPr txBox="1"/>
          <p:nvPr/>
        </p:nvSpPr>
        <p:spPr>
          <a:xfrm>
            <a:off x="8920500" y="2003915"/>
            <a:ext cx="4350327" cy="646331"/>
          </a:xfrm>
          <a:prstGeom prst="rect">
            <a:avLst/>
          </a:prstGeom>
          <a:noFill/>
        </p:spPr>
        <p:txBody>
          <a:bodyPr wrap="square" rtlCol="0">
            <a:spAutoFit/>
          </a:bodyPr>
          <a:lstStyle/>
          <a:p>
            <a:r>
              <a:rPr lang="en-US" b="1" dirty="0">
                <a:solidFill>
                  <a:schemeClr val="tx2">
                    <a:lumMod val="75000"/>
                    <a:lumOff val="25000"/>
                  </a:schemeClr>
                </a:solidFill>
                <a:latin typeface="Courier New" panose="02070309020205020404" pitchFamily="49" charset="0"/>
                <a:cs typeface="Courier New" panose="02070309020205020404" pitchFamily="49" charset="0"/>
              </a:rPr>
              <a:t>Excel File:</a:t>
            </a:r>
            <a:br>
              <a:rPr lang="en-US" b="1" dirty="0">
                <a:solidFill>
                  <a:schemeClr val="tx2">
                    <a:lumMod val="75000"/>
                    <a:lumOff val="25000"/>
                  </a:schemeClr>
                </a:solidFill>
                <a:latin typeface="Courier New" panose="02070309020205020404" pitchFamily="49" charset="0"/>
                <a:cs typeface="Courier New" panose="02070309020205020404" pitchFamily="49" charset="0"/>
              </a:rPr>
            </a:br>
            <a:r>
              <a:rPr lang="en-US" b="1" dirty="0">
                <a:solidFill>
                  <a:schemeClr val="tx2">
                    <a:lumMod val="75000"/>
                    <a:lumOff val="25000"/>
                  </a:schemeClr>
                </a:solidFill>
                <a:latin typeface="Courier New" panose="02070309020205020404" pitchFamily="49" charset="0"/>
                <a:cs typeface="Courier New" panose="02070309020205020404" pitchFamily="49" charset="0"/>
              </a:rPr>
              <a:t>Sales By Country.xlsx</a:t>
            </a:r>
          </a:p>
        </p:txBody>
      </p:sp>
      <p:cxnSp>
        <p:nvCxnSpPr>
          <p:cNvPr id="17" name="Straight Arrow Connector 16">
            <a:extLst>
              <a:ext uri="{FF2B5EF4-FFF2-40B4-BE49-F238E27FC236}">
                <a16:creationId xmlns:a16="http://schemas.microsoft.com/office/drawing/2014/main" id="{9E08C9E5-E5EC-8FCF-2773-CC361419C26F}"/>
              </a:ext>
            </a:extLst>
          </p:cNvPr>
          <p:cNvCxnSpPr>
            <a:cxnSpLocks/>
            <a:endCxn id="9" idx="1"/>
          </p:cNvCxnSpPr>
          <p:nvPr/>
        </p:nvCxnSpPr>
        <p:spPr>
          <a:xfrm>
            <a:off x="3912082" y="3493698"/>
            <a:ext cx="2285808" cy="407875"/>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7AC05AF8-09CF-439C-FD2D-58F9B367BA7C}"/>
              </a:ext>
            </a:extLst>
          </p:cNvPr>
          <p:cNvCxnSpPr>
            <a:cxnSpLocks/>
            <a:stCxn id="9" idx="3"/>
          </p:cNvCxnSpPr>
          <p:nvPr/>
        </p:nvCxnSpPr>
        <p:spPr>
          <a:xfrm flipV="1">
            <a:off x="7734073" y="3493698"/>
            <a:ext cx="2151799" cy="407875"/>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FE943D39-EC3F-D162-7D3A-C0E5BD3005BB}"/>
              </a:ext>
            </a:extLst>
          </p:cNvPr>
          <p:cNvSpPr txBox="1"/>
          <p:nvPr/>
        </p:nvSpPr>
        <p:spPr>
          <a:xfrm>
            <a:off x="6096000" y="2796533"/>
            <a:ext cx="1964555" cy="338554"/>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KNIME Workflow</a:t>
            </a:r>
          </a:p>
        </p:txBody>
      </p:sp>
      <p:sp>
        <p:nvSpPr>
          <p:cNvPr id="22" name="TextBox 21">
            <a:extLst>
              <a:ext uri="{FF2B5EF4-FFF2-40B4-BE49-F238E27FC236}">
                <a16:creationId xmlns:a16="http://schemas.microsoft.com/office/drawing/2014/main" id="{2C496DEB-B31D-9D20-90CD-CDBDC3808F05}"/>
              </a:ext>
            </a:extLst>
          </p:cNvPr>
          <p:cNvSpPr txBox="1"/>
          <p:nvPr/>
        </p:nvSpPr>
        <p:spPr>
          <a:xfrm>
            <a:off x="3776453" y="4008652"/>
            <a:ext cx="2730386" cy="646331"/>
          </a:xfrm>
          <a:prstGeom prst="rect">
            <a:avLst/>
          </a:prstGeom>
          <a:noFill/>
        </p:spPr>
        <p:txBody>
          <a:bodyPr wrap="square" rtlCol="0">
            <a:spAutoFit/>
          </a:bodyPr>
          <a:lstStyle/>
          <a:p>
            <a:r>
              <a:rPr lang="en-US" dirty="0"/>
              <a:t>1. Extract Data from raw_sales_country.csv</a:t>
            </a:r>
          </a:p>
        </p:txBody>
      </p:sp>
      <p:sp>
        <p:nvSpPr>
          <p:cNvPr id="24" name="TextBox 23">
            <a:extLst>
              <a:ext uri="{FF2B5EF4-FFF2-40B4-BE49-F238E27FC236}">
                <a16:creationId xmlns:a16="http://schemas.microsoft.com/office/drawing/2014/main" id="{AF04B953-B9E9-F5DA-6443-C56AAC548FE5}"/>
              </a:ext>
            </a:extLst>
          </p:cNvPr>
          <p:cNvSpPr txBox="1"/>
          <p:nvPr/>
        </p:nvSpPr>
        <p:spPr>
          <a:xfrm>
            <a:off x="5851098" y="4960407"/>
            <a:ext cx="2730386" cy="1200329"/>
          </a:xfrm>
          <a:prstGeom prst="rect">
            <a:avLst/>
          </a:prstGeom>
          <a:noFill/>
        </p:spPr>
        <p:txBody>
          <a:bodyPr wrap="square" rtlCol="0">
            <a:spAutoFit/>
          </a:bodyPr>
          <a:lstStyle/>
          <a:p>
            <a:r>
              <a:rPr lang="en-US" dirty="0"/>
              <a:t>2. Transform Data by aggregating by Country, then sorting by sales, largest first.</a:t>
            </a:r>
          </a:p>
        </p:txBody>
      </p:sp>
      <p:sp>
        <p:nvSpPr>
          <p:cNvPr id="26" name="TextBox 25">
            <a:extLst>
              <a:ext uri="{FF2B5EF4-FFF2-40B4-BE49-F238E27FC236}">
                <a16:creationId xmlns:a16="http://schemas.microsoft.com/office/drawing/2014/main" id="{A9BAE44D-26F6-2F53-B693-CDDFF29ACB0B}"/>
              </a:ext>
            </a:extLst>
          </p:cNvPr>
          <p:cNvSpPr txBox="1"/>
          <p:nvPr/>
        </p:nvSpPr>
        <p:spPr>
          <a:xfrm>
            <a:off x="8809972" y="4842994"/>
            <a:ext cx="2730386" cy="646331"/>
          </a:xfrm>
          <a:prstGeom prst="rect">
            <a:avLst/>
          </a:prstGeom>
          <a:noFill/>
        </p:spPr>
        <p:txBody>
          <a:bodyPr wrap="square" rtlCol="0">
            <a:spAutoFit/>
          </a:bodyPr>
          <a:lstStyle/>
          <a:p>
            <a:r>
              <a:rPr lang="en-US" dirty="0"/>
              <a:t>3. Load Data to </a:t>
            </a:r>
            <a:br>
              <a:rPr lang="en-US" dirty="0"/>
            </a:br>
            <a:r>
              <a:rPr lang="en-US" dirty="0"/>
              <a:t>Sales By Country.xlsx</a:t>
            </a:r>
          </a:p>
        </p:txBody>
      </p:sp>
    </p:spTree>
    <p:extLst>
      <p:ext uri="{BB962C8B-B14F-4D97-AF65-F5344CB8AC3E}">
        <p14:creationId xmlns:p14="http://schemas.microsoft.com/office/powerpoint/2010/main" val="3117898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rmAutofit/>
          </a:bodyPr>
          <a:lstStyle/>
          <a:p>
            <a:pPr marL="0" indent="0" algn="l">
              <a:buNone/>
            </a:pPr>
            <a:r>
              <a:rPr lang="en-US" sz="2400" b="0" i="0" u="none" strike="noStrike" baseline="0" dirty="0">
                <a:latin typeface="BookAntiqua"/>
              </a:rPr>
              <a:t>This lab has 20 steps and is listed from pg. 31-43 in your textbook.  </a:t>
            </a:r>
          </a:p>
          <a:p>
            <a:pPr marL="0" indent="0" algn="l">
              <a:buNone/>
            </a:pPr>
            <a:r>
              <a:rPr lang="en-US" sz="2400" b="0" i="0" u="none" strike="noStrike" baseline="0" dirty="0">
                <a:latin typeface="BookAntiqua"/>
              </a:rPr>
              <a:t>The illustrations and instructions in your text are from v4.7 of KNIME.  As of early 2024, v5.1 of KNIME has been released.  This presentation is a walkthrough using the v5.1 version of KNIME that is generally available for download, and currently installed on your virtual machines.</a:t>
            </a:r>
          </a:p>
          <a:p>
            <a:pPr marL="0" indent="0" algn="l">
              <a:buNone/>
            </a:pPr>
            <a:r>
              <a:rPr lang="en-US" sz="2400" dirty="0">
                <a:latin typeface="BookAntiqua"/>
              </a:rPr>
              <a:t>The text from your textbook will use the font you’re reading right now, in black color.</a:t>
            </a:r>
          </a:p>
          <a:p>
            <a:pPr marL="0" indent="0" algn="l">
              <a:buNone/>
            </a:pPr>
            <a:r>
              <a:rPr lang="en-US" sz="2400" b="0" i="0" u="none" strike="noStrike" baseline="0" dirty="0">
                <a:latin typeface="BookAntiqua"/>
              </a:rPr>
              <a:t>Changes from the textbook will use the</a:t>
            </a:r>
            <a:r>
              <a:rPr lang="en-US" sz="2400" b="1" i="0" u="none" strike="noStrike" baseline="0" dirty="0">
                <a:solidFill>
                  <a:schemeClr val="tx2">
                    <a:lumMod val="75000"/>
                    <a:lumOff val="25000"/>
                  </a:schemeClr>
                </a:solidFill>
                <a:latin typeface="Courier New" panose="02070309020205020404" pitchFamily="49" charset="0"/>
                <a:cs typeface="Courier New" panose="02070309020205020404" pitchFamily="49" charset="0"/>
              </a:rPr>
              <a:t> courier new </a:t>
            </a:r>
            <a:r>
              <a:rPr lang="en-US" sz="2400" b="0" i="0" u="none" strike="noStrike" baseline="0" dirty="0">
                <a:latin typeface="BookAntiqua"/>
              </a:rPr>
              <a:t> font in blue color.</a:t>
            </a:r>
          </a:p>
          <a:p>
            <a:pPr marL="0" indent="0" algn="l">
              <a:buNone/>
            </a:pPr>
            <a:r>
              <a:rPr lang="en-US" sz="2400" dirty="0">
                <a:latin typeface="BookAntiqua"/>
              </a:rPr>
              <a:t>We will start on the next slide with Step #1 on pg. 31 of your text.</a:t>
            </a:r>
          </a:p>
          <a:p>
            <a:pPr marL="0" indent="0" algn="l">
              <a:buNone/>
            </a:pPr>
            <a:endParaRPr lang="en-US" sz="2400" dirty="0">
              <a:latin typeface="BookAntiqua"/>
            </a:endParaRPr>
          </a:p>
          <a:p>
            <a:pPr marL="0" indent="0" algn="l">
              <a:buNone/>
            </a:pPr>
            <a:endParaRPr lang="en-US" sz="2400" dirty="0">
              <a:latin typeface="BookAntiqua"/>
            </a:endParaRPr>
          </a:p>
          <a:p>
            <a:pPr marL="0" indent="0" algn="l">
              <a:buNone/>
            </a:pPr>
            <a:endParaRPr lang="en-US" sz="2400" dirty="0"/>
          </a:p>
        </p:txBody>
      </p:sp>
    </p:spTree>
    <p:extLst>
      <p:ext uri="{BB962C8B-B14F-4D97-AF65-F5344CB8AC3E}">
        <p14:creationId xmlns:p14="http://schemas.microsoft.com/office/powerpoint/2010/main" val="617010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043796"/>
            <a:ext cx="6470898" cy="5814204"/>
          </a:xfrm>
        </p:spPr>
        <p:txBody>
          <a:bodyPr>
            <a:normAutofit/>
          </a:bodyPr>
          <a:lstStyle/>
          <a:p>
            <a:pPr marL="0" indent="0" algn="l">
              <a:buNone/>
            </a:pPr>
            <a:r>
              <a:rPr lang="en-US" sz="2400" dirty="0">
                <a:latin typeface="BookAntiqua"/>
              </a:rPr>
              <a:t>To keep our workflows tidy, we can organize them hierarchically, in folders: in KNIME, folders are called </a:t>
            </a:r>
            <a:r>
              <a:rPr lang="en-US" sz="2400" b="1" dirty="0">
                <a:latin typeface="BookAntiqua"/>
              </a:rPr>
              <a:t>Workflow Groups</a:t>
            </a:r>
            <a:r>
              <a:rPr lang="en-US" sz="2400" dirty="0">
                <a:latin typeface="BookAntiqua"/>
              </a:rPr>
              <a:t>. So, let's start by creating a workflow group that will host our first piece of work:</a:t>
            </a:r>
          </a:p>
          <a:p>
            <a:pPr marL="457200" indent="-457200" algn="l">
              <a:buAutoNum type="arabicPeriod"/>
            </a:pPr>
            <a:r>
              <a:rPr lang="en-US" sz="2400" dirty="0">
                <a:latin typeface="BookAntiqua"/>
              </a:rPr>
              <a:t>Right-click on the </a:t>
            </a:r>
            <a:r>
              <a:rPr lang="en-US" sz="2400" b="1" dirty="0">
                <a:latin typeface="BookAntiqua"/>
              </a:rPr>
              <a:t>LOCAL</a:t>
            </a:r>
            <a:r>
              <a:rPr lang="en-US" sz="2400" dirty="0">
                <a:latin typeface="BookAntiqua"/>
              </a:rPr>
              <a:t> entry in the KNIME Explorer section (top-left) and then click on </a:t>
            </a:r>
            <a:r>
              <a:rPr lang="en-US" sz="2400" b="1" dirty="0">
                <a:latin typeface="BookAntiqua"/>
              </a:rPr>
              <a:t>New Workflow Group... </a:t>
            </a:r>
            <a:r>
              <a:rPr lang="en-US" sz="2400" dirty="0">
                <a:latin typeface="BookAntiqua"/>
              </a:rPr>
              <a:t>in the pop-up menu.</a:t>
            </a:r>
          </a:p>
          <a:p>
            <a:pPr marL="457200" indent="-457200" algn="l">
              <a:buAutoNum type="arabicPeriod"/>
            </a:pPr>
            <a:r>
              <a:rPr lang="en-US" sz="2400" b="0" i="0" u="none" strike="noStrike" baseline="0" dirty="0">
                <a:latin typeface="BookAntiqua"/>
              </a:rPr>
              <a:t>Enter the name of your new folder </a:t>
            </a:r>
            <a:br>
              <a:rPr lang="en-US" sz="2400" b="0" i="0" u="none" strike="noStrike" baseline="0" dirty="0">
                <a:latin typeface="BookAntiqua"/>
              </a:rPr>
            </a:br>
            <a:r>
              <a:rPr lang="en-US" sz="2400" b="0" i="0" u="none" strike="noStrike" baseline="0" dirty="0">
                <a:latin typeface="BookAntiqua"/>
              </a:rPr>
              <a:t>(you can call it Chapter 2) and click on </a:t>
            </a:r>
            <a:r>
              <a:rPr lang="en-US" sz="2400" b="1" i="0" u="none" strike="noStrike" baseline="0" dirty="0">
                <a:latin typeface="BookAntiqua"/>
              </a:rPr>
              <a:t>Finish</a:t>
            </a:r>
            <a:r>
              <a:rPr lang="en-US" sz="2400" dirty="0">
                <a:latin typeface="BookAntiqua"/>
              </a:rPr>
              <a:t>.</a:t>
            </a:r>
          </a:p>
          <a:p>
            <a:pPr marL="0" indent="0" algn="l">
              <a:buNone/>
            </a:pPr>
            <a:endParaRPr lang="en-US" sz="2400" dirty="0">
              <a:latin typeface="BookAntiqua"/>
            </a:endParaRPr>
          </a:p>
          <a:p>
            <a:pPr marL="0" indent="0" algn="l">
              <a:buNone/>
            </a:pPr>
            <a:endParaRPr lang="en-US" sz="2400" dirty="0">
              <a:latin typeface="BookAntiqua"/>
            </a:endParaRPr>
          </a:p>
          <a:p>
            <a:pPr marL="0" indent="0" algn="l">
              <a:buNone/>
            </a:pPr>
            <a:endParaRPr lang="en-US" sz="2400" dirty="0"/>
          </a:p>
        </p:txBody>
      </p:sp>
      <p:pic>
        <p:nvPicPr>
          <p:cNvPr id="5" name="Picture 4">
            <a:extLst>
              <a:ext uri="{FF2B5EF4-FFF2-40B4-BE49-F238E27FC236}">
                <a16:creationId xmlns:a16="http://schemas.microsoft.com/office/drawing/2014/main" id="{B50C3EC0-0DA6-B9A7-F657-BEEAD9FDA56D}"/>
              </a:ext>
            </a:extLst>
          </p:cNvPr>
          <p:cNvPicPr>
            <a:picLocks noChangeAspect="1"/>
          </p:cNvPicPr>
          <p:nvPr/>
        </p:nvPicPr>
        <p:blipFill>
          <a:blip r:embed="rId2"/>
          <a:stretch>
            <a:fillRect/>
          </a:stretch>
        </p:blipFill>
        <p:spPr>
          <a:xfrm>
            <a:off x="6652053" y="952784"/>
            <a:ext cx="4627996" cy="3830368"/>
          </a:xfrm>
          <a:prstGeom prst="rect">
            <a:avLst/>
          </a:prstGeom>
        </p:spPr>
      </p:pic>
      <p:sp>
        <p:nvSpPr>
          <p:cNvPr id="6" name="TextBox 5">
            <a:extLst>
              <a:ext uri="{FF2B5EF4-FFF2-40B4-BE49-F238E27FC236}">
                <a16:creationId xmlns:a16="http://schemas.microsoft.com/office/drawing/2014/main" id="{75FBB42F-4F25-2BBA-BE1B-FAEB36CC704A}"/>
              </a:ext>
            </a:extLst>
          </p:cNvPr>
          <p:cNvSpPr txBox="1"/>
          <p:nvPr/>
        </p:nvSpPr>
        <p:spPr>
          <a:xfrm>
            <a:off x="133709" y="4783152"/>
            <a:ext cx="10079966" cy="2062103"/>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In KNIME v5, you’ll need to click on the “</a:t>
            </a:r>
            <a:r>
              <a:rPr lang="en-US" sz="1600" b="1" dirty="0" err="1">
                <a:solidFill>
                  <a:schemeClr val="tx2">
                    <a:lumMod val="75000"/>
                    <a:lumOff val="25000"/>
                  </a:schemeClr>
                </a:solidFill>
                <a:latin typeface="Courier New" panose="02070309020205020404" pitchFamily="49" charset="0"/>
                <a:cs typeface="Courier New" panose="02070309020205020404" pitchFamily="49" charset="0"/>
              </a:rPr>
              <a:t>ferris</a:t>
            </a:r>
            <a:r>
              <a:rPr lang="en-US" sz="1600" b="1" dirty="0">
                <a:solidFill>
                  <a:schemeClr val="tx2">
                    <a:lumMod val="75000"/>
                    <a:lumOff val="25000"/>
                  </a:schemeClr>
                </a:solidFill>
                <a:latin typeface="Courier New" panose="02070309020205020404" pitchFamily="49" charset="0"/>
                <a:cs typeface="Courier New" panose="02070309020205020404" pitchFamily="49" charset="0"/>
              </a:rPr>
              <a:t> wheel” icon on the left side, which is the third one down.  This shows your explorer area.  Then, the three dots at the top right of this pane produces a drop down menu where you can select “Create Folder”.  Then, a new folder appears in the list where you can change the default name from “Folder” to “Chapter 2”</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You may need to right-click on the new folder and select “Rename” from the menu to rename the folder.</a:t>
            </a:r>
          </a:p>
        </p:txBody>
      </p:sp>
    </p:spTree>
    <p:extLst>
      <p:ext uri="{BB962C8B-B14F-4D97-AF65-F5344CB8AC3E}">
        <p14:creationId xmlns:p14="http://schemas.microsoft.com/office/powerpoint/2010/main" val="3301000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6740477" cy="5814204"/>
          </a:xfrm>
        </p:spPr>
        <p:txBody>
          <a:bodyPr>
            <a:normAutofit/>
          </a:bodyPr>
          <a:lstStyle/>
          <a:p>
            <a:pPr marL="0" indent="0" algn="l">
              <a:buNone/>
            </a:pPr>
            <a:r>
              <a:rPr lang="en-US" sz="2400" dirty="0">
                <a:latin typeface="BookAntiqua"/>
              </a:rPr>
              <a:t>You will see that the new folder has appeared in your local workspace. Now we can finally create a new workflow within this group.  Similar to what you just did when creating a group, you just need to follow a few more steps:</a:t>
            </a:r>
          </a:p>
          <a:p>
            <a:pPr marL="0" indent="0" algn="l">
              <a:buNone/>
            </a:pPr>
            <a:r>
              <a:rPr lang="en-US" sz="2400" dirty="0">
                <a:latin typeface="BookAntiqua"/>
              </a:rPr>
              <a:t>3. Right-click on the newly created workflow group and then on </a:t>
            </a:r>
            <a:r>
              <a:rPr lang="en-US" sz="2400" b="1" dirty="0">
                <a:latin typeface="BookAntiqua"/>
              </a:rPr>
              <a:t>New KNIME Workflow....</a:t>
            </a:r>
          </a:p>
          <a:p>
            <a:pPr marL="0" indent="0" algn="l">
              <a:buNone/>
            </a:pPr>
            <a:r>
              <a:rPr lang="en-US" sz="2400" dirty="0">
                <a:latin typeface="BookAntiqua"/>
              </a:rPr>
              <a:t>4. Enter the name of your new workflow (how about Hello World?) and then click </a:t>
            </a:r>
            <a:r>
              <a:rPr lang="en-US" sz="2400" b="1" dirty="0">
                <a:latin typeface="BookAntiqua"/>
              </a:rPr>
              <a:t>Finish</a:t>
            </a:r>
            <a:r>
              <a:rPr lang="en-US" sz="2400" dirty="0">
                <a:latin typeface="BookAntiqua"/>
              </a:rPr>
              <a:t>. Your workflow will appear in the editor, which at this point will look like a sheet of squared paper.</a:t>
            </a:r>
          </a:p>
          <a:p>
            <a:pPr marL="0" indent="0" algn="l">
              <a:buNone/>
            </a:pPr>
            <a:endParaRPr lang="en-US" sz="2400" dirty="0">
              <a:latin typeface="BookAntiqua"/>
            </a:endParaRPr>
          </a:p>
          <a:p>
            <a:pPr marL="0" indent="0" algn="l">
              <a:buNone/>
            </a:pPr>
            <a:endParaRPr lang="en-US" sz="2400" dirty="0">
              <a:latin typeface="BookAntiqua"/>
            </a:endParaRPr>
          </a:p>
          <a:p>
            <a:pPr marL="0" indent="0" algn="l">
              <a:buNone/>
            </a:pPr>
            <a:endParaRPr lang="en-US" sz="24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181155" y="5042118"/>
            <a:ext cx="7539487" cy="1815882"/>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Instead, double click on the “Chapter 2” folder, then click the three dots to the right again to make the menu appear.  You’ll select “Create workflow” from this menu.</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The Create a New Workflow pop-up appears.  </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Type the name “Hello World” and click the “Create” button.</a:t>
            </a:r>
          </a:p>
        </p:txBody>
      </p:sp>
      <p:pic>
        <p:nvPicPr>
          <p:cNvPr id="13" name="Picture 12">
            <a:extLst>
              <a:ext uri="{FF2B5EF4-FFF2-40B4-BE49-F238E27FC236}">
                <a16:creationId xmlns:a16="http://schemas.microsoft.com/office/drawing/2014/main" id="{A7EEF48B-90AB-6256-90D0-90231145CDF0}"/>
              </a:ext>
            </a:extLst>
          </p:cNvPr>
          <p:cNvPicPr>
            <a:picLocks noChangeAspect="1"/>
          </p:cNvPicPr>
          <p:nvPr/>
        </p:nvPicPr>
        <p:blipFill>
          <a:blip r:embed="rId2"/>
          <a:stretch>
            <a:fillRect/>
          </a:stretch>
        </p:blipFill>
        <p:spPr>
          <a:xfrm>
            <a:off x="6927384" y="1043796"/>
            <a:ext cx="5048955" cy="3581900"/>
          </a:xfrm>
          <a:prstGeom prst="rect">
            <a:avLst/>
          </a:prstGeom>
        </p:spPr>
      </p:pic>
      <p:pic>
        <p:nvPicPr>
          <p:cNvPr id="15" name="Picture 14">
            <a:extLst>
              <a:ext uri="{FF2B5EF4-FFF2-40B4-BE49-F238E27FC236}">
                <a16:creationId xmlns:a16="http://schemas.microsoft.com/office/drawing/2014/main" id="{73A2D83A-8EAB-890A-07BC-6F289EB5CD08}"/>
              </a:ext>
            </a:extLst>
          </p:cNvPr>
          <p:cNvPicPr>
            <a:picLocks noChangeAspect="1"/>
          </p:cNvPicPr>
          <p:nvPr/>
        </p:nvPicPr>
        <p:blipFill>
          <a:blip r:embed="rId3"/>
          <a:stretch>
            <a:fillRect/>
          </a:stretch>
        </p:blipFill>
        <p:spPr>
          <a:xfrm>
            <a:off x="8025889" y="4705050"/>
            <a:ext cx="3886742" cy="2152950"/>
          </a:xfrm>
          <a:prstGeom prst="rect">
            <a:avLst/>
          </a:prstGeom>
        </p:spPr>
      </p:pic>
    </p:spTree>
    <p:extLst>
      <p:ext uri="{BB962C8B-B14F-4D97-AF65-F5344CB8AC3E}">
        <p14:creationId xmlns:p14="http://schemas.microsoft.com/office/powerpoint/2010/main" val="1207394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043796"/>
            <a:ext cx="5581330" cy="5814204"/>
          </a:xfrm>
        </p:spPr>
        <p:txBody>
          <a:bodyPr>
            <a:normAutofit/>
          </a:bodyPr>
          <a:lstStyle/>
          <a:p>
            <a:pPr marL="0" indent="0" algn="l">
              <a:buNone/>
            </a:pPr>
            <a:r>
              <a:rPr lang="en-US" sz="2000" dirty="0">
                <a:latin typeface="BookAntiqua"/>
              </a:rPr>
              <a:t>5. It's time to load our CSV file into KNIME, using the proper input node. The fastest way to do so is to drag and drop the file directly into the Workflow Editor: just grab the file named raw_sales_country.csv from the folder where it is located and drop it anywhere on the blank editor. KNIME will recognize the type of file and automatically implement the right node for reading it: in this case, CSV Reader. As you drop the file, its configuration dialog will appear. If at any point you need to revise its configuration, you can just double-click on the node to obtain the same dialog.</a:t>
            </a:r>
          </a:p>
          <a:p>
            <a:pPr marL="0" indent="0" algn="l">
              <a:buNone/>
            </a:pPr>
            <a:endParaRPr lang="en-US" sz="2000" dirty="0">
              <a:latin typeface="BookAntiqua"/>
            </a:endParaRPr>
          </a:p>
          <a:p>
            <a:pPr marL="0" indent="0" algn="l">
              <a:buNone/>
            </a:pP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0" y="6027003"/>
            <a:ext cx="12094234" cy="830997"/>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Next, download the raw_sales_country.csv from Canvas to your VM.  Once it is loaded to your VM, drag and drop the file from whatever folder you saved it to from Windows Explorer to the area in KNIME that says, “Start building your workflow by dropping your data or nodes here.”</a:t>
            </a:r>
          </a:p>
        </p:txBody>
      </p:sp>
      <p:pic>
        <p:nvPicPr>
          <p:cNvPr id="5" name="Picture 4">
            <a:extLst>
              <a:ext uri="{FF2B5EF4-FFF2-40B4-BE49-F238E27FC236}">
                <a16:creationId xmlns:a16="http://schemas.microsoft.com/office/drawing/2014/main" id="{2C15D834-0893-C927-E4B3-7171C70C0098}"/>
              </a:ext>
            </a:extLst>
          </p:cNvPr>
          <p:cNvPicPr>
            <a:picLocks noChangeAspect="1"/>
          </p:cNvPicPr>
          <p:nvPr/>
        </p:nvPicPr>
        <p:blipFill>
          <a:blip r:embed="rId2"/>
          <a:stretch>
            <a:fillRect/>
          </a:stretch>
        </p:blipFill>
        <p:spPr>
          <a:xfrm>
            <a:off x="5719354" y="933589"/>
            <a:ext cx="6277115" cy="4990821"/>
          </a:xfrm>
          <a:prstGeom prst="rect">
            <a:avLst/>
          </a:prstGeom>
        </p:spPr>
      </p:pic>
    </p:spTree>
    <p:extLst>
      <p:ext uri="{BB962C8B-B14F-4D97-AF65-F5344CB8AC3E}">
        <p14:creationId xmlns:p14="http://schemas.microsoft.com/office/powerpoint/2010/main" val="643806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6547449" cy="5072332"/>
          </a:xfrm>
        </p:spPr>
        <p:txBody>
          <a:bodyPr>
            <a:normAutofit/>
          </a:bodyPr>
          <a:lstStyle/>
          <a:p>
            <a:pPr marL="0" indent="0" algn="l">
              <a:buNone/>
            </a:pPr>
            <a:r>
              <a:rPr lang="en-US" sz="1800" b="0" i="0" u="none" strike="noStrike" baseline="0" dirty="0">
                <a:latin typeface="BookAntiqua"/>
              </a:rPr>
              <a:t>Like we will do every time we meet a new KNIME node on our journey, let's quickly discover how it works and how to configure it.</a:t>
            </a:r>
            <a:br>
              <a:rPr lang="en-US" sz="1800" b="0" i="0" u="none" strike="noStrike" baseline="0" dirty="0">
                <a:latin typeface="BookAntiqua"/>
              </a:rPr>
            </a:br>
            <a:br>
              <a:rPr lang="en-US" sz="1800" b="0" i="0" u="none" strike="noStrike" baseline="0" dirty="0">
                <a:latin typeface="BookAntiqua"/>
              </a:rPr>
            </a:br>
            <a:r>
              <a:rPr lang="en-US" sz="1800" b="1" i="1" u="none" strike="noStrike" baseline="0" dirty="0">
                <a:latin typeface="Arial-BoldItalicMT"/>
              </a:rPr>
              <a:t>CSV Reader</a:t>
            </a:r>
          </a:p>
          <a:p>
            <a:pPr marL="0" indent="0" algn="l">
              <a:buNone/>
            </a:pPr>
            <a:r>
              <a:rPr lang="en-US" sz="1800" b="0" i="0" u="none" strike="noStrike" baseline="0" dirty="0">
                <a:latin typeface="BookAntiqua"/>
              </a:rPr>
              <a:t>This node (available in the repository under the path </a:t>
            </a:r>
            <a:r>
              <a:rPr lang="en-US" sz="1800" b="1" i="0" u="none" strike="noStrike" baseline="0" dirty="0">
                <a:latin typeface="BookAntiqua-Bold"/>
              </a:rPr>
              <a:t>IO &gt; Reader</a:t>
            </a:r>
            <a:r>
              <a:rPr lang="en-US" sz="1800" b="0" i="0" u="none" strike="noStrike" baseline="0" dirty="0">
                <a:latin typeface="BookAntiqua"/>
              </a:rPr>
              <a:t>) reads data from a text file stored in a CSV format and makes it available as a table in KNIME. This node is pretty handy: it attempts to detect the format of the file and recognizes the type of data stored in each column, allowing you to manually change it if needed. It also lets you run some basic reformatting on the fly, like changing the names of columns. As you see in </a:t>
            </a:r>
            <a:r>
              <a:rPr lang="en-US" sz="1800" b="0" i="1" u="none" strike="noStrike" baseline="0" dirty="0">
                <a:latin typeface="BookAntiqua-Italic"/>
              </a:rPr>
              <a:t>Figure 2.6</a:t>
            </a:r>
            <a:r>
              <a:rPr lang="en-US" sz="1800" b="0" i="0" u="none" strike="noStrike" baseline="0" dirty="0">
                <a:latin typeface="BookAntiqua"/>
              </a:rPr>
              <a:t>, its configuration window displays multiple tabs, whose headers appear at the top. The first tab (</a:t>
            </a:r>
            <a:r>
              <a:rPr lang="en-US" sz="1800" b="1" i="0" u="none" strike="noStrike" baseline="0" dirty="0">
                <a:latin typeface="BookAntiqua-Bold"/>
              </a:rPr>
              <a:t>Settings</a:t>
            </a:r>
            <a:r>
              <a:rPr lang="en-US" sz="1800" b="0" i="0" u="none" strike="noStrike" baseline="0" dirty="0">
                <a:latin typeface="BookAntiqua"/>
              </a:rPr>
              <a:t>) lets you set the fundamentals:</a:t>
            </a:r>
          </a:p>
          <a:p>
            <a:pPr marL="0" indent="0" algn="l">
              <a:buNone/>
            </a:pPr>
            <a:r>
              <a:rPr lang="en-US" sz="1800" b="0" i="0" u="none" strike="noStrike" baseline="0" dirty="0">
                <a:latin typeface="BookAntiqua"/>
              </a:rPr>
              <a:t>• In the first section at the top, you can specify the path of the file to be read: to do so, just click on the </a:t>
            </a:r>
            <a:r>
              <a:rPr lang="en-US" sz="1800" b="1" i="0" u="none" strike="noStrike" baseline="0" dirty="0">
                <a:latin typeface="BookAntiqua-Bold"/>
              </a:rPr>
              <a:t>Browse... </a:t>
            </a:r>
            <a:r>
              <a:rPr lang="en-US" sz="1800" b="0" i="0" u="none" strike="noStrike" baseline="0" dirty="0">
                <a:latin typeface="BookAntiqua"/>
              </a:rPr>
              <a:t>button and select the file. If you dragged and dropped your file in the Workflow Editor, this field is pre-populated. The node lets you also read multiple files in a folder having the same format, by selecting the </a:t>
            </a:r>
            <a:r>
              <a:rPr lang="en-US" sz="1800" b="1" i="0" u="none" strike="noStrike" baseline="0" dirty="0">
                <a:latin typeface="BookAntiqua-Bold"/>
              </a:rPr>
              <a:t>Files in folder </a:t>
            </a:r>
            <a:r>
              <a:rPr lang="en-US" sz="1800" b="0" i="0" u="none" strike="noStrike" baseline="0" dirty="0">
                <a:latin typeface="BookAntiqua"/>
              </a:rPr>
              <a:t>mode.</a:t>
            </a:r>
          </a:p>
          <a:p>
            <a:pPr marL="0" indent="0" algn="l">
              <a:buNone/>
            </a:pP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1138686" y="5903893"/>
            <a:ext cx="5477774" cy="954107"/>
          </a:xfrm>
          <a:prstGeom prst="rect">
            <a:avLst/>
          </a:prstGeom>
          <a:noFill/>
        </p:spPr>
        <p:txBody>
          <a:bodyPr wrap="square" rtlCol="0">
            <a:spAutoFit/>
          </a:bodyPr>
          <a:lstStyle/>
          <a:p>
            <a:r>
              <a:rPr lang="en-US" sz="1400" b="1" dirty="0">
                <a:solidFill>
                  <a:schemeClr val="tx2">
                    <a:lumMod val="75000"/>
                    <a:lumOff val="25000"/>
                  </a:schemeClr>
                </a:solidFill>
                <a:latin typeface="Courier New" panose="02070309020205020404" pitchFamily="49" charset="0"/>
                <a:cs typeface="Courier New" panose="02070309020205020404" pitchFamily="49" charset="0"/>
              </a:rPr>
              <a:t>To see the configuration window, right-click on the CSV Reader node and select Configure.  You can also double-click the node to get the configuration window.</a:t>
            </a:r>
          </a:p>
        </p:txBody>
      </p:sp>
      <p:pic>
        <p:nvPicPr>
          <p:cNvPr id="7" name="Picture 6">
            <a:extLst>
              <a:ext uri="{FF2B5EF4-FFF2-40B4-BE49-F238E27FC236}">
                <a16:creationId xmlns:a16="http://schemas.microsoft.com/office/drawing/2014/main" id="{23BA59B5-351F-0F72-2D73-5EEB678E849F}"/>
              </a:ext>
            </a:extLst>
          </p:cNvPr>
          <p:cNvPicPr>
            <a:picLocks noChangeAspect="1"/>
          </p:cNvPicPr>
          <p:nvPr/>
        </p:nvPicPr>
        <p:blipFill>
          <a:blip r:embed="rId2"/>
          <a:stretch>
            <a:fillRect/>
          </a:stretch>
        </p:blipFill>
        <p:spPr>
          <a:xfrm>
            <a:off x="7159925" y="574133"/>
            <a:ext cx="4278923" cy="6283867"/>
          </a:xfrm>
          <a:prstGeom prst="rect">
            <a:avLst/>
          </a:prstGeom>
        </p:spPr>
      </p:pic>
    </p:spTree>
    <p:extLst>
      <p:ext uri="{BB962C8B-B14F-4D97-AF65-F5344CB8AC3E}">
        <p14:creationId xmlns:p14="http://schemas.microsoft.com/office/powerpoint/2010/main" val="466675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6547449" cy="3631721"/>
          </a:xfrm>
        </p:spPr>
        <p:txBody>
          <a:bodyPr>
            <a:normAutofit/>
          </a:bodyPr>
          <a:lstStyle/>
          <a:p>
            <a:pPr marL="0" indent="0" algn="l">
              <a:buNone/>
            </a:pPr>
            <a:r>
              <a:rPr lang="en-US" sz="1800" b="0" i="0" u="none" strike="noStrike" baseline="0" dirty="0">
                <a:latin typeface="BookAntiqua"/>
              </a:rPr>
              <a:t>• In the middle section, you can specify the format of the file, like the characters used to delimit rows and columns and if it has column headers.  All these parameters get automatically guessed by the node when a new file is loaded (you can click on </a:t>
            </a:r>
            <a:r>
              <a:rPr lang="en-US" sz="1800" b="1" i="0" u="none" strike="noStrike" baseline="0" dirty="0">
                <a:latin typeface="BookAntiqua-Bold"/>
              </a:rPr>
              <a:t>Autodetect format </a:t>
            </a:r>
            <a:r>
              <a:rPr lang="en-US" sz="1800" b="0" i="0" u="none" strike="noStrike" baseline="0" dirty="0">
                <a:latin typeface="BookAntiqua"/>
              </a:rPr>
              <a:t>to force a new attempt).  One useful option is </a:t>
            </a:r>
            <a:r>
              <a:rPr lang="en-US" sz="1800" b="1" i="0" u="none" strike="noStrike" baseline="0" dirty="0">
                <a:latin typeface="BookAntiqua-Bold"/>
              </a:rPr>
              <a:t>Support short data rows</a:t>
            </a:r>
            <a:r>
              <a:rPr lang="en-US" sz="1800" b="0" i="0" u="none" strike="noStrike" baseline="0" dirty="0">
                <a:latin typeface="BookAntiqua"/>
              </a:rPr>
              <a:t>: if this box is ticked, the node will keep working even if some rows have incomplete data points. The good news is that in most cases you will not need to change any of these parameters manually as the automatic detection feature is pretty robust.</a:t>
            </a:r>
            <a:br>
              <a:rPr lang="en-US" sz="1800" b="0" i="0" u="none" strike="noStrike" baseline="0" dirty="0">
                <a:latin typeface="BookAntiqua"/>
              </a:rPr>
            </a:br>
            <a:endParaRPr lang="en-US" sz="1800" b="0" i="0" u="none" strike="noStrike" baseline="0" dirty="0">
              <a:latin typeface="BookAntiqua"/>
            </a:endParaRPr>
          </a:p>
          <a:p>
            <a:pPr marL="0" indent="0" algn="l">
              <a:buNone/>
            </a:pPr>
            <a:r>
              <a:rPr lang="en-US" sz="1800" b="0" i="0" u="none" strike="noStrike" baseline="0" dirty="0">
                <a:latin typeface="BookAntiqua"/>
              </a:rPr>
              <a:t>• At the bottom of the tab, you find the </a:t>
            </a:r>
            <a:r>
              <a:rPr lang="en-US" sz="1800" b="1" i="0" u="none" strike="noStrike" baseline="0" dirty="0">
                <a:latin typeface="BookAntiqua-Bold"/>
              </a:rPr>
              <a:t>Preview </a:t>
            </a:r>
            <a:r>
              <a:rPr lang="en-US" sz="1800" b="0" i="0" u="none" strike="noStrike" baseline="0" dirty="0">
                <a:latin typeface="BookAntiqua"/>
              </a:rPr>
              <a:t>of the table read in the file.  This lets you check that the format has been determined correctly.</a:t>
            </a:r>
            <a:endParaRPr lang="en-US" sz="2000" dirty="0"/>
          </a:p>
          <a:p>
            <a:pPr marL="0" indent="0" algn="l">
              <a:buNone/>
            </a:pP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404226" y="6027003"/>
            <a:ext cx="6142008" cy="830997"/>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You’ll find that once you get the configuration window, the look-and-feel between KNIME v4.7 and KNIME v5.1 is about the same.</a:t>
            </a:r>
          </a:p>
        </p:txBody>
      </p:sp>
      <p:pic>
        <p:nvPicPr>
          <p:cNvPr id="7" name="Picture 6">
            <a:extLst>
              <a:ext uri="{FF2B5EF4-FFF2-40B4-BE49-F238E27FC236}">
                <a16:creationId xmlns:a16="http://schemas.microsoft.com/office/drawing/2014/main" id="{23BA59B5-351F-0F72-2D73-5EEB678E849F}"/>
              </a:ext>
            </a:extLst>
          </p:cNvPr>
          <p:cNvPicPr>
            <a:picLocks noChangeAspect="1"/>
          </p:cNvPicPr>
          <p:nvPr/>
        </p:nvPicPr>
        <p:blipFill>
          <a:blip r:embed="rId2"/>
          <a:stretch>
            <a:fillRect/>
          </a:stretch>
        </p:blipFill>
        <p:spPr>
          <a:xfrm>
            <a:off x="7159925" y="574133"/>
            <a:ext cx="4278923" cy="6283867"/>
          </a:xfrm>
          <a:prstGeom prst="rect">
            <a:avLst/>
          </a:prstGeom>
        </p:spPr>
      </p:pic>
    </p:spTree>
    <p:extLst>
      <p:ext uri="{BB962C8B-B14F-4D97-AF65-F5344CB8AC3E}">
        <p14:creationId xmlns:p14="http://schemas.microsoft.com/office/powerpoint/2010/main" val="1570029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7"/>
            <a:ext cx="6547449" cy="5814203"/>
          </a:xfrm>
        </p:spPr>
        <p:txBody>
          <a:bodyPr>
            <a:normAutofit/>
          </a:bodyPr>
          <a:lstStyle/>
          <a:p>
            <a:pPr marL="0" indent="0" algn="l">
              <a:buNone/>
            </a:pPr>
            <a:r>
              <a:rPr lang="en-US" sz="1800" b="0" i="0" u="none" strike="noStrike" baseline="0" dirty="0">
                <a:latin typeface="BookAntiqua"/>
              </a:rPr>
              <a:t>If you move to the second tab of the window (called </a:t>
            </a:r>
            <a:r>
              <a:rPr lang="en-US" sz="1800" b="1" i="0" u="none" strike="noStrike" baseline="0" dirty="0">
                <a:latin typeface="BookAntiqua"/>
              </a:rPr>
              <a:t>Transformation</a:t>
            </a:r>
            <a:r>
              <a:rPr lang="en-US" sz="1800" b="0" i="0" u="none" strike="noStrike" baseline="0" dirty="0">
                <a:latin typeface="BookAntiqua"/>
              </a:rPr>
              <a:t>) you will have the opportunity to apply some simple reformatting to your table as it gets loaded.  For instance, you can: change the name of columns (just write the new one in the </a:t>
            </a:r>
            <a:r>
              <a:rPr lang="en-US" sz="1800" b="1" i="0" u="none" strike="noStrike" baseline="0" dirty="0">
                <a:latin typeface="BookAntiqua"/>
              </a:rPr>
              <a:t>New name</a:t>
            </a:r>
            <a:r>
              <a:rPr lang="en-US" sz="1800" b="0" i="0" u="none" strike="noStrike" baseline="0" dirty="0">
                <a:latin typeface="BookAntiqua"/>
              </a:rPr>
              <a:t> column), drop some columns you don't need (untick the box on the left of their name), change the column order (drag and drop them using your mouse), and change their data type (for instance, from text to numbers).</a:t>
            </a:r>
          </a:p>
          <a:p>
            <a:pPr marL="0" indent="0" algn="l">
              <a:buNone/>
            </a:pPr>
            <a:endParaRPr lang="en-US" sz="1800" dirty="0">
              <a:latin typeface="BookAntiqua"/>
            </a:endParaRPr>
          </a:p>
          <a:p>
            <a:pPr marL="0" indent="0" algn="l">
              <a:buNone/>
            </a:pPr>
            <a:endParaRPr lang="en-US" sz="1800" dirty="0">
              <a:latin typeface="BookAntiqua"/>
            </a:endParaRPr>
          </a:p>
          <a:p>
            <a:pPr marL="0" indent="0" algn="l">
              <a:buNone/>
            </a:pPr>
            <a:endParaRPr lang="en-US" sz="1800" dirty="0">
              <a:latin typeface="BookAntiqua"/>
            </a:endParaRPr>
          </a:p>
          <a:p>
            <a:pPr marL="0" indent="0" algn="l">
              <a:buNone/>
            </a:pPr>
            <a:endParaRPr lang="en-US" sz="1800" dirty="0">
              <a:latin typeface="BookAntiqua"/>
            </a:endParaRPr>
          </a:p>
          <a:p>
            <a:pPr marL="0" indent="0" algn="l">
              <a:buNone/>
            </a:pPr>
            <a:endParaRPr lang="en-US" sz="1800" dirty="0">
              <a:latin typeface="BookAntiqua"/>
            </a:endParaRPr>
          </a:p>
          <a:p>
            <a:pPr marL="0" indent="0" algn="l">
              <a:buNone/>
            </a:pPr>
            <a:r>
              <a:rPr lang="en-US" sz="1800" dirty="0">
                <a:latin typeface="BookAntiqua"/>
              </a:rPr>
              <a:t>You can check the results of your transformation in the preview section at the bottom. To be clear, you could do these transformations later in your workflow (you have specific KNIME nodes for renaming columns, changing their orders, and so on) but it might be just faster and easier to make these changes here on the spot, using one single node.</a:t>
            </a:r>
          </a:p>
        </p:txBody>
      </p:sp>
      <p:pic>
        <p:nvPicPr>
          <p:cNvPr id="5" name="Picture 4">
            <a:extLst>
              <a:ext uri="{FF2B5EF4-FFF2-40B4-BE49-F238E27FC236}">
                <a16:creationId xmlns:a16="http://schemas.microsoft.com/office/drawing/2014/main" id="{B316EDC6-4EBB-3976-609D-B93DD59DBBA9}"/>
              </a:ext>
            </a:extLst>
          </p:cNvPr>
          <p:cNvPicPr>
            <a:picLocks noChangeAspect="1"/>
          </p:cNvPicPr>
          <p:nvPr/>
        </p:nvPicPr>
        <p:blipFill>
          <a:blip r:embed="rId2"/>
          <a:stretch>
            <a:fillRect/>
          </a:stretch>
        </p:blipFill>
        <p:spPr>
          <a:xfrm>
            <a:off x="6616460" y="901805"/>
            <a:ext cx="5485743" cy="5714656"/>
          </a:xfrm>
          <a:prstGeom prst="rect">
            <a:avLst/>
          </a:prstGeom>
        </p:spPr>
      </p:pic>
      <p:pic>
        <p:nvPicPr>
          <p:cNvPr id="9" name="Picture 8">
            <a:extLst>
              <a:ext uri="{FF2B5EF4-FFF2-40B4-BE49-F238E27FC236}">
                <a16:creationId xmlns:a16="http://schemas.microsoft.com/office/drawing/2014/main" id="{1FB2D3E6-4C16-E55B-FFF2-CD2803C02DFE}"/>
              </a:ext>
            </a:extLst>
          </p:cNvPr>
          <p:cNvPicPr>
            <a:picLocks noChangeAspect="1"/>
          </p:cNvPicPr>
          <p:nvPr/>
        </p:nvPicPr>
        <p:blipFill>
          <a:blip r:embed="rId3"/>
          <a:stretch>
            <a:fillRect/>
          </a:stretch>
        </p:blipFill>
        <p:spPr>
          <a:xfrm>
            <a:off x="367453" y="3232570"/>
            <a:ext cx="5728547" cy="1436068"/>
          </a:xfrm>
          <a:prstGeom prst="rect">
            <a:avLst/>
          </a:prstGeom>
        </p:spPr>
      </p:pic>
    </p:spTree>
    <p:extLst>
      <p:ext uri="{BB962C8B-B14F-4D97-AF65-F5344CB8AC3E}">
        <p14:creationId xmlns:p14="http://schemas.microsoft.com/office/powerpoint/2010/main" val="54732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7"/>
            <a:ext cx="6547449" cy="4563374"/>
          </a:xfrm>
        </p:spPr>
        <p:txBody>
          <a:bodyPr>
            <a:normAutofit/>
          </a:bodyPr>
          <a:lstStyle/>
          <a:p>
            <a:pPr marL="0" indent="0" algn="l">
              <a:buNone/>
            </a:pPr>
            <a:r>
              <a:rPr lang="en-US" sz="1800" b="0" i="0" u="none" strike="noStrike" baseline="0" dirty="0">
                <a:latin typeface="BookAntiqua"/>
              </a:rPr>
              <a:t>6. Looking at the preview of the table in the </a:t>
            </a:r>
            <a:r>
              <a:rPr lang="en-US" sz="1800" b="1" i="0" u="none" strike="noStrike" baseline="0" dirty="0">
                <a:latin typeface="BookAntiqua"/>
              </a:rPr>
              <a:t>Settings</a:t>
            </a:r>
            <a:r>
              <a:rPr lang="en-US" sz="1800" b="0" i="0" u="none" strike="noStrike" baseline="0" dirty="0">
                <a:latin typeface="BookAntiqua"/>
              </a:rPr>
              <a:t> tab, it looks like the node has done a good job of interpreting the format of the file. We just noticed that there are some columns we don't need to carry and they can be dropped (specifically, </a:t>
            </a:r>
            <a:r>
              <a:rPr lang="en-US" sz="1800" b="0" i="0" u="none" strike="noStrike" baseline="0" dirty="0" err="1">
                <a:latin typeface="BookAntiqua"/>
              </a:rPr>
              <a:t>country_CODE</a:t>
            </a:r>
            <a:r>
              <a:rPr lang="en-US" sz="1800" b="0" i="0" u="none" strike="noStrike" baseline="0" dirty="0">
                <a:latin typeface="BookAntiqua"/>
              </a:rPr>
              <a:t> and population_2020) and, also, that we can simplify some of the column names by renaming them. To do this, we need to move to the </a:t>
            </a:r>
            <a:r>
              <a:rPr lang="en-US" sz="1800" b="1" i="0" u="none" strike="noStrike" baseline="0" dirty="0">
                <a:latin typeface="BookAntiqua"/>
              </a:rPr>
              <a:t>Transformation</a:t>
            </a:r>
            <a:r>
              <a:rPr lang="en-US" sz="1800" b="0" i="0" u="none" strike="noStrike" baseline="0" dirty="0">
                <a:latin typeface="BookAntiqua"/>
              </a:rPr>
              <a:t> tab: just click on its name at the top of the window.</a:t>
            </a:r>
          </a:p>
          <a:p>
            <a:pPr marL="0" indent="0" algn="l">
              <a:buNone/>
            </a:pPr>
            <a:r>
              <a:rPr lang="en-US" sz="1800" b="0" i="0" u="none" strike="noStrike" baseline="0" dirty="0">
                <a:latin typeface="BookAntiqua"/>
              </a:rPr>
              <a:t>7. Let's first remove the columns we don't need, by just unticking the boxes beside their names, as shown to the right.</a:t>
            </a:r>
          </a:p>
          <a:p>
            <a:pPr marL="0" indent="0" algn="l">
              <a:buNone/>
            </a:pPr>
            <a:r>
              <a:rPr lang="en-US" sz="1800" b="0" i="0" u="none" strike="noStrike" baseline="0" dirty="0">
                <a:latin typeface="BookAntiqua"/>
              </a:rPr>
              <a:t>8. Let's also assign more friendly titles to the other two columns by typing them in the </a:t>
            </a:r>
            <a:r>
              <a:rPr lang="en-US" sz="1800" b="1" i="0" u="none" strike="noStrike" baseline="0" dirty="0">
                <a:latin typeface="BookAntiqua"/>
              </a:rPr>
              <a:t>New name</a:t>
            </a:r>
            <a:r>
              <a:rPr lang="en-US" sz="1800" b="0" i="0" u="none" strike="noStrike" baseline="0" dirty="0">
                <a:latin typeface="BookAntiqua"/>
              </a:rPr>
              <a:t> section: let's rename </a:t>
            </a:r>
            <a:r>
              <a:rPr lang="en-US" sz="1800" i="0" u="none" strike="noStrike" baseline="0" dirty="0" err="1">
                <a:latin typeface="Courier New" panose="02070309020205020404" pitchFamily="49" charset="0"/>
                <a:cs typeface="Courier New" panose="02070309020205020404" pitchFamily="49" charset="0"/>
              </a:rPr>
              <a:t>country_name</a:t>
            </a:r>
            <a:r>
              <a:rPr lang="en-US" sz="1800" b="0" i="0" u="none" strike="noStrike" baseline="0" dirty="0">
                <a:latin typeface="BookAntiqua"/>
              </a:rPr>
              <a:t> to Country and </a:t>
            </a:r>
            <a:r>
              <a:rPr lang="en-US" sz="1800" b="0" i="0" u="none" strike="noStrike" baseline="0" dirty="0" err="1">
                <a:latin typeface="Courier New" panose="02070309020205020404" pitchFamily="49" charset="0"/>
                <a:cs typeface="Courier New" panose="02070309020205020404" pitchFamily="49" charset="0"/>
              </a:rPr>
              <a:t>sales_USD</a:t>
            </a:r>
            <a:r>
              <a:rPr lang="en-US" sz="1800" b="0" i="0" u="none" strike="noStrike" baseline="0" dirty="0">
                <a:latin typeface="BookAntiqua"/>
              </a:rPr>
              <a:t> to Sales.</a:t>
            </a:r>
          </a:p>
          <a:p>
            <a:pPr marL="0" indent="0" algn="l">
              <a:buNone/>
            </a:pPr>
            <a:r>
              <a:rPr lang="en-US" sz="1800" b="0" i="0" u="none" strike="noStrike" baseline="0" dirty="0">
                <a:latin typeface="BookAntiqua"/>
              </a:rPr>
              <a:t>9. The preview of the transformed table looks exactly like we wanted; this means we are done with the configuration of this node, and we can close it by clicking on the </a:t>
            </a:r>
            <a:r>
              <a:rPr lang="en-US" sz="1800" b="1" i="0" u="none" strike="noStrike" baseline="0" dirty="0">
                <a:latin typeface="BookAntiqua"/>
              </a:rPr>
              <a:t>OK</a:t>
            </a:r>
            <a:r>
              <a:rPr lang="en-US" sz="1800" b="0" i="0" u="none" strike="noStrike" baseline="0" dirty="0">
                <a:latin typeface="BookAntiqua"/>
              </a:rPr>
              <a:t> button.</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404226" y="6027003"/>
            <a:ext cx="6142008" cy="584775"/>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No changes between KNIME v4.7 and v5.1 to mention in this slide.</a:t>
            </a:r>
          </a:p>
        </p:txBody>
      </p:sp>
      <p:pic>
        <p:nvPicPr>
          <p:cNvPr id="5" name="Picture 4">
            <a:extLst>
              <a:ext uri="{FF2B5EF4-FFF2-40B4-BE49-F238E27FC236}">
                <a16:creationId xmlns:a16="http://schemas.microsoft.com/office/drawing/2014/main" id="{86F767EE-CA8B-D403-7F7D-8B047F15F0D5}"/>
              </a:ext>
            </a:extLst>
          </p:cNvPr>
          <p:cNvPicPr>
            <a:picLocks noChangeAspect="1"/>
          </p:cNvPicPr>
          <p:nvPr/>
        </p:nvPicPr>
        <p:blipFill>
          <a:blip r:embed="rId2"/>
          <a:stretch>
            <a:fillRect/>
          </a:stretch>
        </p:blipFill>
        <p:spPr>
          <a:xfrm>
            <a:off x="6625329" y="876561"/>
            <a:ext cx="5497660" cy="5662261"/>
          </a:xfrm>
          <a:prstGeom prst="rect">
            <a:avLst/>
          </a:prstGeom>
        </p:spPr>
      </p:pic>
    </p:spTree>
    <p:extLst>
      <p:ext uri="{BB962C8B-B14F-4D97-AF65-F5344CB8AC3E}">
        <p14:creationId xmlns:p14="http://schemas.microsoft.com/office/powerpoint/2010/main" val="1093934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7"/>
            <a:ext cx="6547449" cy="4563374"/>
          </a:xfrm>
        </p:spPr>
        <p:txBody>
          <a:bodyPr>
            <a:normAutofit/>
          </a:bodyPr>
          <a:lstStyle/>
          <a:p>
            <a:pPr marL="0" indent="0" algn="l">
              <a:buNone/>
            </a:pPr>
            <a:r>
              <a:rPr lang="en-US" sz="1800" b="0" i="0" u="none" strike="noStrike" baseline="0" dirty="0">
                <a:latin typeface="BookAntiqua"/>
              </a:rPr>
              <a:t>10. To keep things clear to ourselves and others we want to comment on every node in our workflows. Let's start from this very first node. If we </a:t>
            </a:r>
            <a:r>
              <a:rPr lang="en-US" sz="1800" b="0" i="0" u="none" strike="noStrike" baseline="0" dirty="0" err="1">
                <a:latin typeface="BookAntiqua"/>
              </a:rPr>
              <a:t>doubleclick</a:t>
            </a:r>
            <a:r>
              <a:rPr lang="en-US" sz="1800" b="0" i="0" u="none" strike="noStrike" baseline="0" dirty="0">
                <a:latin typeface="BookAntiqua"/>
              </a:rPr>
              <a:t> on the label underneath (which by default will read </a:t>
            </a:r>
            <a:r>
              <a:rPr lang="en-US" sz="1800" b="1" i="0" u="none" strike="noStrike" baseline="0" dirty="0">
                <a:latin typeface="BookAntiqua-Bold"/>
              </a:rPr>
              <a:t>Node 1</a:t>
            </a:r>
            <a:r>
              <a:rPr lang="en-US" sz="1800" b="0" i="0" u="none" strike="noStrike" baseline="0" dirty="0">
                <a:latin typeface="BookAntiqua"/>
              </a:rPr>
              <a:t>), we can change it to something more meaningful, like </a:t>
            </a:r>
            <a:r>
              <a:rPr lang="en-US" sz="1800" b="0" i="0" u="none" strike="noStrike" baseline="0" dirty="0">
                <a:latin typeface="Consolas" panose="020B0609020204030204" pitchFamily="49" charset="0"/>
              </a:rPr>
              <a:t>Read raw data</a:t>
            </a:r>
            <a:r>
              <a:rPr lang="en-US" sz="1800" b="0" i="0" u="none" strike="noStrike" baseline="0" dirty="0">
                <a:latin typeface="BookAntiqua"/>
              </a:rPr>
              <a:t>. From this point on, I will not mention every time we need to comment on each node—just make it become a habit.</a:t>
            </a:r>
            <a:br>
              <a:rPr lang="en-US" sz="1800" b="0" i="0" u="none" strike="noStrike" baseline="0" dirty="0">
                <a:latin typeface="BookAntiqua"/>
              </a:rPr>
            </a:br>
            <a:endParaRPr lang="en-US" sz="1800" b="0" i="0" u="none" strike="noStrike" baseline="0" dirty="0">
              <a:latin typeface="BookAntiqua"/>
            </a:endParaRPr>
          </a:p>
          <a:p>
            <a:pPr marL="0" indent="0" algn="l">
              <a:buNone/>
            </a:pPr>
            <a:r>
              <a:rPr lang="en-US" sz="1800" b="0" i="0" u="none" strike="noStrike" baseline="0" dirty="0">
                <a:latin typeface="BookAntiqua"/>
              </a:rPr>
              <a:t>11. Our node is displaying an encouraging yellow traffic light: it means it has all it needs to fulfill its duty—we just need to say the word. To execute a node in KNIME, we can either select it and press </a:t>
            </a:r>
            <a:r>
              <a:rPr lang="en-US" sz="1800" b="0" i="1" u="none" strike="noStrike" baseline="0" dirty="0">
                <a:latin typeface="BookAntiqua-Italic"/>
              </a:rPr>
              <a:t>F7 </a:t>
            </a:r>
            <a:r>
              <a:rPr lang="en-US" sz="1800" b="0" i="0" u="none" strike="noStrike" baseline="0" dirty="0">
                <a:latin typeface="BookAntiqua"/>
              </a:rPr>
              <a:t>on our keyboard or right-click on the node to obtain the pop-up menu. When it appears, click on </a:t>
            </a:r>
            <a:r>
              <a:rPr lang="en-US" sz="1800" b="1" i="0" u="none" strike="noStrike" baseline="0" dirty="0">
                <a:latin typeface="BookAntiqua-Bold"/>
              </a:rPr>
              <a:t>Execute</a:t>
            </a:r>
            <a:r>
              <a:rPr lang="en-US" sz="1800" dirty="0">
                <a:latin typeface="BookAntiqua"/>
              </a:rPr>
              <a:t>.</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404226" y="6027003"/>
            <a:ext cx="6142008" cy="584775"/>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No changes between KNIME v4.7 and v5.1 to mention in this slide.</a:t>
            </a:r>
          </a:p>
        </p:txBody>
      </p:sp>
      <p:pic>
        <p:nvPicPr>
          <p:cNvPr id="9" name="Picture 8">
            <a:extLst>
              <a:ext uri="{FF2B5EF4-FFF2-40B4-BE49-F238E27FC236}">
                <a16:creationId xmlns:a16="http://schemas.microsoft.com/office/drawing/2014/main" id="{D34246F4-79F1-F423-BCFA-BE1D8A697BF7}"/>
              </a:ext>
            </a:extLst>
          </p:cNvPr>
          <p:cNvPicPr>
            <a:picLocks noChangeAspect="1"/>
          </p:cNvPicPr>
          <p:nvPr/>
        </p:nvPicPr>
        <p:blipFill>
          <a:blip r:embed="rId2"/>
          <a:stretch>
            <a:fillRect/>
          </a:stretch>
        </p:blipFill>
        <p:spPr>
          <a:xfrm>
            <a:off x="6762613" y="1043797"/>
            <a:ext cx="5030323" cy="4563374"/>
          </a:xfrm>
          <a:prstGeom prst="rect">
            <a:avLst/>
          </a:prstGeom>
        </p:spPr>
      </p:pic>
    </p:spTree>
    <p:extLst>
      <p:ext uri="{BB962C8B-B14F-4D97-AF65-F5344CB8AC3E}">
        <p14:creationId xmlns:p14="http://schemas.microsoft.com/office/powerpoint/2010/main" val="3729218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7"/>
            <a:ext cx="6547449" cy="4563374"/>
          </a:xfrm>
        </p:spPr>
        <p:txBody>
          <a:bodyPr>
            <a:normAutofit/>
          </a:bodyPr>
          <a:lstStyle/>
          <a:p>
            <a:pPr marL="0" indent="0" algn="l">
              <a:buNone/>
            </a:pPr>
            <a:r>
              <a:rPr lang="en-US" sz="1800" b="0" i="0" u="none" strike="noStrike" baseline="0" dirty="0">
                <a:latin typeface="BookAntiqua"/>
              </a:rPr>
              <a:t>12. The traffic light turning green is a good sign: our node was successfully executed. A useful feature of KNIME is that you can easily inspect what's going on at each step of the flow, by viewing what data is available at the output ports of every node. In the pop-up menu obtained by right-clicking on a node, you will find one or more icons showing a magnifying lens (normally one for each output port, at the bottom of the menu). By clicking on these icons, you will open a window showing the data you are after. Let’s do so now: right-click to make the pop-up menu appear and then click on </a:t>
            </a:r>
            <a:r>
              <a:rPr lang="en-US" sz="1800" b="1" i="0" u="none" strike="noStrike" baseline="0" dirty="0">
                <a:latin typeface="BookAntiqua"/>
              </a:rPr>
              <a:t>File Table</a:t>
            </a:r>
            <a:r>
              <a:rPr lang="en-US" sz="1800" b="0" i="0" u="none" strike="noStrike" baseline="0" dirty="0">
                <a:latin typeface="BookAntiqua"/>
              </a:rPr>
              <a:t> at the bottom of the menu (alternatively you can check out the Node Monitor or use the keyboard shortcut to open the first output view of a node, which is Shift + F6). Not surprisingly, we obtain the same table we had in preview in the preview step. It seems that, so far, everything is working right. We can click </a:t>
            </a:r>
            <a:r>
              <a:rPr lang="en-US" sz="1800" b="1" i="0" u="none" strike="noStrike" baseline="0" dirty="0">
                <a:latin typeface="BookAntiqua"/>
              </a:rPr>
              <a:t>OK</a:t>
            </a:r>
            <a:r>
              <a:rPr lang="en-US" sz="1800" b="0" i="0" u="none" strike="noStrike" baseline="0" dirty="0">
                <a:latin typeface="BookAntiqua"/>
              </a:rPr>
              <a:t> and move on.</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395599" y="5556798"/>
            <a:ext cx="6142008" cy="830997"/>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If you simply left-click on the CSV Reader node, you’ll observe the “File Table” that shows the output data from this node.</a:t>
            </a:r>
          </a:p>
        </p:txBody>
      </p:sp>
      <p:pic>
        <p:nvPicPr>
          <p:cNvPr id="5" name="Picture 4">
            <a:extLst>
              <a:ext uri="{FF2B5EF4-FFF2-40B4-BE49-F238E27FC236}">
                <a16:creationId xmlns:a16="http://schemas.microsoft.com/office/drawing/2014/main" id="{A9AD71B1-785C-F771-F96E-6C0D91139670}"/>
              </a:ext>
            </a:extLst>
          </p:cNvPr>
          <p:cNvPicPr>
            <a:picLocks noChangeAspect="1"/>
          </p:cNvPicPr>
          <p:nvPr/>
        </p:nvPicPr>
        <p:blipFill>
          <a:blip r:embed="rId2"/>
          <a:stretch>
            <a:fillRect/>
          </a:stretch>
        </p:blipFill>
        <p:spPr>
          <a:xfrm>
            <a:off x="6777433" y="796488"/>
            <a:ext cx="5275106" cy="5526676"/>
          </a:xfrm>
          <a:prstGeom prst="rect">
            <a:avLst/>
          </a:prstGeom>
        </p:spPr>
      </p:pic>
    </p:spTree>
    <p:extLst>
      <p:ext uri="{BB962C8B-B14F-4D97-AF65-F5344CB8AC3E}">
        <p14:creationId xmlns:p14="http://schemas.microsoft.com/office/powerpoint/2010/main" val="1069025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7"/>
            <a:ext cx="6547449" cy="2449901"/>
          </a:xfrm>
        </p:spPr>
        <p:txBody>
          <a:bodyPr>
            <a:normAutofit/>
          </a:bodyPr>
          <a:lstStyle/>
          <a:p>
            <a:pPr marL="0" indent="0" algn="l">
              <a:buNone/>
            </a:pPr>
            <a:r>
              <a:rPr lang="en-US" sz="1800" b="0" i="0" u="none" strike="noStrike" baseline="0" dirty="0">
                <a:latin typeface="BookAntiqua"/>
              </a:rPr>
              <a:t>13. The next step is to sort rows by decreasing amounts of sales. We can use a node that is meant to do exactly that: Sorter. Let's add our Sorter node to the workflow, pulling it from the Node Repository at the bottom left. You can either look it up by typing Sorter in the search box or find it in the hierarchy by clicking first on </a:t>
            </a:r>
            <a:r>
              <a:rPr lang="en-US" sz="1800" b="1" i="0" u="none" strike="noStrike" baseline="0" dirty="0">
                <a:latin typeface="BookAntiqua"/>
              </a:rPr>
              <a:t>Manipulation</a:t>
            </a:r>
            <a:r>
              <a:rPr lang="en-US" sz="1800" b="0" i="0" u="none" strike="noStrike" baseline="0" dirty="0">
                <a:latin typeface="BookAntiqua"/>
              </a:rPr>
              <a:t>, then </a:t>
            </a:r>
            <a:r>
              <a:rPr lang="en-US" sz="1800" b="1" i="0" u="none" strike="noStrike" baseline="0" dirty="0">
                <a:latin typeface="BookAntiqua"/>
              </a:rPr>
              <a:t>Row</a:t>
            </a:r>
            <a:r>
              <a:rPr lang="en-US" sz="1800" b="0" i="0" u="none" strike="noStrike" baseline="0" dirty="0">
                <a:latin typeface="BookAntiqua"/>
              </a:rPr>
              <a:t>, and—finally—</a:t>
            </a:r>
            <a:r>
              <a:rPr lang="en-US" sz="1800" b="1" i="0" u="none" strike="noStrike" baseline="0" dirty="0">
                <a:latin typeface="BookAntiqua"/>
              </a:rPr>
              <a:t>Transform</a:t>
            </a:r>
            <a:r>
              <a:rPr lang="en-US" sz="1800" b="0" i="0" u="none" strike="noStrike" baseline="0" dirty="0">
                <a:latin typeface="BookAntiqua"/>
              </a:rPr>
              <a:t>.  When you see the Sorter node, grab it with your mouse and drop it on the workflow, at the right of the CSV Reader node.</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211346" y="3496514"/>
            <a:ext cx="6142008" cy="3046988"/>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The suggested way to find the sorter node is to type “Sorter” in the repository search box as shown.  </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Remember to access the node repository, you have to click the second icon on the left side.  That icon is circled in red.</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Drag the yellow sorter node icon shown to the Workflow editor pane somewhere slightly to the right of the CSV Reader node you created in a prior step.</a:t>
            </a:r>
          </a:p>
        </p:txBody>
      </p:sp>
      <p:pic>
        <p:nvPicPr>
          <p:cNvPr id="7" name="Picture 6">
            <a:extLst>
              <a:ext uri="{FF2B5EF4-FFF2-40B4-BE49-F238E27FC236}">
                <a16:creationId xmlns:a16="http://schemas.microsoft.com/office/drawing/2014/main" id="{5EC27C1F-8449-E222-012A-D0E4D0EAB415}"/>
              </a:ext>
            </a:extLst>
          </p:cNvPr>
          <p:cNvPicPr>
            <a:picLocks noChangeAspect="1"/>
          </p:cNvPicPr>
          <p:nvPr/>
        </p:nvPicPr>
        <p:blipFill>
          <a:blip r:embed="rId2"/>
          <a:stretch>
            <a:fillRect/>
          </a:stretch>
        </p:blipFill>
        <p:spPr>
          <a:xfrm>
            <a:off x="6813358" y="667098"/>
            <a:ext cx="2917523" cy="3191726"/>
          </a:xfrm>
          <a:prstGeom prst="rect">
            <a:avLst/>
          </a:prstGeom>
        </p:spPr>
      </p:pic>
      <p:pic>
        <p:nvPicPr>
          <p:cNvPr id="11" name="Picture 10">
            <a:extLst>
              <a:ext uri="{FF2B5EF4-FFF2-40B4-BE49-F238E27FC236}">
                <a16:creationId xmlns:a16="http://schemas.microsoft.com/office/drawing/2014/main" id="{5F9592FA-CA7B-BCEF-289B-AE9439C95D8A}"/>
              </a:ext>
            </a:extLst>
          </p:cNvPr>
          <p:cNvPicPr>
            <a:picLocks noChangeAspect="1"/>
          </p:cNvPicPr>
          <p:nvPr/>
        </p:nvPicPr>
        <p:blipFill>
          <a:blip r:embed="rId3"/>
          <a:stretch>
            <a:fillRect/>
          </a:stretch>
        </p:blipFill>
        <p:spPr>
          <a:xfrm>
            <a:off x="6796464" y="3951203"/>
            <a:ext cx="5123805" cy="2691138"/>
          </a:xfrm>
          <a:prstGeom prst="rect">
            <a:avLst/>
          </a:prstGeom>
        </p:spPr>
      </p:pic>
    </p:spTree>
    <p:extLst>
      <p:ext uri="{BB962C8B-B14F-4D97-AF65-F5344CB8AC3E}">
        <p14:creationId xmlns:p14="http://schemas.microsoft.com/office/powerpoint/2010/main" val="3707716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7"/>
            <a:ext cx="5218981" cy="3481522"/>
          </a:xfrm>
        </p:spPr>
        <p:txBody>
          <a:bodyPr>
            <a:normAutofit/>
          </a:bodyPr>
          <a:lstStyle/>
          <a:p>
            <a:pPr marL="0" indent="0" algn="l">
              <a:buNone/>
            </a:pPr>
            <a:r>
              <a:rPr lang="en-US" sz="1800" b="0" i="0" u="none" strike="noStrike" baseline="0" dirty="0">
                <a:latin typeface="BookAntiqua"/>
              </a:rPr>
              <a:t>14. Your node is now lying alone in the workflow while we want it to be cooperating with other nodes. In fact, we need it to sort the table output by the CSV Reader, so we need to create a connection between the two nodes. In KNIME, we create connections by just drawing them with the mouse. Click on the output port of the CSV Reader (the little arrow on its right) and while keeping the mouse button pressed, go to the input port of the Sorter node.  When you release the button, you will see a connection appearing between the nodes. This is exactly what we wanted; The table given in the output by the CSV Reader has now become an input for the Sorter.</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297610" y="4743796"/>
            <a:ext cx="7716330" cy="2308324"/>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Click the black triangle to the right of the CSV Reader node, hold the mouse button down and “connect” the node to the left black triangle on the Sorter node.  </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This tells the workflow to direct the output data from the CSV Reader to the input of the sorter node.</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Now you’ll notice the nodes are connected by a black line.</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p:txBody>
      </p:sp>
      <p:pic>
        <p:nvPicPr>
          <p:cNvPr id="9" name="Picture 8">
            <a:extLst>
              <a:ext uri="{FF2B5EF4-FFF2-40B4-BE49-F238E27FC236}">
                <a16:creationId xmlns:a16="http://schemas.microsoft.com/office/drawing/2014/main" id="{C6C6F3AC-358A-2BE8-C2EF-302D65CE2D91}"/>
              </a:ext>
            </a:extLst>
          </p:cNvPr>
          <p:cNvPicPr>
            <a:picLocks noChangeAspect="1"/>
          </p:cNvPicPr>
          <p:nvPr/>
        </p:nvPicPr>
        <p:blipFill>
          <a:blip r:embed="rId2"/>
          <a:stretch>
            <a:fillRect/>
          </a:stretch>
        </p:blipFill>
        <p:spPr>
          <a:xfrm>
            <a:off x="5394750" y="800524"/>
            <a:ext cx="6354062" cy="3724795"/>
          </a:xfrm>
          <a:prstGeom prst="rect">
            <a:avLst/>
          </a:prstGeom>
        </p:spPr>
      </p:pic>
    </p:spTree>
    <p:extLst>
      <p:ext uri="{BB962C8B-B14F-4D97-AF65-F5344CB8AC3E}">
        <p14:creationId xmlns:p14="http://schemas.microsoft.com/office/powerpoint/2010/main" val="1741752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6547449" cy="5072332"/>
          </a:xfrm>
        </p:spPr>
        <p:txBody>
          <a:bodyPr>
            <a:normAutofit/>
          </a:bodyPr>
          <a:lstStyle/>
          <a:p>
            <a:pPr marL="0" indent="0" algn="l">
              <a:buNone/>
            </a:pPr>
            <a:r>
              <a:rPr lang="en-US" sz="1800" b="0" i="0" u="none" strike="noStrike" baseline="0" dirty="0">
                <a:latin typeface="BookAntiqua"/>
              </a:rPr>
              <a:t>We are now ready to configure the Sorter: let's learn about our new node.</a:t>
            </a:r>
          </a:p>
          <a:p>
            <a:pPr marL="0" indent="0" algn="l">
              <a:buNone/>
            </a:pPr>
            <a:r>
              <a:rPr lang="en-US" sz="1800" b="1" i="0" u="none" strike="noStrike" baseline="0" dirty="0">
                <a:latin typeface="BookAntiqua"/>
              </a:rPr>
              <a:t>Sorter</a:t>
            </a:r>
          </a:p>
          <a:p>
            <a:pPr marL="0" indent="0" algn="l">
              <a:buNone/>
            </a:pPr>
            <a:r>
              <a:rPr lang="en-US" sz="1800" b="0" i="0" u="none" strike="noStrike" baseline="0" dirty="0">
                <a:latin typeface="BookAntiqua"/>
              </a:rPr>
              <a:t>This node (available in the repository in </a:t>
            </a:r>
            <a:r>
              <a:rPr lang="en-US" sz="1800" b="1" i="0" u="none" strike="noStrike" baseline="0" dirty="0">
                <a:latin typeface="BookAntiqua"/>
              </a:rPr>
              <a:t>Manipulation &gt; Row &gt; Transform</a:t>
            </a:r>
            <a:r>
              <a:rPr lang="en-US" sz="1800" b="0" i="0" u="none" strike="noStrike" baseline="0" dirty="0">
                <a:latin typeface="BookAntiqua"/>
              </a:rPr>
              <a:t>) can sort the rows of a table according to a set of criteria defined by the user. Its configuration is self-explanatory: from the drop-down menu, you can select the column you wish to sort by. The radio buttons on the right let you choose whether the sorting shall follow an </a:t>
            </a:r>
            <a:r>
              <a:rPr lang="en-US" sz="1800" b="1" i="0" u="none" strike="noStrike" baseline="0" dirty="0">
                <a:latin typeface="BookAntiqua"/>
              </a:rPr>
              <a:t>Ascending</a:t>
            </a:r>
            <a:r>
              <a:rPr lang="en-US" sz="1800" b="0" i="0" u="none" strike="noStrike" baseline="0" dirty="0">
                <a:latin typeface="BookAntiqua"/>
              </a:rPr>
              <a:t> (A to Z or 1 to 9) or </a:t>
            </a:r>
            <a:r>
              <a:rPr lang="en-US" sz="1800" b="1" i="0" u="none" strike="noStrike" baseline="0" dirty="0">
                <a:latin typeface="BookAntiqua"/>
              </a:rPr>
              <a:t>Descending</a:t>
            </a:r>
            <a:r>
              <a:rPr lang="en-US" sz="1800" b="0" i="0" u="none" strike="noStrike" baseline="0" dirty="0">
                <a:latin typeface="BookAntiqua"/>
              </a:rPr>
              <a:t> (the other way around) order.  You can add additional rules on other columns that will come to play to break the ties in case multiple rows carry the same value in a column. To do so, just click on the </a:t>
            </a:r>
            <a:r>
              <a:rPr lang="en-US" sz="1800" b="1" i="0" u="none" strike="noStrike" baseline="0" dirty="0">
                <a:latin typeface="BookAntiqua"/>
              </a:rPr>
              <a:t>Add Rule</a:t>
            </a:r>
            <a:r>
              <a:rPr lang="en-US" sz="1800" b="0" i="0" u="none" strike="noStrike" baseline="0" dirty="0">
                <a:latin typeface="BookAntiqua"/>
              </a:rPr>
              <a:t> button and you will see further drop-down menus appearing. You can change the order of precedence among multiple rules by using the ↑ and ↓ arrows.</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560715" y="5345728"/>
            <a:ext cx="9799610" cy="830997"/>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Differences between KNIME 4 and KNIME 5 are:  There’s a new “Job Manager Selection” tab, which we don’t use in this lab or class.  The button entitled “Add sorting criterion” used to be titled “Add Rule”.  No other differences.</a:t>
            </a:r>
          </a:p>
        </p:txBody>
      </p:sp>
      <p:pic>
        <p:nvPicPr>
          <p:cNvPr id="5" name="Picture 4">
            <a:extLst>
              <a:ext uri="{FF2B5EF4-FFF2-40B4-BE49-F238E27FC236}">
                <a16:creationId xmlns:a16="http://schemas.microsoft.com/office/drawing/2014/main" id="{5CE1877E-7186-3F15-FA99-3381FFE1FA83}"/>
              </a:ext>
            </a:extLst>
          </p:cNvPr>
          <p:cNvPicPr>
            <a:picLocks noChangeAspect="1"/>
          </p:cNvPicPr>
          <p:nvPr/>
        </p:nvPicPr>
        <p:blipFill>
          <a:blip r:embed="rId2"/>
          <a:stretch>
            <a:fillRect/>
          </a:stretch>
        </p:blipFill>
        <p:spPr>
          <a:xfrm>
            <a:off x="6744244" y="980642"/>
            <a:ext cx="5087060" cy="3620005"/>
          </a:xfrm>
          <a:prstGeom prst="rect">
            <a:avLst/>
          </a:prstGeom>
        </p:spPr>
      </p:pic>
    </p:spTree>
    <p:extLst>
      <p:ext uri="{BB962C8B-B14F-4D97-AF65-F5344CB8AC3E}">
        <p14:creationId xmlns:p14="http://schemas.microsoft.com/office/powerpoint/2010/main" val="4232964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6547449" cy="3786996"/>
          </a:xfrm>
        </p:spPr>
        <p:txBody>
          <a:bodyPr>
            <a:normAutofit/>
          </a:bodyPr>
          <a:lstStyle/>
          <a:p>
            <a:pPr marL="0" indent="0" algn="l">
              <a:buNone/>
            </a:pPr>
            <a:r>
              <a:rPr lang="en-US" sz="1800" b="0" i="0" u="none" strike="noStrike" baseline="0" dirty="0">
                <a:latin typeface="BookAntiqua"/>
              </a:rPr>
              <a:t>15. To open the configuration window of Sorter, you can either double-click on the node or right-click on it and then press </a:t>
            </a:r>
            <a:r>
              <a:rPr lang="en-US" sz="1800" b="1" i="0" u="none" strike="noStrike" baseline="0" dirty="0">
                <a:latin typeface="BookAntiqua"/>
              </a:rPr>
              <a:t>Configure….</a:t>
            </a:r>
            <a:r>
              <a:rPr lang="en-US" sz="1800" b="0" i="0" u="none" strike="noStrike" baseline="0" dirty="0">
                <a:latin typeface="BookAntiqua"/>
              </a:rPr>
              <a:t> You could also just press F6 on your keyboard after selecting the node with your mouse.</a:t>
            </a:r>
          </a:p>
          <a:p>
            <a:pPr marL="0" indent="0" algn="l">
              <a:buNone/>
            </a:pPr>
            <a:r>
              <a:rPr lang="en-US" sz="1800" b="0" i="0" u="none" strike="noStrike" baseline="0" dirty="0">
                <a:latin typeface="BookAntiqua"/>
              </a:rPr>
              <a:t>16. Given our needs, the configuration of the node is straightforward: just select Sales in the drop-down menu and then click on the second radio button to apply a descending order. Press </a:t>
            </a:r>
            <a:r>
              <a:rPr lang="en-US" sz="1800" b="1" i="0" u="none" strike="noStrike" baseline="0" dirty="0">
                <a:latin typeface="BookAntiqua"/>
              </a:rPr>
              <a:t>OK</a:t>
            </a:r>
            <a:r>
              <a:rPr lang="en-US" sz="1800" b="0" i="0" u="none" strike="noStrike" baseline="0" dirty="0">
                <a:latin typeface="BookAntiqua"/>
              </a:rPr>
              <a:t> to close the window.</a:t>
            </a:r>
          </a:p>
          <a:p>
            <a:pPr marL="0" indent="0" algn="l">
              <a:buNone/>
            </a:pPr>
            <a:r>
              <a:rPr lang="en-US" sz="1800" b="0" i="0" u="none" strike="noStrike" baseline="0" dirty="0">
                <a:latin typeface="BookAntiqua"/>
              </a:rPr>
              <a:t>17. The Sorter node is now clear about the input table to use and about the way we want the sorting to happen: it is all ready to go. Let's execute it (F7 or right-click and select </a:t>
            </a:r>
            <a:r>
              <a:rPr lang="en-US" sz="1800" b="1" i="0" u="none" strike="noStrike" baseline="0" dirty="0">
                <a:latin typeface="BookAntiqua"/>
              </a:rPr>
              <a:t>Execute</a:t>
            </a:r>
            <a:r>
              <a:rPr lang="en-US" sz="1800" b="0" i="0" u="none" strike="noStrike" baseline="0" dirty="0">
                <a:latin typeface="BookAntiqua"/>
              </a:rPr>
              <a:t>) and open the view showing its output (Shift + F6 or right-click and select </a:t>
            </a:r>
            <a:r>
              <a:rPr lang="en-US" sz="1800" b="1" i="0" u="none" strike="noStrike" baseline="0" dirty="0">
                <a:latin typeface="BookAntiqua"/>
              </a:rPr>
              <a:t>Sorted Table</a:t>
            </a:r>
            <a:r>
              <a:rPr lang="en-US" sz="1800" b="0" i="0" u="none" strike="noStrike" baseline="0" dirty="0">
                <a:latin typeface="BookAntiqua"/>
              </a:rPr>
              <a:t>, the last icon with the magnifying lens):</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560715" y="5345728"/>
            <a:ext cx="9799610" cy="830997"/>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Differences between KNIME 4 and KNIME 5 are:  There’s a new “Job Manager Selection” tab, which we don’t use in this lab or class.  The button entitled “Add sorting criterion” used to be titled “Add Rule”.  No other differences.</a:t>
            </a:r>
          </a:p>
        </p:txBody>
      </p:sp>
      <p:pic>
        <p:nvPicPr>
          <p:cNvPr id="7" name="Picture 6">
            <a:extLst>
              <a:ext uri="{FF2B5EF4-FFF2-40B4-BE49-F238E27FC236}">
                <a16:creationId xmlns:a16="http://schemas.microsoft.com/office/drawing/2014/main" id="{55B916AD-2A3D-1F95-6075-6012E39372A4}"/>
              </a:ext>
            </a:extLst>
          </p:cNvPr>
          <p:cNvPicPr>
            <a:picLocks noChangeAspect="1"/>
          </p:cNvPicPr>
          <p:nvPr/>
        </p:nvPicPr>
        <p:blipFill>
          <a:blip r:embed="rId2"/>
          <a:stretch>
            <a:fillRect/>
          </a:stretch>
        </p:blipFill>
        <p:spPr>
          <a:xfrm>
            <a:off x="6616460" y="946773"/>
            <a:ext cx="5058481" cy="3515216"/>
          </a:xfrm>
          <a:prstGeom prst="rect">
            <a:avLst/>
          </a:prstGeom>
        </p:spPr>
      </p:pic>
      <p:sp>
        <p:nvSpPr>
          <p:cNvPr id="8" name="TextBox 7">
            <a:extLst>
              <a:ext uri="{FF2B5EF4-FFF2-40B4-BE49-F238E27FC236}">
                <a16:creationId xmlns:a16="http://schemas.microsoft.com/office/drawing/2014/main" id="{615500DC-830E-413D-82C5-9082CF71BCD6}"/>
              </a:ext>
            </a:extLst>
          </p:cNvPr>
          <p:cNvSpPr txBox="1"/>
          <p:nvPr/>
        </p:nvSpPr>
        <p:spPr>
          <a:xfrm>
            <a:off x="6616460" y="4520242"/>
            <a:ext cx="4977442" cy="307777"/>
          </a:xfrm>
          <a:prstGeom prst="rect">
            <a:avLst/>
          </a:prstGeom>
          <a:noFill/>
        </p:spPr>
        <p:txBody>
          <a:bodyPr wrap="square" rtlCol="0">
            <a:spAutoFit/>
          </a:bodyPr>
          <a:lstStyle/>
          <a:p>
            <a:r>
              <a:rPr lang="en-US" sz="1400" i="1" dirty="0"/>
              <a:t>The sorter node configuration after steps 15 and 16.</a:t>
            </a:r>
          </a:p>
        </p:txBody>
      </p:sp>
    </p:spTree>
    <p:extLst>
      <p:ext uri="{BB962C8B-B14F-4D97-AF65-F5344CB8AC3E}">
        <p14:creationId xmlns:p14="http://schemas.microsoft.com/office/powerpoint/2010/main" val="317261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6547449" cy="3786996"/>
          </a:xfrm>
        </p:spPr>
        <p:txBody>
          <a:bodyPr>
            <a:normAutofit/>
          </a:bodyPr>
          <a:lstStyle/>
          <a:p>
            <a:pPr marL="0" indent="0" algn="l">
              <a:buNone/>
            </a:pPr>
            <a:r>
              <a:rPr lang="en-US" sz="1800" b="0" i="0" u="none" strike="noStrike" baseline="0" dirty="0">
                <a:latin typeface="BookAntiqua"/>
              </a:rPr>
              <a:t>17. The Sorter node is now clear about the input table to use and about the way we want the sorting to happen: it is all ready to go. Let's execute it (F7 or right-click and select </a:t>
            </a:r>
            <a:r>
              <a:rPr lang="en-US" sz="1800" b="1" i="0" u="none" strike="noStrike" baseline="0" dirty="0">
                <a:latin typeface="BookAntiqua"/>
              </a:rPr>
              <a:t>Execute</a:t>
            </a:r>
            <a:r>
              <a:rPr lang="en-US" sz="1800" b="0" i="0" u="none" strike="noStrike" baseline="0" dirty="0">
                <a:latin typeface="BookAntiqua"/>
              </a:rPr>
              <a:t>) and open the view showing its output (Shift + F6 or right-click and select </a:t>
            </a:r>
            <a:r>
              <a:rPr lang="en-US" sz="1800" b="1" i="0" u="none" strike="noStrike" baseline="0" dirty="0">
                <a:latin typeface="BookAntiqua"/>
              </a:rPr>
              <a:t>Sorted Table</a:t>
            </a:r>
            <a:r>
              <a:rPr lang="en-US" sz="1800" b="0" i="0" u="none" strike="noStrike" baseline="0" dirty="0">
                <a:latin typeface="BookAntiqua"/>
              </a:rPr>
              <a:t>, the last icon with the magnifying lens).</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440321" y="2644081"/>
            <a:ext cx="5894345" cy="1815882"/>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Click the sorter node and either press F7 or right-click and select Execute to execute the node.  </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The sorted output should display at the bottom under the sorted table tab as shown in the figure here.</a:t>
            </a:r>
          </a:p>
        </p:txBody>
      </p:sp>
      <p:sp>
        <p:nvSpPr>
          <p:cNvPr id="8" name="TextBox 7">
            <a:extLst>
              <a:ext uri="{FF2B5EF4-FFF2-40B4-BE49-F238E27FC236}">
                <a16:creationId xmlns:a16="http://schemas.microsoft.com/office/drawing/2014/main" id="{615500DC-830E-413D-82C5-9082CF71BCD6}"/>
              </a:ext>
            </a:extLst>
          </p:cNvPr>
          <p:cNvSpPr txBox="1"/>
          <p:nvPr/>
        </p:nvSpPr>
        <p:spPr>
          <a:xfrm>
            <a:off x="6918384" y="6179329"/>
            <a:ext cx="4977442" cy="307777"/>
          </a:xfrm>
          <a:prstGeom prst="rect">
            <a:avLst/>
          </a:prstGeom>
          <a:noFill/>
        </p:spPr>
        <p:txBody>
          <a:bodyPr wrap="square" rtlCol="0">
            <a:spAutoFit/>
          </a:bodyPr>
          <a:lstStyle/>
          <a:p>
            <a:r>
              <a:rPr lang="en-US" sz="1400" i="1" dirty="0"/>
              <a:t>The sorter node configuration after step 17.</a:t>
            </a:r>
          </a:p>
        </p:txBody>
      </p:sp>
      <p:pic>
        <p:nvPicPr>
          <p:cNvPr id="5" name="Picture 4">
            <a:extLst>
              <a:ext uri="{FF2B5EF4-FFF2-40B4-BE49-F238E27FC236}">
                <a16:creationId xmlns:a16="http://schemas.microsoft.com/office/drawing/2014/main" id="{29180368-307F-D937-02E6-738AD302A4CA}"/>
              </a:ext>
            </a:extLst>
          </p:cNvPr>
          <p:cNvPicPr>
            <a:picLocks noChangeAspect="1"/>
          </p:cNvPicPr>
          <p:nvPr/>
        </p:nvPicPr>
        <p:blipFill>
          <a:blip r:embed="rId2"/>
          <a:stretch>
            <a:fillRect/>
          </a:stretch>
        </p:blipFill>
        <p:spPr>
          <a:xfrm>
            <a:off x="6702724" y="678671"/>
            <a:ext cx="5048955" cy="5468113"/>
          </a:xfrm>
          <a:prstGeom prst="rect">
            <a:avLst/>
          </a:prstGeom>
        </p:spPr>
      </p:pic>
      <p:pic>
        <p:nvPicPr>
          <p:cNvPr id="10" name="Picture 9">
            <a:extLst>
              <a:ext uri="{FF2B5EF4-FFF2-40B4-BE49-F238E27FC236}">
                <a16:creationId xmlns:a16="http://schemas.microsoft.com/office/drawing/2014/main" id="{D2FFE00F-3BCE-200C-6681-D7F7E488D3A0}"/>
              </a:ext>
            </a:extLst>
          </p:cNvPr>
          <p:cNvPicPr>
            <a:picLocks noChangeAspect="1"/>
          </p:cNvPicPr>
          <p:nvPr/>
        </p:nvPicPr>
        <p:blipFill>
          <a:blip r:embed="rId3"/>
          <a:stretch>
            <a:fillRect/>
          </a:stretch>
        </p:blipFill>
        <p:spPr>
          <a:xfrm>
            <a:off x="164741" y="4830792"/>
            <a:ext cx="6355988" cy="1791233"/>
          </a:xfrm>
          <a:prstGeom prst="rect">
            <a:avLst/>
          </a:prstGeom>
        </p:spPr>
      </p:pic>
    </p:spTree>
    <p:extLst>
      <p:ext uri="{BB962C8B-B14F-4D97-AF65-F5344CB8AC3E}">
        <p14:creationId xmlns:p14="http://schemas.microsoft.com/office/powerpoint/2010/main" val="931419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731860"/>
            <a:ext cx="6840747" cy="5072332"/>
          </a:xfrm>
        </p:spPr>
        <p:txBody>
          <a:bodyPr>
            <a:normAutofit/>
          </a:bodyPr>
          <a:lstStyle/>
          <a:p>
            <a:pPr marL="0" indent="0" algn="l">
              <a:buNone/>
            </a:pPr>
            <a:r>
              <a:rPr lang="en-US" sz="1800" b="0" i="0" u="none" strike="noStrike" baseline="0" dirty="0">
                <a:latin typeface="BookAntiqua"/>
              </a:rPr>
              <a:t>It looks like we have our countries sorted in the right order and we can proceed to the last step: exporting our table as an Excel file.</a:t>
            </a:r>
          </a:p>
          <a:p>
            <a:pPr marL="0" indent="0" algn="l">
              <a:buNone/>
            </a:pPr>
            <a:r>
              <a:rPr lang="en-US" sz="1800" b="1" i="0" u="none" strike="noStrike" baseline="0" dirty="0">
                <a:latin typeface="BookAntiqua"/>
              </a:rPr>
              <a:t>Excel Writer</a:t>
            </a:r>
          </a:p>
          <a:p>
            <a:pPr marL="0" indent="0" algn="l">
              <a:buNone/>
            </a:pPr>
            <a:r>
              <a:rPr lang="en-US" sz="1800" b="0" i="0" u="none" strike="noStrike" baseline="0" dirty="0">
                <a:latin typeface="BookAntiqua"/>
              </a:rPr>
              <a:t>This node (available within </a:t>
            </a:r>
            <a:r>
              <a:rPr lang="en-US" sz="1800" b="1" i="0" u="none" strike="noStrike" baseline="0" dirty="0">
                <a:latin typeface="BookAntiqua"/>
              </a:rPr>
              <a:t>IO &gt; Write</a:t>
            </a:r>
            <a:r>
              <a:rPr lang="en-US" sz="1800" b="0" i="0" u="none" strike="noStrike" baseline="0" dirty="0">
                <a:latin typeface="BookAntiqua"/>
              </a:rPr>
              <a:t> in the repository) saves data as Excel worksheets. The configuration dialog will let you first select the format of the file to create (the legacy .</a:t>
            </a:r>
            <a:r>
              <a:rPr lang="en-US" sz="1800" b="0" i="0" u="none" strike="noStrike" baseline="0" dirty="0" err="1">
                <a:latin typeface="BookAntiqua"/>
              </a:rPr>
              <a:t>xls</a:t>
            </a:r>
            <a:r>
              <a:rPr lang="en-US" sz="1800" b="0" i="0" u="none" strike="noStrike" baseline="0" dirty="0">
                <a:latin typeface="BookAntiqua"/>
              </a:rPr>
              <a:t> or the latest .xlsx one) and where to save it (click on the </a:t>
            </a:r>
            <a:r>
              <a:rPr lang="en-US" sz="1800" b="1" i="0" u="none" strike="noStrike" baseline="0" dirty="0">
                <a:latin typeface="BookAntiqua"/>
              </a:rPr>
              <a:t>Browse... </a:t>
            </a:r>
            <a:r>
              <a:rPr lang="en-US" sz="1800" b="0" i="0" u="none" strike="noStrike" baseline="0" dirty="0">
                <a:latin typeface="BookAntiqua"/>
              </a:rPr>
              <a:t>button to select a path). By selecting the </a:t>
            </a:r>
            <a:r>
              <a:rPr lang="en-US" sz="1800" b="1" i="0" u="none" strike="noStrike" baseline="0" dirty="0">
                <a:latin typeface="BookAntiqua"/>
              </a:rPr>
              <a:t>if exists</a:t>
            </a:r>
            <a:r>
              <a:rPr lang="en-US" sz="1800" b="0" i="0" u="none" strike="noStrike" baseline="0" dirty="0">
                <a:latin typeface="BookAntiqua"/>
              </a:rPr>
              <a:t> radio buttons, you can specify what to do if a file with that name is already there where you want to save it: you can overwrite the old data, append the new data as additional rows, or preserve the original file. An important option to check is </a:t>
            </a:r>
            <a:r>
              <a:rPr lang="en-US" sz="1800" b="1" i="0" u="none" strike="noStrike" baseline="0" dirty="0">
                <a:latin typeface="BookAntiqua"/>
              </a:rPr>
              <a:t>Write column headers</a:t>
            </a:r>
            <a:r>
              <a:rPr lang="en-US" sz="1800" b="0" i="0" u="none" strike="noStrike" baseline="0" dirty="0">
                <a:latin typeface="BookAntiqua"/>
              </a:rPr>
              <a:t>: when selected, the column names of your table are added as headers in the first row of your Excel file.</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6909758" y="5147320"/>
            <a:ext cx="5282242" cy="1569660"/>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To find the node in KNIME v5, follow roughly the same process as you did with the sorter node.  Type Excel in the sort box.  When it’s time, be sure to select the Excel Writer and not accidentally select the Excel Reader node!</a:t>
            </a:r>
          </a:p>
        </p:txBody>
      </p:sp>
      <p:pic>
        <p:nvPicPr>
          <p:cNvPr id="7" name="Picture 6">
            <a:extLst>
              <a:ext uri="{FF2B5EF4-FFF2-40B4-BE49-F238E27FC236}">
                <a16:creationId xmlns:a16="http://schemas.microsoft.com/office/drawing/2014/main" id="{A8CC9247-B763-89AF-2339-CFF4E9B01FB8}"/>
              </a:ext>
            </a:extLst>
          </p:cNvPr>
          <p:cNvPicPr>
            <a:picLocks noChangeAspect="1"/>
          </p:cNvPicPr>
          <p:nvPr/>
        </p:nvPicPr>
        <p:blipFill>
          <a:blip r:embed="rId2"/>
          <a:stretch>
            <a:fillRect/>
          </a:stretch>
        </p:blipFill>
        <p:spPr>
          <a:xfrm>
            <a:off x="6980820" y="731860"/>
            <a:ext cx="4096322" cy="4248743"/>
          </a:xfrm>
          <a:prstGeom prst="rect">
            <a:avLst/>
          </a:prstGeom>
        </p:spPr>
      </p:pic>
      <p:pic>
        <p:nvPicPr>
          <p:cNvPr id="9" name="Picture 8">
            <a:extLst>
              <a:ext uri="{FF2B5EF4-FFF2-40B4-BE49-F238E27FC236}">
                <a16:creationId xmlns:a16="http://schemas.microsoft.com/office/drawing/2014/main" id="{B89590A4-90CA-49EE-2FE3-86F9752A9307}"/>
              </a:ext>
            </a:extLst>
          </p:cNvPr>
          <p:cNvPicPr>
            <a:picLocks noChangeAspect="1"/>
          </p:cNvPicPr>
          <p:nvPr/>
        </p:nvPicPr>
        <p:blipFill>
          <a:blip r:embed="rId3"/>
          <a:stretch>
            <a:fillRect/>
          </a:stretch>
        </p:blipFill>
        <p:spPr>
          <a:xfrm>
            <a:off x="734683" y="4351224"/>
            <a:ext cx="5473868" cy="2506776"/>
          </a:xfrm>
          <a:prstGeom prst="rect">
            <a:avLst/>
          </a:prstGeom>
        </p:spPr>
      </p:pic>
    </p:spTree>
    <p:extLst>
      <p:ext uri="{BB962C8B-B14F-4D97-AF65-F5344CB8AC3E}">
        <p14:creationId xmlns:p14="http://schemas.microsoft.com/office/powerpoint/2010/main" val="3203543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128617" y="1984075"/>
            <a:ext cx="6547449" cy="2648310"/>
          </a:xfrm>
        </p:spPr>
        <p:txBody>
          <a:bodyPr>
            <a:normAutofit/>
          </a:bodyPr>
          <a:lstStyle/>
          <a:p>
            <a:pPr marL="0" indent="0" algn="l">
              <a:buNone/>
            </a:pPr>
            <a:r>
              <a:rPr lang="en-US" sz="1800" b="0" i="0" u="none" strike="noStrike" baseline="0" dirty="0">
                <a:latin typeface="BookAntiqua"/>
              </a:rPr>
              <a:t>18. Let's add the Excel Writer node to our workflow, dragging it from the Node Repository, and then create a connection between the output port of the Sorter and the input node of the Excel Writer.</a:t>
            </a:r>
          </a:p>
          <a:p>
            <a:pPr marL="0" indent="0" algn="l">
              <a:buNone/>
            </a:pPr>
            <a:r>
              <a:rPr lang="en-US" sz="1800" b="0" i="0" u="none" strike="noStrike" baseline="0" dirty="0">
                <a:latin typeface="BookAntiqua"/>
              </a:rPr>
              <a:t>19. Open the configuration window of the Excel Writer (double-click on it). The only configurations we need to add in this case are the location and the name of the output file (click on the </a:t>
            </a:r>
            <a:r>
              <a:rPr lang="en-US" sz="1800" b="1" i="0" u="none" strike="noStrike" baseline="0" dirty="0">
                <a:latin typeface="BookAntiqua"/>
              </a:rPr>
              <a:t>Browse...</a:t>
            </a:r>
            <a:r>
              <a:rPr lang="en-US" sz="1800" b="0" i="0" u="none" strike="noStrike" baseline="0" dirty="0">
                <a:latin typeface="BookAntiqua"/>
              </a:rPr>
              <a:t> button, go to the desired folder, and type the name of the new file) and, since we might need to repeat this process regularly, select the </a:t>
            </a:r>
            <a:r>
              <a:rPr lang="en-US" sz="1800" b="1" i="0" u="none" strike="noStrike" baseline="0" dirty="0">
                <a:latin typeface="BookAntiqua"/>
              </a:rPr>
              <a:t>overwrite</a:t>
            </a:r>
            <a:r>
              <a:rPr lang="en-US" sz="1800" b="0" i="0" u="none" strike="noStrike" baseline="0" dirty="0">
                <a:latin typeface="BookAntiqua"/>
              </a:rPr>
              <a:t> option using the radio button below.</a:t>
            </a:r>
          </a:p>
        </p:txBody>
      </p:sp>
      <p:sp>
        <p:nvSpPr>
          <p:cNvPr id="6" name="TextBox 5">
            <a:extLst>
              <a:ext uri="{FF2B5EF4-FFF2-40B4-BE49-F238E27FC236}">
                <a16:creationId xmlns:a16="http://schemas.microsoft.com/office/drawing/2014/main" id="{75FBB42F-4F25-2BBA-BE1B-FAEB36CC704A}"/>
              </a:ext>
            </a:extLst>
          </p:cNvPr>
          <p:cNvSpPr txBox="1"/>
          <p:nvPr/>
        </p:nvSpPr>
        <p:spPr>
          <a:xfrm>
            <a:off x="302240" y="4629557"/>
            <a:ext cx="6275061" cy="2062103"/>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The browse button in #19 is next to the File field, but it’s WAY over to the right.  If the configuration window/your screen is too small, you may not see it.</a:t>
            </a:r>
            <a:br>
              <a:rPr lang="en-US" sz="1600" b="1" dirty="0">
                <a:solidFill>
                  <a:schemeClr val="tx2">
                    <a:lumMod val="75000"/>
                    <a:lumOff val="25000"/>
                  </a:schemeClr>
                </a:solidFill>
                <a:latin typeface="Courier New" panose="02070309020205020404" pitchFamily="49" charset="0"/>
                <a:cs typeface="Courier New" panose="02070309020205020404" pitchFamily="49" charset="0"/>
              </a:rPr>
            </a:br>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Notice the filename:  “Sales by Country.xlsx” </a:t>
            </a:r>
            <a:br>
              <a:rPr lang="en-US" sz="1600" b="1" dirty="0">
                <a:solidFill>
                  <a:schemeClr val="tx2">
                    <a:lumMod val="75000"/>
                    <a:lumOff val="25000"/>
                  </a:schemeClr>
                </a:solidFill>
                <a:latin typeface="Courier New" panose="02070309020205020404" pitchFamily="49" charset="0"/>
                <a:cs typeface="Courier New" panose="02070309020205020404" pitchFamily="49" charset="0"/>
              </a:rPr>
            </a:br>
            <a:r>
              <a:rPr lang="en-US" sz="1600" b="1" dirty="0">
                <a:solidFill>
                  <a:schemeClr val="tx2">
                    <a:lumMod val="75000"/>
                    <a:lumOff val="25000"/>
                  </a:schemeClr>
                </a:solidFill>
                <a:latin typeface="Courier New" panose="02070309020205020404" pitchFamily="49" charset="0"/>
                <a:cs typeface="Courier New" panose="02070309020205020404" pitchFamily="49" charset="0"/>
              </a:rPr>
              <a:t>(Your drive letter and folder will be different)</a:t>
            </a: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Notice the If exists:  overwrite button selected.</a:t>
            </a:r>
          </a:p>
        </p:txBody>
      </p:sp>
      <p:sp>
        <p:nvSpPr>
          <p:cNvPr id="8" name="TextBox 7">
            <a:extLst>
              <a:ext uri="{FF2B5EF4-FFF2-40B4-BE49-F238E27FC236}">
                <a16:creationId xmlns:a16="http://schemas.microsoft.com/office/drawing/2014/main" id="{615500DC-830E-413D-82C5-9082CF71BCD6}"/>
              </a:ext>
            </a:extLst>
          </p:cNvPr>
          <p:cNvSpPr txBox="1"/>
          <p:nvPr/>
        </p:nvSpPr>
        <p:spPr>
          <a:xfrm>
            <a:off x="6868843" y="6537772"/>
            <a:ext cx="4977442" cy="307777"/>
          </a:xfrm>
          <a:prstGeom prst="rect">
            <a:avLst/>
          </a:prstGeom>
          <a:noFill/>
        </p:spPr>
        <p:txBody>
          <a:bodyPr wrap="square" rtlCol="0">
            <a:spAutoFit/>
          </a:bodyPr>
          <a:lstStyle/>
          <a:p>
            <a:r>
              <a:rPr lang="en-US" sz="1400" i="1" dirty="0"/>
              <a:t>The Excel Writer node configuration after steps 18 and 19.</a:t>
            </a:r>
          </a:p>
        </p:txBody>
      </p:sp>
      <p:pic>
        <p:nvPicPr>
          <p:cNvPr id="5" name="Picture 4">
            <a:extLst>
              <a:ext uri="{FF2B5EF4-FFF2-40B4-BE49-F238E27FC236}">
                <a16:creationId xmlns:a16="http://schemas.microsoft.com/office/drawing/2014/main" id="{00A1D43E-88B3-9352-73B2-9A1615183DA7}"/>
              </a:ext>
            </a:extLst>
          </p:cNvPr>
          <p:cNvPicPr>
            <a:picLocks noChangeAspect="1"/>
          </p:cNvPicPr>
          <p:nvPr/>
        </p:nvPicPr>
        <p:blipFill>
          <a:blip r:embed="rId2"/>
          <a:stretch>
            <a:fillRect/>
          </a:stretch>
        </p:blipFill>
        <p:spPr>
          <a:xfrm>
            <a:off x="1373818" y="678671"/>
            <a:ext cx="2758235" cy="1290142"/>
          </a:xfrm>
          <a:prstGeom prst="rect">
            <a:avLst/>
          </a:prstGeom>
        </p:spPr>
      </p:pic>
      <p:pic>
        <p:nvPicPr>
          <p:cNvPr id="10" name="Picture 9">
            <a:extLst>
              <a:ext uri="{FF2B5EF4-FFF2-40B4-BE49-F238E27FC236}">
                <a16:creationId xmlns:a16="http://schemas.microsoft.com/office/drawing/2014/main" id="{870DA7F5-384C-F326-14FC-294FC4E018A6}"/>
              </a:ext>
            </a:extLst>
          </p:cNvPr>
          <p:cNvPicPr>
            <a:picLocks noChangeAspect="1"/>
          </p:cNvPicPr>
          <p:nvPr/>
        </p:nvPicPr>
        <p:blipFill>
          <a:blip r:embed="rId3"/>
          <a:stretch>
            <a:fillRect/>
          </a:stretch>
        </p:blipFill>
        <p:spPr>
          <a:xfrm>
            <a:off x="6740081" y="599535"/>
            <a:ext cx="4827942" cy="5953741"/>
          </a:xfrm>
          <a:prstGeom prst="rect">
            <a:avLst/>
          </a:prstGeom>
        </p:spPr>
      </p:pic>
    </p:spTree>
    <p:extLst>
      <p:ext uri="{BB962C8B-B14F-4D97-AF65-F5344CB8AC3E}">
        <p14:creationId xmlns:p14="http://schemas.microsoft.com/office/powerpoint/2010/main" val="228248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139461" y="888520"/>
            <a:ext cx="3475008" cy="3786996"/>
          </a:xfrm>
        </p:spPr>
        <p:txBody>
          <a:bodyPr>
            <a:normAutofit/>
          </a:bodyPr>
          <a:lstStyle/>
          <a:p>
            <a:pPr marL="0" indent="0" algn="l">
              <a:buNone/>
            </a:pPr>
            <a:r>
              <a:rPr lang="en-US" sz="1800" b="0" i="0" u="none" strike="noStrike" baseline="0" dirty="0">
                <a:latin typeface="BookAntiqua"/>
              </a:rPr>
              <a:t>20. It's time to run the node (F7 or right-click and select </a:t>
            </a:r>
            <a:r>
              <a:rPr lang="en-US" sz="1800" b="1" i="0" u="none" strike="noStrike" baseline="0" dirty="0">
                <a:latin typeface="BookAntiqua"/>
              </a:rPr>
              <a:t>Execute</a:t>
            </a:r>
            <a:r>
              <a:rPr lang="en-US" sz="1800" b="0" i="0" u="none" strike="noStrike" baseline="0" dirty="0">
                <a:latin typeface="BookAntiqua"/>
              </a:rPr>
              <a:t>) and open the new file in Excel. You'll be pleased to see that the new file looks exactly how we wanted.</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292189" y="2676271"/>
            <a:ext cx="3169552" cy="3293209"/>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The Excel file is located right where you told it to be saved in the file configuration of the Excel Writer node.  Look there.  Double-click on the file and it will load in Excel.</a:t>
            </a:r>
          </a:p>
          <a:p>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I added a comment under the Sorter node while you weren’t looking </a:t>
            </a:r>
            <a:r>
              <a:rPr lang="en-US" sz="1600" b="1" dirty="0">
                <a:solidFill>
                  <a:schemeClr val="tx2">
                    <a:lumMod val="75000"/>
                    <a:lumOff val="25000"/>
                  </a:schemeClr>
                </a:solidFill>
                <a:latin typeface="Courier New" panose="02070309020205020404" pitchFamily="49" charset="0"/>
                <a:cs typeface="Courier New" panose="02070309020205020404" pitchFamily="49" charset="0"/>
                <a:sym typeface="Wingdings" panose="05000000000000000000" pitchFamily="2" charset="2"/>
              </a:rPr>
              <a:t></a:t>
            </a:r>
            <a:endParaRPr lang="en-US" sz="1600" b="1" dirty="0">
              <a:solidFill>
                <a:schemeClr val="tx2">
                  <a:lumMod val="75000"/>
                  <a:lumOff val="25000"/>
                </a:schemeClr>
              </a:solidFill>
              <a:latin typeface="Courier New" panose="02070309020205020404" pitchFamily="49" charset="0"/>
              <a:cs typeface="Courier New" panose="02070309020205020404" pitchFamily="49" charset="0"/>
            </a:endParaRPr>
          </a:p>
        </p:txBody>
      </p:sp>
      <p:pic>
        <p:nvPicPr>
          <p:cNvPr id="9" name="Picture 8">
            <a:extLst>
              <a:ext uri="{FF2B5EF4-FFF2-40B4-BE49-F238E27FC236}">
                <a16:creationId xmlns:a16="http://schemas.microsoft.com/office/drawing/2014/main" id="{E7462280-F2CF-7A1F-3CBF-B8AA7425BE90}"/>
              </a:ext>
            </a:extLst>
          </p:cNvPr>
          <p:cNvPicPr>
            <a:picLocks noChangeAspect="1"/>
          </p:cNvPicPr>
          <p:nvPr/>
        </p:nvPicPr>
        <p:blipFill>
          <a:blip r:embed="rId2"/>
          <a:stretch>
            <a:fillRect/>
          </a:stretch>
        </p:blipFill>
        <p:spPr>
          <a:xfrm>
            <a:off x="3614469" y="784235"/>
            <a:ext cx="8554644" cy="4582164"/>
          </a:xfrm>
          <a:prstGeom prst="rect">
            <a:avLst/>
          </a:prstGeom>
        </p:spPr>
      </p:pic>
    </p:spTree>
    <p:extLst>
      <p:ext uri="{BB962C8B-B14F-4D97-AF65-F5344CB8AC3E}">
        <p14:creationId xmlns:p14="http://schemas.microsoft.com/office/powerpoint/2010/main" val="3322677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139461" y="888520"/>
            <a:ext cx="6037052" cy="6055744"/>
          </a:xfrm>
        </p:spPr>
        <p:txBody>
          <a:bodyPr>
            <a:normAutofit/>
          </a:bodyPr>
          <a:lstStyle/>
          <a:p>
            <a:pPr marL="0" indent="0" algn="l">
              <a:buNone/>
            </a:pPr>
            <a:r>
              <a:rPr lang="en-US" sz="1800" b="0" i="0" u="none" strike="noStrike" baseline="0" dirty="0">
                <a:latin typeface="BookAntiqua"/>
              </a:rPr>
              <a:t>Congratulations on creating your first KNIME workflow! By combining three nodes and configuring them appropriately, you implemented a simple data transformation routine that you can now repeat in a matter of seconds, whenever it's needed. More importantly, we used this first tutorial to get acquainted with the fundamental operations you need to build any workflow, such as pulling the right nodes, configuring and executing them, and checking that all works as it should.</a:t>
            </a:r>
          </a:p>
          <a:p>
            <a:pPr marL="0" indent="0" algn="l">
              <a:buNone/>
            </a:pPr>
            <a:endParaRPr lang="en-US" sz="1800" dirty="0">
              <a:latin typeface="BookAntiqua"/>
            </a:endParaRPr>
          </a:p>
          <a:p>
            <a:pPr marL="0" indent="0" algn="l">
              <a:buNone/>
            </a:pPr>
            <a:r>
              <a:rPr lang="en-US" sz="1800" b="0" i="0" u="none" strike="noStrike" baseline="0" dirty="0">
                <a:latin typeface="BookAntiqua"/>
              </a:rPr>
              <a:t>We now have all we need to start building more complex data operations, discovering what other KNIME nodes can do, and this is exactly what we will do in the next few pages. Since we don't want to lose our precious Hello World workflow, it would be a good idea to save it: just press Ctrl + S on your keyboard or click on the disk icon at the top left of your screen. If you want to share your workflow with others, you first need to export it as a standalone file. To do so, right-click on the name of the workflow within the KNIME Explorer panel on the left and then select </a:t>
            </a:r>
            <a:r>
              <a:rPr lang="en-US" sz="1800" b="1" i="0" u="none" strike="noStrike" baseline="0" dirty="0">
                <a:latin typeface="BookAntiqua"/>
              </a:rPr>
              <a:t>Export KNIME Workflow...:</a:t>
            </a:r>
          </a:p>
          <a:p>
            <a:pPr marL="0" indent="0" algn="l">
              <a:buNone/>
            </a:pPr>
            <a:endParaRPr lang="en-US" sz="1800" dirty="0">
              <a:latin typeface="BookAntiqua"/>
            </a:endParaRPr>
          </a:p>
          <a:p>
            <a:pPr marL="0" indent="0" algn="l">
              <a:buNone/>
            </a:pP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139460" y="6027003"/>
            <a:ext cx="5795514" cy="830997"/>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To export, select the </a:t>
            </a:r>
            <a:r>
              <a:rPr lang="en-US" sz="1600" b="1" dirty="0" err="1">
                <a:solidFill>
                  <a:schemeClr val="tx2">
                    <a:lumMod val="75000"/>
                    <a:lumOff val="25000"/>
                  </a:schemeClr>
                </a:solidFill>
                <a:latin typeface="Courier New" panose="02070309020205020404" pitchFamily="49" charset="0"/>
                <a:cs typeface="Courier New" panose="02070309020205020404" pitchFamily="49" charset="0"/>
              </a:rPr>
              <a:t>ferris</a:t>
            </a:r>
            <a:r>
              <a:rPr lang="en-US" sz="1600" b="1" dirty="0">
                <a:solidFill>
                  <a:schemeClr val="tx2">
                    <a:lumMod val="75000"/>
                    <a:lumOff val="25000"/>
                  </a:schemeClr>
                </a:solidFill>
                <a:latin typeface="Courier New" panose="02070309020205020404" pitchFamily="49" charset="0"/>
                <a:cs typeface="Courier New" panose="02070309020205020404" pitchFamily="49" charset="0"/>
              </a:rPr>
              <a:t> wheel, and right-click on your Hello World workflow and select Export from the menu as shown.</a:t>
            </a:r>
          </a:p>
        </p:txBody>
      </p:sp>
      <p:pic>
        <p:nvPicPr>
          <p:cNvPr id="5" name="Picture 4">
            <a:extLst>
              <a:ext uri="{FF2B5EF4-FFF2-40B4-BE49-F238E27FC236}">
                <a16:creationId xmlns:a16="http://schemas.microsoft.com/office/drawing/2014/main" id="{EAD9FA4E-0DA9-5739-DB25-31CA2716D1B1}"/>
              </a:ext>
            </a:extLst>
          </p:cNvPr>
          <p:cNvPicPr>
            <a:picLocks noChangeAspect="1"/>
          </p:cNvPicPr>
          <p:nvPr/>
        </p:nvPicPr>
        <p:blipFill>
          <a:blip r:embed="rId2"/>
          <a:stretch>
            <a:fillRect/>
          </a:stretch>
        </p:blipFill>
        <p:spPr>
          <a:xfrm>
            <a:off x="6345600" y="798405"/>
            <a:ext cx="3272853" cy="1211381"/>
          </a:xfrm>
          <a:prstGeom prst="rect">
            <a:avLst/>
          </a:prstGeom>
        </p:spPr>
      </p:pic>
      <p:pic>
        <p:nvPicPr>
          <p:cNvPr id="8" name="Picture 7">
            <a:extLst>
              <a:ext uri="{FF2B5EF4-FFF2-40B4-BE49-F238E27FC236}">
                <a16:creationId xmlns:a16="http://schemas.microsoft.com/office/drawing/2014/main" id="{063C2C4A-2105-55B9-2201-175B66005C26}"/>
              </a:ext>
            </a:extLst>
          </p:cNvPr>
          <p:cNvPicPr>
            <a:picLocks noChangeAspect="1"/>
          </p:cNvPicPr>
          <p:nvPr/>
        </p:nvPicPr>
        <p:blipFill>
          <a:blip r:embed="rId3"/>
          <a:stretch>
            <a:fillRect/>
          </a:stretch>
        </p:blipFill>
        <p:spPr>
          <a:xfrm>
            <a:off x="6356710" y="2319301"/>
            <a:ext cx="5695829" cy="4133257"/>
          </a:xfrm>
          <a:prstGeom prst="rect">
            <a:avLst/>
          </a:prstGeom>
        </p:spPr>
      </p:pic>
    </p:spTree>
    <p:extLst>
      <p:ext uri="{BB962C8B-B14F-4D97-AF65-F5344CB8AC3E}">
        <p14:creationId xmlns:p14="http://schemas.microsoft.com/office/powerpoint/2010/main" val="700370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39460" y="0"/>
            <a:ext cx="11913079" cy="678671"/>
          </a:xfrm>
        </p:spPr>
        <p:txBody>
          <a:bodyPr>
            <a:normAutofit fontScale="90000"/>
          </a:bodyPr>
          <a:lstStyle/>
          <a:p>
            <a:r>
              <a:rPr lang="en-US" dirty="0"/>
              <a:t>M2: Practice Lab #1 (Hello World)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139460" y="678671"/>
            <a:ext cx="6037052" cy="6055744"/>
          </a:xfrm>
        </p:spPr>
        <p:txBody>
          <a:bodyPr>
            <a:normAutofit/>
          </a:bodyPr>
          <a:lstStyle/>
          <a:p>
            <a:pPr marL="0" indent="0" algn="l">
              <a:buNone/>
            </a:pPr>
            <a:r>
              <a:rPr lang="en-US" sz="1800" b="0" i="0" u="none" strike="noStrike" baseline="0" dirty="0">
                <a:latin typeface="BookAntiqua"/>
              </a:rPr>
              <a:t>In the window that appears, you will have to specify the location and name of the file with your workflow by clicking on the </a:t>
            </a:r>
            <a:r>
              <a:rPr lang="en-US" sz="1800" b="1" i="0" u="none" strike="noStrike" baseline="0" dirty="0">
                <a:latin typeface="BookAntiqua"/>
              </a:rPr>
              <a:t>Browse... </a:t>
            </a:r>
            <a:r>
              <a:rPr lang="en-US" sz="1800" b="0" i="0" u="none" strike="noStrike" baseline="0" dirty="0">
                <a:latin typeface="BookAntiqua"/>
              </a:rPr>
              <a:t>button. If you keep the </a:t>
            </a:r>
            <a:r>
              <a:rPr lang="en-US" sz="1800" b="1" i="0" u="none" strike="noStrike" baseline="0" dirty="0">
                <a:latin typeface="BookAntiqua"/>
              </a:rPr>
              <a:t>Reset Workflow(s) before export</a:t>
            </a:r>
            <a:r>
              <a:rPr lang="en-US" sz="1800" b="0" i="0" u="none" strike="noStrike" baseline="0" dirty="0">
                <a:latin typeface="BookAntiqua"/>
              </a:rPr>
              <a:t> option checked, KNIME will only export the definition of the workflow (the nodes' structure and their configuration) without any data in it. If you untick it, the data stored in every executed node will be exported as well (making your export much larger in size). You can now send the resulting file (with .KNWF as an extension) via email or save it in a safe place. Whoever receives it can import it back in their KNIME installation by clicking on </a:t>
            </a:r>
            <a:r>
              <a:rPr lang="en-US" sz="1800" b="1" i="0" u="none" strike="noStrike" baseline="0" dirty="0">
                <a:latin typeface="BookAntiqua"/>
              </a:rPr>
              <a:t>File | Import KNIME Workflow... </a:t>
            </a:r>
            <a:r>
              <a:rPr lang="en-US" sz="1800" b="0" i="0" u="none" strike="noStrike" baseline="0" dirty="0">
                <a:latin typeface="BookAntiqua"/>
              </a:rPr>
              <a:t>and selecting the location of the file to import and the destination of the workflow.</a:t>
            </a:r>
            <a:endParaRPr lang="en-US" sz="2000" dirty="0"/>
          </a:p>
        </p:txBody>
      </p:sp>
      <p:sp>
        <p:nvSpPr>
          <p:cNvPr id="6" name="TextBox 5">
            <a:extLst>
              <a:ext uri="{FF2B5EF4-FFF2-40B4-BE49-F238E27FC236}">
                <a16:creationId xmlns:a16="http://schemas.microsoft.com/office/drawing/2014/main" id="{75FBB42F-4F25-2BBA-BE1B-FAEB36CC704A}"/>
              </a:ext>
            </a:extLst>
          </p:cNvPr>
          <p:cNvSpPr txBox="1"/>
          <p:nvPr/>
        </p:nvSpPr>
        <p:spPr>
          <a:xfrm>
            <a:off x="524772" y="4056759"/>
            <a:ext cx="5571227" cy="2677656"/>
          </a:xfrm>
          <a:prstGeom prst="rect">
            <a:avLst/>
          </a:prstGeom>
          <a:noFill/>
        </p:spPr>
        <p:txBody>
          <a:bodyPr wrap="square" rtlCol="0">
            <a:spAutoFit/>
          </a:bodyPr>
          <a:lstStyle/>
          <a:p>
            <a:r>
              <a:rPr lang="en-US" sz="1400" b="1" dirty="0">
                <a:solidFill>
                  <a:schemeClr val="tx2">
                    <a:lumMod val="75000"/>
                    <a:lumOff val="25000"/>
                  </a:schemeClr>
                </a:solidFill>
                <a:latin typeface="Courier New" panose="02070309020205020404" pitchFamily="49" charset="0"/>
                <a:cs typeface="Courier New" panose="02070309020205020404" pitchFamily="49" charset="0"/>
              </a:rPr>
              <a:t>Be sure to take note of the Destination workflow file name (.</a:t>
            </a:r>
            <a:r>
              <a:rPr lang="en-US" sz="1400" b="1" dirty="0" err="1">
                <a:solidFill>
                  <a:schemeClr val="tx2">
                    <a:lumMod val="75000"/>
                    <a:lumOff val="25000"/>
                  </a:schemeClr>
                </a:solidFill>
                <a:latin typeface="Courier New" panose="02070309020205020404" pitchFamily="49" charset="0"/>
                <a:cs typeface="Courier New" panose="02070309020205020404" pitchFamily="49" charset="0"/>
              </a:rPr>
              <a:t>knwf</a:t>
            </a:r>
            <a:r>
              <a:rPr lang="en-US" sz="1400" b="1" dirty="0">
                <a:solidFill>
                  <a:schemeClr val="tx2">
                    <a:lumMod val="75000"/>
                    <a:lumOff val="25000"/>
                  </a:schemeClr>
                </a:solidFill>
                <a:latin typeface="Courier New" panose="02070309020205020404" pitchFamily="49" charset="0"/>
                <a:cs typeface="Courier New" panose="02070309020205020404" pitchFamily="49" charset="0"/>
              </a:rPr>
              <a:t>) that you select.  </a:t>
            </a:r>
            <a:br>
              <a:rPr lang="en-US" sz="1400" b="1" dirty="0">
                <a:solidFill>
                  <a:schemeClr val="tx2">
                    <a:lumMod val="75000"/>
                    <a:lumOff val="25000"/>
                  </a:schemeClr>
                </a:solidFill>
                <a:latin typeface="Courier New" panose="02070309020205020404" pitchFamily="49" charset="0"/>
                <a:cs typeface="Courier New" panose="02070309020205020404" pitchFamily="49" charset="0"/>
              </a:rPr>
            </a:br>
            <a:br>
              <a:rPr lang="en-US" sz="1400" b="1" dirty="0">
                <a:solidFill>
                  <a:schemeClr val="tx2">
                    <a:lumMod val="75000"/>
                    <a:lumOff val="25000"/>
                  </a:schemeClr>
                </a:solidFill>
                <a:latin typeface="Courier New" panose="02070309020205020404" pitchFamily="49" charset="0"/>
                <a:cs typeface="Courier New" panose="02070309020205020404" pitchFamily="49" charset="0"/>
              </a:rPr>
            </a:br>
            <a:r>
              <a:rPr lang="en-US" sz="1400" b="1" dirty="0">
                <a:solidFill>
                  <a:schemeClr val="tx2">
                    <a:lumMod val="75000"/>
                    <a:lumOff val="25000"/>
                  </a:schemeClr>
                </a:solidFill>
                <a:latin typeface="Courier New" panose="02070309020205020404" pitchFamily="49" charset="0"/>
                <a:cs typeface="Courier New" panose="02070309020205020404" pitchFamily="49" charset="0"/>
              </a:rPr>
              <a:t>This tells KNIME which folder to save your workflow file.  You’ll need to go there and get it later to upload to Canvas!</a:t>
            </a:r>
          </a:p>
          <a:p>
            <a:endParaRPr lang="en-US" sz="1400" b="1" dirty="0">
              <a:solidFill>
                <a:schemeClr val="tx2">
                  <a:lumMod val="75000"/>
                  <a:lumOff val="25000"/>
                </a:schemeClr>
              </a:solidFill>
              <a:latin typeface="Courier New" panose="02070309020205020404" pitchFamily="49" charset="0"/>
              <a:cs typeface="Courier New" panose="02070309020205020404" pitchFamily="49" charset="0"/>
            </a:endParaRPr>
          </a:p>
          <a:p>
            <a:r>
              <a:rPr lang="en-US" sz="1400" b="1" dirty="0">
                <a:solidFill>
                  <a:schemeClr val="tx2">
                    <a:lumMod val="75000"/>
                    <a:lumOff val="25000"/>
                  </a:schemeClr>
                </a:solidFill>
                <a:latin typeface="Courier New" panose="02070309020205020404" pitchFamily="49" charset="0"/>
                <a:cs typeface="Courier New" panose="02070309020205020404" pitchFamily="49" charset="0"/>
              </a:rPr>
              <a:t>Speaking of Canvas, you’ll need to upload both your .</a:t>
            </a:r>
            <a:r>
              <a:rPr lang="en-US" sz="1400" b="1" dirty="0" err="1">
                <a:solidFill>
                  <a:schemeClr val="tx2">
                    <a:lumMod val="75000"/>
                    <a:lumOff val="25000"/>
                  </a:schemeClr>
                </a:solidFill>
                <a:latin typeface="Courier New" panose="02070309020205020404" pitchFamily="49" charset="0"/>
                <a:cs typeface="Courier New" panose="02070309020205020404" pitchFamily="49" charset="0"/>
              </a:rPr>
              <a:t>knwf</a:t>
            </a:r>
            <a:r>
              <a:rPr lang="en-US" sz="1400" b="1" dirty="0">
                <a:solidFill>
                  <a:schemeClr val="tx2">
                    <a:lumMod val="75000"/>
                    <a:lumOff val="25000"/>
                  </a:schemeClr>
                </a:solidFill>
                <a:latin typeface="Courier New" panose="02070309020205020404" pitchFamily="49" charset="0"/>
                <a:cs typeface="Courier New" panose="02070309020205020404" pitchFamily="49" charset="0"/>
              </a:rPr>
              <a:t> file and the final “Sales by Country.xlsx” file that your workflow created.  Create a ZIP file with both of these files and upload the ZIP file to Canvas.</a:t>
            </a:r>
          </a:p>
        </p:txBody>
      </p:sp>
      <p:pic>
        <p:nvPicPr>
          <p:cNvPr id="5" name="Picture 4">
            <a:extLst>
              <a:ext uri="{FF2B5EF4-FFF2-40B4-BE49-F238E27FC236}">
                <a16:creationId xmlns:a16="http://schemas.microsoft.com/office/drawing/2014/main" id="{EAD9FA4E-0DA9-5739-DB25-31CA2716D1B1}"/>
              </a:ext>
            </a:extLst>
          </p:cNvPr>
          <p:cNvPicPr>
            <a:picLocks noChangeAspect="1"/>
          </p:cNvPicPr>
          <p:nvPr/>
        </p:nvPicPr>
        <p:blipFill>
          <a:blip r:embed="rId2"/>
          <a:stretch>
            <a:fillRect/>
          </a:stretch>
        </p:blipFill>
        <p:spPr>
          <a:xfrm>
            <a:off x="6345600" y="798405"/>
            <a:ext cx="3272853" cy="1211381"/>
          </a:xfrm>
          <a:prstGeom prst="rect">
            <a:avLst/>
          </a:prstGeom>
        </p:spPr>
      </p:pic>
      <p:pic>
        <p:nvPicPr>
          <p:cNvPr id="8" name="Picture 7">
            <a:extLst>
              <a:ext uri="{FF2B5EF4-FFF2-40B4-BE49-F238E27FC236}">
                <a16:creationId xmlns:a16="http://schemas.microsoft.com/office/drawing/2014/main" id="{063C2C4A-2105-55B9-2201-175B66005C26}"/>
              </a:ext>
            </a:extLst>
          </p:cNvPr>
          <p:cNvPicPr>
            <a:picLocks noChangeAspect="1"/>
          </p:cNvPicPr>
          <p:nvPr/>
        </p:nvPicPr>
        <p:blipFill>
          <a:blip r:embed="rId3"/>
          <a:stretch>
            <a:fillRect/>
          </a:stretch>
        </p:blipFill>
        <p:spPr>
          <a:xfrm>
            <a:off x="6356710" y="2319301"/>
            <a:ext cx="5695829" cy="4133257"/>
          </a:xfrm>
          <a:prstGeom prst="rect">
            <a:avLst/>
          </a:prstGeom>
        </p:spPr>
      </p:pic>
    </p:spTree>
    <p:extLst>
      <p:ext uri="{BB962C8B-B14F-4D97-AF65-F5344CB8AC3E}">
        <p14:creationId xmlns:p14="http://schemas.microsoft.com/office/powerpoint/2010/main" val="3533333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4410</Words>
  <Application>Microsoft Office PowerPoint</Application>
  <PresentationFormat>Widescreen</PresentationFormat>
  <Paragraphs>130</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vt:lpstr>
      <vt:lpstr>Aptos Display</vt:lpstr>
      <vt:lpstr>Arial</vt:lpstr>
      <vt:lpstr>Arial-BoldItalicMT</vt:lpstr>
      <vt:lpstr>BookAntiqua</vt:lpstr>
      <vt:lpstr>BookAntiqua-Bold</vt:lpstr>
      <vt:lpstr>BookAntiqua-Italic</vt:lpstr>
      <vt:lpstr>Consolas</vt:lpstr>
      <vt:lpstr>Courier New</vt:lpstr>
      <vt:lpstr>Office Theme</vt:lpstr>
      <vt:lpstr> CIS215      Foundations of Data Analytics and Programming  Instructor:  Chris Santo   Module #2 Practice Lab #1 Hello World Assignment Walkthrough</vt:lpstr>
      <vt:lpstr>M2: Practice Lab #1 (Hello World) Assignment in KNIME</vt:lpstr>
      <vt:lpstr>Hello World – An Overview of the ETL Process</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lpstr>M2: Practice Lab #1 (Hello World) Assignment in KNIME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World – An Overview of the ETL Process</dc:title>
  <dc:creator>Chris Santo</dc:creator>
  <cp:lastModifiedBy>Chris Santo</cp:lastModifiedBy>
  <cp:revision>4</cp:revision>
  <dcterms:created xsi:type="dcterms:W3CDTF">2024-01-22T01:15:35Z</dcterms:created>
  <dcterms:modified xsi:type="dcterms:W3CDTF">2024-01-22T03:10:14Z</dcterms:modified>
</cp:coreProperties>
</file>