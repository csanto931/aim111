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2" r:id="rId2"/>
    <p:sldId id="258" r:id="rId3"/>
    <p:sldId id="310" r:id="rId4"/>
    <p:sldId id="311" r:id="rId5"/>
    <p:sldId id="257" r:id="rId6"/>
    <p:sldId id="313"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28" r:id="rId22"/>
    <p:sldId id="329" r:id="rId23"/>
    <p:sldId id="330" r:id="rId24"/>
    <p:sldId id="331" r:id="rId25"/>
    <p:sldId id="332" r:id="rId26"/>
    <p:sldId id="333" r:id="rId27"/>
    <p:sldId id="334" r:id="rId28"/>
    <p:sldId id="335" r:id="rId29"/>
    <p:sldId id="336" r:id="rId30"/>
    <p:sldId id="337" r:id="rId31"/>
    <p:sldId id="338" r:id="rId32"/>
    <p:sldId id="339" r:id="rId33"/>
    <p:sldId id="340" r:id="rId34"/>
    <p:sldId id="341" r:id="rId35"/>
    <p:sldId id="34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9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DC9FD-E3B8-212A-BDB0-273D0356A4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24F6FD-64F1-634D-94BF-357DA27208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9A6D35-D60B-13B9-BB84-C262825D886B}"/>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5" name="Footer Placeholder 4">
            <a:extLst>
              <a:ext uri="{FF2B5EF4-FFF2-40B4-BE49-F238E27FC236}">
                <a16:creationId xmlns:a16="http://schemas.microsoft.com/office/drawing/2014/main" id="{EA954EE2-9952-A148-9E9E-AD0BA0323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3F291F-DB48-0F34-D84C-7AD4EBB3023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233369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2C735-779F-C757-F774-855FED5270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38C84-1DAF-F7E9-0A5A-294A5D6014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9E8461-36A7-1E94-F809-07AD0D84C704}"/>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5" name="Footer Placeholder 4">
            <a:extLst>
              <a:ext uri="{FF2B5EF4-FFF2-40B4-BE49-F238E27FC236}">
                <a16:creationId xmlns:a16="http://schemas.microsoft.com/office/drawing/2014/main" id="{278DE4FF-ACA8-8AA4-3E49-84B3F2C0C3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9AB5A-7DF1-F212-C1F2-43F1F7B2E11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104398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4341-D5C9-E033-66FB-77F08F15DA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D941C3-9570-0A85-FDBC-20D8BE22A6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2059B-D474-7B99-4D12-87AAFEB9DDD9}"/>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5" name="Footer Placeholder 4">
            <a:extLst>
              <a:ext uri="{FF2B5EF4-FFF2-40B4-BE49-F238E27FC236}">
                <a16:creationId xmlns:a16="http://schemas.microsoft.com/office/drawing/2014/main" id="{4E67481D-6C92-BF07-32EA-EB6806847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1AD186-8D2F-9115-8872-7850FED92CFC}"/>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89317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4C481-80A3-972A-500F-9453DD8337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56019-55AE-831D-2EE2-D5A8759230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35599D-C0D6-E642-67EF-31EC984CEA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025033-B440-E621-E395-EE82C52D11A6}"/>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6" name="Footer Placeholder 5">
            <a:extLst>
              <a:ext uri="{FF2B5EF4-FFF2-40B4-BE49-F238E27FC236}">
                <a16:creationId xmlns:a16="http://schemas.microsoft.com/office/drawing/2014/main" id="{B6CBC36A-2637-7090-257A-F3851CB06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71F7EF-9CA4-6038-7DEA-604810A8856C}"/>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885845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49E5-09FD-F56F-A4AA-2DED9B7FE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6239B2-139F-616E-E7D3-5F9D388E25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B7AF94-CA4F-DC99-2B34-D53BE4B46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0155B7-950F-67A9-DFA8-2BBBEB6EAE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F30D30-FDFE-5CD2-BFFB-709A807599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3615E9-2BEE-67D0-3425-5B8A12E92ADA}"/>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8" name="Footer Placeholder 7">
            <a:extLst>
              <a:ext uri="{FF2B5EF4-FFF2-40B4-BE49-F238E27FC236}">
                <a16:creationId xmlns:a16="http://schemas.microsoft.com/office/drawing/2014/main" id="{AE17D5A5-D2B3-8820-2E1C-8832789198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48A4E-F611-2729-904F-701D0F016E93}"/>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205621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FB271-BA21-C458-C84B-ABC51B6AA2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DAD841-18E9-A579-DBC9-88FDCEC24A5C}"/>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4" name="Footer Placeholder 3">
            <a:extLst>
              <a:ext uri="{FF2B5EF4-FFF2-40B4-BE49-F238E27FC236}">
                <a16:creationId xmlns:a16="http://schemas.microsoft.com/office/drawing/2014/main" id="{4C352AC2-D92A-6B51-C3A2-5148239BD9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AE40B-2BB8-D754-C22A-B276CD95F408}"/>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337750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70B851-C0CD-8081-7F05-8BBCD533E756}"/>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3" name="Footer Placeholder 2">
            <a:extLst>
              <a:ext uri="{FF2B5EF4-FFF2-40B4-BE49-F238E27FC236}">
                <a16:creationId xmlns:a16="http://schemas.microsoft.com/office/drawing/2014/main" id="{78FA55F1-D9E0-C598-B56C-AAAF3B39D4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425BD6-C706-FFEC-EDD3-1FC5E5DFC150}"/>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53304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A170-E7EF-C57B-50A9-66CF14AAE7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1571D2-A59D-EC89-E66D-9CA7D007FB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66F628-CA58-7290-3CEA-5AF3C1CAF1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656E4F-FAF1-1314-E813-8DD762AC5341}"/>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6" name="Footer Placeholder 5">
            <a:extLst>
              <a:ext uri="{FF2B5EF4-FFF2-40B4-BE49-F238E27FC236}">
                <a16:creationId xmlns:a16="http://schemas.microsoft.com/office/drawing/2014/main" id="{B4CBAC08-31B6-33AD-63B0-4D368EAF64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9413B7-DC01-1696-C6F9-C291973652C0}"/>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481382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0D6E3-3E56-627F-415E-B4509CAC4C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F568D5-CEDC-C147-DBAF-ADE9E137AF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6136B5-8221-5378-A21D-28C916058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B659EB-19C9-B77B-FC92-9DA20DF5C47C}"/>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6" name="Footer Placeholder 5">
            <a:extLst>
              <a:ext uri="{FF2B5EF4-FFF2-40B4-BE49-F238E27FC236}">
                <a16:creationId xmlns:a16="http://schemas.microsoft.com/office/drawing/2014/main" id="{F8870438-E152-2FE8-93F5-5DC3E56174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DEDAF4-AA61-A60C-DF2A-57FC28D38E14}"/>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74820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D34A-13DE-5EB1-B5CD-D9E45D5C64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FE28C1-A2B8-BB84-13A5-121BF7BFAB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AB042F-4C06-3D08-0DFE-792E151134E2}"/>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5" name="Footer Placeholder 4">
            <a:extLst>
              <a:ext uri="{FF2B5EF4-FFF2-40B4-BE49-F238E27FC236}">
                <a16:creationId xmlns:a16="http://schemas.microsoft.com/office/drawing/2014/main" id="{FC08FC7A-87D3-EFB7-EDDF-4420131A8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C2BE9-8577-17CE-675C-D35045D58387}"/>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116593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24A8DE-F49C-1A4E-FA36-C7D9DF1C1E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C56811-E407-77CD-52B0-4E0668B60E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CD37D6-4E4F-3E31-4311-084B118394C3}"/>
              </a:ext>
            </a:extLst>
          </p:cNvPr>
          <p:cNvSpPr>
            <a:spLocks noGrp="1"/>
          </p:cNvSpPr>
          <p:nvPr>
            <p:ph type="dt" sz="half" idx="10"/>
          </p:nvPr>
        </p:nvSpPr>
        <p:spPr/>
        <p:txBody>
          <a:bodyPr/>
          <a:lstStyle/>
          <a:p>
            <a:fld id="{C7DB579E-1A88-429C-AB76-003AB8900BC5}" type="datetimeFigureOut">
              <a:rPr lang="en-US" smtClean="0"/>
              <a:t>7/7/2024</a:t>
            </a:fld>
            <a:endParaRPr lang="en-US"/>
          </a:p>
        </p:txBody>
      </p:sp>
      <p:sp>
        <p:nvSpPr>
          <p:cNvPr id="5" name="Footer Placeholder 4">
            <a:extLst>
              <a:ext uri="{FF2B5EF4-FFF2-40B4-BE49-F238E27FC236}">
                <a16:creationId xmlns:a16="http://schemas.microsoft.com/office/drawing/2014/main" id="{29628165-A1F8-5BE3-330B-AFE474D69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4DA54-7235-E818-079B-DB443DD44FFD}"/>
              </a:ext>
            </a:extLst>
          </p:cNvPr>
          <p:cNvSpPr>
            <a:spLocks noGrp="1"/>
          </p:cNvSpPr>
          <p:nvPr>
            <p:ph type="sldNum" sz="quarter" idx="12"/>
          </p:nvPr>
        </p:nvSpPr>
        <p:spPr/>
        <p:txBody>
          <a:bodyPr/>
          <a:lstStyle/>
          <a:p>
            <a:fld id="{1D336F93-8E0C-4AEA-B888-672BED38A984}" type="slidenum">
              <a:rPr lang="en-US" smtClean="0"/>
              <a:t>‹#›</a:t>
            </a:fld>
            <a:endParaRPr lang="en-US"/>
          </a:p>
        </p:txBody>
      </p:sp>
    </p:spTree>
    <p:extLst>
      <p:ext uri="{BB962C8B-B14F-4D97-AF65-F5344CB8AC3E}">
        <p14:creationId xmlns:p14="http://schemas.microsoft.com/office/powerpoint/2010/main" val="3157123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0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F4E9FE9-6A07-4A56-9C75-EDF2AEA0D093}"/>
              </a:ext>
            </a:extLst>
          </p:cNvPr>
          <p:cNvSpPr>
            <a:spLocks noGrp="1"/>
          </p:cNvSpPr>
          <p:nvPr>
            <p:ph type="pic" sz="quarter" idx="20" hasCustomPrompt="1"/>
          </p:nvPr>
        </p:nvSpPr>
        <p:spPr>
          <a:xfrm>
            <a:off x="6096002" y="441325"/>
            <a:ext cx="6095999" cy="5062828"/>
          </a:xfrm>
          <a:custGeom>
            <a:avLst/>
            <a:gdLst>
              <a:gd name="connsiteX0" fmla="*/ 0 w 6095999"/>
              <a:gd name="connsiteY0" fmla="*/ 0 h 5062828"/>
              <a:gd name="connsiteX1" fmla="*/ 6095999 w 6095999"/>
              <a:gd name="connsiteY1" fmla="*/ 0 h 5062828"/>
              <a:gd name="connsiteX2" fmla="*/ 6095999 w 6095999"/>
              <a:gd name="connsiteY2" fmla="*/ 5062828 h 5062828"/>
              <a:gd name="connsiteX3" fmla="*/ 0 w 6095999"/>
              <a:gd name="connsiteY3" fmla="*/ 5062828 h 5062828"/>
            </a:gdLst>
            <a:ahLst/>
            <a:cxnLst>
              <a:cxn ang="0">
                <a:pos x="connsiteX0" y="connsiteY0"/>
              </a:cxn>
              <a:cxn ang="0">
                <a:pos x="connsiteX1" y="connsiteY1"/>
              </a:cxn>
              <a:cxn ang="0">
                <a:pos x="connsiteX2" y="connsiteY2"/>
              </a:cxn>
              <a:cxn ang="0">
                <a:pos x="connsiteX3" y="connsiteY3"/>
              </a:cxn>
            </a:cxnLst>
            <a:rect l="l" t="t" r="r" b="b"/>
            <a:pathLst>
              <a:path w="6095999" h="5062828">
                <a:moveTo>
                  <a:pt x="0" y="0"/>
                </a:moveTo>
                <a:lnTo>
                  <a:pt x="6095999" y="0"/>
                </a:lnTo>
                <a:lnTo>
                  <a:pt x="6095999" y="5062828"/>
                </a:lnTo>
                <a:lnTo>
                  <a:pt x="0" y="5062828"/>
                </a:lnTo>
                <a:close/>
              </a:path>
            </a:pathLst>
          </a:custGeom>
          <a:solidFill>
            <a:schemeClr val="tx2"/>
          </a:solidFill>
        </p:spPr>
        <p:txBody>
          <a:bodyPr wrap="square">
            <a:noAutofit/>
          </a:bodyPr>
          <a:lstStyle/>
          <a:p>
            <a:r>
              <a:rPr lang="en-US" dirty="0"/>
              <a:t>Photo Placeholders. Click icon to add picture</a:t>
            </a:r>
          </a:p>
        </p:txBody>
      </p:sp>
      <p:sp>
        <p:nvSpPr>
          <p:cNvPr id="7" name="Title 1">
            <a:extLst>
              <a:ext uri="{FF2B5EF4-FFF2-40B4-BE49-F238E27FC236}">
                <a16:creationId xmlns:a16="http://schemas.microsoft.com/office/drawing/2014/main" id="{C7FE5080-4CBF-4E22-BC00-52B66CC3E7C9}"/>
              </a:ext>
            </a:extLst>
          </p:cNvPr>
          <p:cNvSpPr>
            <a:spLocks noGrp="1"/>
          </p:cNvSpPr>
          <p:nvPr>
            <p:ph type="title"/>
          </p:nvPr>
        </p:nvSpPr>
        <p:spPr>
          <a:xfrm>
            <a:off x="673534" y="1274596"/>
            <a:ext cx="4745736" cy="2587752"/>
          </a:xfrm>
        </p:spPr>
        <p:txBody>
          <a:bodyPr anchor="t"/>
          <a:lstStyle>
            <a:lvl1pPr>
              <a:defRPr sz="5400" b="0" i="0">
                <a:solidFill>
                  <a:schemeClr val="accent5"/>
                </a:solidFill>
              </a:defRPr>
            </a:lvl1pPr>
          </a:lstStyle>
          <a:p>
            <a:r>
              <a:rPr lang="en-US" dirty="0"/>
              <a:t>Click to edit Master title style</a:t>
            </a:r>
            <a:endParaRPr lang="en-ID" dirty="0"/>
          </a:p>
        </p:txBody>
      </p:sp>
      <p:sp>
        <p:nvSpPr>
          <p:cNvPr id="8" name="Text Placeholder 9">
            <a:extLst>
              <a:ext uri="{FF2B5EF4-FFF2-40B4-BE49-F238E27FC236}">
                <a16:creationId xmlns:a16="http://schemas.microsoft.com/office/drawing/2014/main" id="{571609DA-66ED-4C86-872A-61E196B38594}"/>
              </a:ext>
            </a:extLst>
          </p:cNvPr>
          <p:cNvSpPr>
            <a:spLocks noGrp="1"/>
          </p:cNvSpPr>
          <p:nvPr>
            <p:ph type="body" sz="quarter" idx="19"/>
          </p:nvPr>
        </p:nvSpPr>
        <p:spPr>
          <a:xfrm>
            <a:off x="6437387" y="5818272"/>
            <a:ext cx="5413248" cy="274320"/>
          </a:xfrm>
        </p:spPr>
        <p:txBody>
          <a:bodyPr/>
          <a:lstStyle>
            <a:lvl1pPr algn="l">
              <a:defRPr sz="1200" b="0">
                <a:solidFill>
                  <a:schemeClr val="tx1"/>
                </a:solidFill>
                <a:latin typeface="+mj-lt"/>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9" name="Text Placeholder 9">
            <a:extLst>
              <a:ext uri="{FF2B5EF4-FFF2-40B4-BE49-F238E27FC236}">
                <a16:creationId xmlns:a16="http://schemas.microsoft.com/office/drawing/2014/main" id="{2FB15010-F25A-4BF8-B8E2-5AF627C382F4}"/>
              </a:ext>
            </a:extLst>
          </p:cNvPr>
          <p:cNvSpPr>
            <a:spLocks noGrp="1"/>
          </p:cNvSpPr>
          <p:nvPr>
            <p:ph type="body" sz="quarter" idx="21"/>
          </p:nvPr>
        </p:nvSpPr>
        <p:spPr>
          <a:xfrm>
            <a:off x="6437387" y="6116794"/>
            <a:ext cx="5413248" cy="429768"/>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
        <p:nvSpPr>
          <p:cNvPr id="12" name="Text Placeholder 9">
            <a:extLst>
              <a:ext uri="{FF2B5EF4-FFF2-40B4-BE49-F238E27FC236}">
                <a16:creationId xmlns:a16="http://schemas.microsoft.com/office/drawing/2014/main" id="{10E7DD5E-B87C-401E-A519-F54908646751}"/>
              </a:ext>
            </a:extLst>
          </p:cNvPr>
          <p:cNvSpPr>
            <a:spLocks noGrp="1"/>
          </p:cNvSpPr>
          <p:nvPr>
            <p:ph type="body" sz="quarter" idx="22"/>
          </p:nvPr>
        </p:nvSpPr>
        <p:spPr>
          <a:xfrm>
            <a:off x="2755466" y="4812879"/>
            <a:ext cx="2670048" cy="768096"/>
          </a:xfrm>
        </p:spPr>
        <p:txBody>
          <a:bodyPr/>
          <a:lstStyle>
            <a:lvl1pPr algn="l">
              <a:defRPr sz="1100" b="0">
                <a:solidFill>
                  <a:schemeClr val="tx1"/>
                </a:solidFill>
              </a:defRPr>
            </a:lvl1pPr>
            <a:lvl2pPr>
              <a:defRPr sz="1200">
                <a:solidFill>
                  <a:schemeClr val="accent5"/>
                </a:solidFill>
              </a:defRPr>
            </a:lvl2pPr>
            <a:lvl3pPr>
              <a:defRPr sz="1200">
                <a:solidFill>
                  <a:schemeClr val="accent5"/>
                </a:solidFill>
              </a:defRPr>
            </a:lvl3pPr>
            <a:lvl4pPr>
              <a:defRPr sz="1200">
                <a:solidFill>
                  <a:schemeClr val="accent5"/>
                </a:solidFill>
              </a:defRPr>
            </a:lvl4pPr>
            <a:lvl5pPr>
              <a:defRPr sz="1200">
                <a:solidFill>
                  <a:schemeClr val="accent5"/>
                </a:solidFill>
              </a:defRPr>
            </a:lvl5pPr>
          </a:lstStyle>
          <a:p>
            <a:pPr lvl="0"/>
            <a:r>
              <a:rPr lang="en-US" dirty="0"/>
              <a:t>Click to edit Master text styles</a:t>
            </a:r>
          </a:p>
        </p:txBody>
      </p:sp>
    </p:spTree>
    <p:extLst>
      <p:ext uri="{BB962C8B-B14F-4D97-AF65-F5344CB8AC3E}">
        <p14:creationId xmlns:p14="http://schemas.microsoft.com/office/powerpoint/2010/main" val="147916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85FE1F-0EB5-FB27-D8A2-B72BA27CB7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25D2FC-D485-963D-1C9F-F0148A862E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4B699-CD63-C147-6023-44E1629E7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DB579E-1A88-429C-AB76-003AB8900BC5}" type="datetimeFigureOut">
              <a:rPr lang="en-US" smtClean="0"/>
              <a:t>7/7/2024</a:t>
            </a:fld>
            <a:endParaRPr lang="en-US"/>
          </a:p>
        </p:txBody>
      </p:sp>
      <p:sp>
        <p:nvSpPr>
          <p:cNvPr id="5" name="Footer Placeholder 4">
            <a:extLst>
              <a:ext uri="{FF2B5EF4-FFF2-40B4-BE49-F238E27FC236}">
                <a16:creationId xmlns:a16="http://schemas.microsoft.com/office/drawing/2014/main" id="{85FE528B-810B-0C3B-AC81-229D514CE3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9FC8D6-DE69-E919-8AE5-7C3B316846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336F93-8E0C-4AEA-B888-672BED38A984}" type="slidenum">
              <a:rPr lang="en-US" smtClean="0"/>
              <a:t>‹#›</a:t>
            </a:fld>
            <a:endParaRPr lang="en-US"/>
          </a:p>
        </p:txBody>
      </p:sp>
    </p:spTree>
    <p:extLst>
      <p:ext uri="{BB962C8B-B14F-4D97-AF65-F5344CB8AC3E}">
        <p14:creationId xmlns:p14="http://schemas.microsoft.com/office/powerpoint/2010/main" val="3260927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86B6488-1CC9-7F40-82C6-F909C530C29A}"/>
              </a:ext>
            </a:extLst>
          </p:cNvPr>
          <p:cNvGrpSpPr/>
          <p:nvPr/>
        </p:nvGrpSpPr>
        <p:grpSpPr>
          <a:xfrm>
            <a:off x="0" y="6010507"/>
            <a:ext cx="12192000" cy="847493"/>
            <a:chOff x="-1" y="0"/>
            <a:chExt cx="12192000" cy="847493"/>
          </a:xfrm>
        </p:grpSpPr>
        <p:sp>
          <p:nvSpPr>
            <p:cNvPr id="39" name="Rectangle 38">
              <a:extLst>
                <a:ext uri="{FF2B5EF4-FFF2-40B4-BE49-F238E27FC236}">
                  <a16:creationId xmlns:a16="http://schemas.microsoft.com/office/drawing/2014/main" id="{F5FFB2B3-4333-BA42-AEBD-E7148E7E68DA}"/>
                </a:ext>
              </a:extLst>
            </p:cNvPr>
            <p:cNvSpPr/>
            <p:nvPr/>
          </p:nvSpPr>
          <p:spPr>
            <a:xfrm>
              <a:off x="-1" y="0"/>
              <a:ext cx="12192000" cy="847493"/>
            </a:xfrm>
            <a:prstGeom prst="rect">
              <a:avLst/>
            </a:prstGeom>
            <a:solidFill>
              <a:srgbClr val="004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37" name="Picture 4" descr="DO-white_H.eps">
              <a:extLst>
                <a:ext uri="{FF2B5EF4-FFF2-40B4-BE49-F238E27FC236}">
                  <a16:creationId xmlns:a16="http://schemas.microsoft.com/office/drawing/2014/main" id="{CD194316-BFB1-3B44-8C9C-C22D48FD7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3374" y="232193"/>
              <a:ext cx="21240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5">
              <a:extLst>
                <a:ext uri="{FF2B5EF4-FFF2-40B4-BE49-F238E27FC236}">
                  <a16:creationId xmlns:a16="http://schemas.microsoft.com/office/drawing/2014/main" id="{2E6F5819-6105-2748-BD8B-F8502F108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007" y="201824"/>
              <a:ext cx="2577215" cy="498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Title 9">
            <a:extLst>
              <a:ext uri="{FF2B5EF4-FFF2-40B4-BE49-F238E27FC236}">
                <a16:creationId xmlns:a16="http://schemas.microsoft.com/office/drawing/2014/main" id="{208786AD-4912-4815-ADE4-F0D99F14C52E}"/>
              </a:ext>
            </a:extLst>
          </p:cNvPr>
          <p:cNvSpPr>
            <a:spLocks noGrp="1"/>
          </p:cNvSpPr>
          <p:nvPr>
            <p:ph type="title"/>
          </p:nvPr>
        </p:nvSpPr>
        <p:spPr>
          <a:xfrm>
            <a:off x="159391" y="427106"/>
            <a:ext cx="3092767" cy="5448513"/>
          </a:xfrm>
        </p:spPr>
        <p:txBody>
          <a:bodyPr>
            <a:normAutofit fontScale="90000"/>
          </a:bodyPr>
          <a:lstStyle/>
          <a:p>
            <a:br>
              <a:rPr lang="en-US" dirty="0">
                <a:solidFill>
                  <a:srgbClr val="004C97"/>
                </a:solidFill>
              </a:rPr>
            </a:br>
            <a:r>
              <a:rPr lang="en-US" sz="5300" dirty="0">
                <a:solidFill>
                  <a:srgbClr val="004C97"/>
                </a:solidFill>
              </a:rPr>
              <a:t>Intro to</a:t>
            </a:r>
            <a:br>
              <a:rPr lang="en-US" sz="5300" dirty="0">
                <a:solidFill>
                  <a:srgbClr val="004C97"/>
                </a:solidFill>
              </a:rPr>
            </a:br>
            <a:r>
              <a:rPr lang="en-US" sz="5300" dirty="0">
                <a:solidFill>
                  <a:srgbClr val="004C97"/>
                </a:solidFill>
              </a:rPr>
              <a:t>Data Analytics </a:t>
            </a:r>
            <a:br>
              <a:rPr lang="en-US" sz="1800" dirty="0">
                <a:solidFill>
                  <a:srgbClr val="004C97"/>
                </a:solidFill>
              </a:rPr>
            </a:br>
            <a:br>
              <a:rPr lang="en-US" sz="1800" dirty="0">
                <a:solidFill>
                  <a:srgbClr val="004C97"/>
                </a:solidFill>
              </a:rPr>
            </a:br>
            <a:br>
              <a:rPr lang="en-US" sz="1800" dirty="0">
                <a:solidFill>
                  <a:srgbClr val="004C97"/>
                </a:solidFill>
              </a:rPr>
            </a:br>
            <a:br>
              <a:rPr lang="en-US" sz="1800" dirty="0">
                <a:solidFill>
                  <a:srgbClr val="004C97"/>
                </a:solidFill>
              </a:rPr>
            </a:br>
            <a:br>
              <a:rPr lang="en-US" sz="1800" dirty="0">
                <a:solidFill>
                  <a:srgbClr val="004C97"/>
                </a:solidFill>
              </a:rPr>
            </a:br>
            <a:r>
              <a:rPr lang="en-US" sz="1800" dirty="0">
                <a:solidFill>
                  <a:srgbClr val="004C97"/>
                </a:solidFill>
              </a:rPr>
              <a:t>Working Connections 2024</a:t>
            </a:r>
            <a:br>
              <a:rPr lang="en-US" sz="1800" dirty="0">
                <a:solidFill>
                  <a:srgbClr val="004C97"/>
                </a:solidFill>
              </a:rPr>
            </a:br>
            <a:br>
              <a:rPr lang="en-US" sz="1800" dirty="0">
                <a:solidFill>
                  <a:srgbClr val="004C97"/>
                </a:solidFill>
              </a:rPr>
            </a:br>
            <a:r>
              <a:rPr lang="en-US" sz="1800" dirty="0">
                <a:solidFill>
                  <a:srgbClr val="004C97"/>
                </a:solidFill>
              </a:rPr>
              <a:t>Instructor:  Chris Santo</a:t>
            </a:r>
            <a:br>
              <a:rPr lang="en-US" sz="1800" dirty="0">
                <a:solidFill>
                  <a:srgbClr val="004C97"/>
                </a:solidFill>
              </a:rPr>
            </a:br>
            <a:br>
              <a:rPr lang="en-US" sz="1800" dirty="0">
                <a:solidFill>
                  <a:srgbClr val="004C97"/>
                </a:solidFill>
              </a:rPr>
            </a:br>
            <a:br>
              <a:rPr lang="en-US" sz="1800" dirty="0">
                <a:solidFill>
                  <a:srgbClr val="004C97"/>
                </a:solidFill>
              </a:rPr>
            </a:br>
            <a:r>
              <a:rPr lang="en-US" sz="1800" dirty="0">
                <a:solidFill>
                  <a:srgbClr val="004C97"/>
                </a:solidFill>
              </a:rPr>
              <a:t>Lab #2</a:t>
            </a:r>
            <a:br>
              <a:rPr lang="en-US" sz="1800" dirty="0">
                <a:solidFill>
                  <a:srgbClr val="004C97"/>
                </a:solidFill>
              </a:rPr>
            </a:br>
            <a:br>
              <a:rPr lang="en-US" sz="1800" dirty="0">
                <a:solidFill>
                  <a:srgbClr val="004C97"/>
                </a:solidFill>
              </a:rPr>
            </a:br>
            <a:r>
              <a:rPr lang="en-US" sz="1800" dirty="0">
                <a:solidFill>
                  <a:srgbClr val="004C97"/>
                </a:solidFill>
              </a:rPr>
              <a:t>Cleaning Data Walkthrough</a:t>
            </a:r>
            <a:endParaRPr lang="en-US" sz="5400" dirty="0">
              <a:solidFill>
                <a:srgbClr val="004C97"/>
              </a:solidFill>
              <a:latin typeface="+mj-lt"/>
            </a:endParaRPr>
          </a:p>
        </p:txBody>
      </p:sp>
      <p:pic>
        <p:nvPicPr>
          <p:cNvPr id="2" name="Picture 2" descr="Hello World | Microsoft Learn">
            <a:extLst>
              <a:ext uri="{FF2B5EF4-FFF2-40B4-BE49-F238E27FC236}">
                <a16:creationId xmlns:a16="http://schemas.microsoft.com/office/drawing/2014/main" id="{BE440890-7D10-CDA1-67CD-AC9C537DA1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6595" y="753918"/>
            <a:ext cx="8236445" cy="4612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8574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Lab #2 (Cleaning Data)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Autofit/>
          </a:bodyPr>
          <a:lstStyle/>
          <a:p>
            <a:pPr marL="0" indent="0" algn="l">
              <a:buNone/>
            </a:pPr>
            <a:r>
              <a:rPr lang="en-US" sz="2200" b="0" i="0" u="none" strike="noStrike" baseline="0" dirty="0">
                <a:latin typeface="BookAntiqua"/>
              </a:rPr>
              <a:t>Often, when we deal with real-world data analytics, we face a reality that is as annoying as ubiquitous: data can be dirty. The format of text and numbers, the order of rows and columns, the presence of undesired data points, and the lack of some expected values are all possible glitches that can slow down or even jeopardize the process of creating some value from data. Indeed, the lower the quality of the input data, the less useful the resulting output will be. This inconvenient truth is often summarized with the acronym GIGO: Garbage In, Garbage Out. As a consequence, one of the preliminary phases of a data analytics workflow is Data Cleaning, meaning the process of systematically identifying and correcting inaccurate or corrupt data points. Let's learn how to build a full set of data cleaning steps in KNIME through a realistic example. </a:t>
            </a:r>
          </a:p>
          <a:p>
            <a:pPr marL="0" indent="0" algn="l">
              <a:buNone/>
            </a:pPr>
            <a:endParaRPr lang="en-US" sz="2200" dirty="0">
              <a:latin typeface="BookAntiqua"/>
            </a:endParaRPr>
          </a:p>
          <a:p>
            <a:pPr marL="0" indent="0" algn="l">
              <a:buNone/>
            </a:pPr>
            <a:r>
              <a:rPr lang="en-US" sz="2200" b="0" i="0" u="none" strike="noStrike" baseline="0" dirty="0">
                <a:latin typeface="BookAntiqua"/>
              </a:rPr>
              <a:t>In this tutorial, we are going to clean a table that captures information on the users of an e-commerce website, such as name, age, email address, available credit, and so on. This table has been generated by pulling directly from the webserver all the available raw data. Our ultimate objective is to create a clean list of contactable users, which we can leverage as a mailing list for sending email newsletters. Since the list of users constantly changes (as some subscribe and unregister themselves every day), we want to build a KNIME workflow that systematically cleans the latest data for us every time we want to update our mailing list:</a:t>
            </a:r>
            <a:endParaRPr lang="en-US" sz="2200" dirty="0"/>
          </a:p>
        </p:txBody>
      </p:sp>
    </p:spTree>
    <p:extLst>
      <p:ext uri="{BB962C8B-B14F-4D97-AF65-F5344CB8AC3E}">
        <p14:creationId xmlns:p14="http://schemas.microsoft.com/office/powerpoint/2010/main" val="2019618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Lab #2 (Cleaning Data)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Autofit/>
          </a:bodyPr>
          <a:lstStyle/>
          <a:p>
            <a:pPr marL="0" indent="0" algn="l">
              <a:buNone/>
            </a:pPr>
            <a:r>
              <a:rPr lang="en-US" sz="2200" b="0" i="0" u="none" strike="noStrike" baseline="0" dirty="0">
                <a:latin typeface="BookAntiqua"/>
              </a:rPr>
              <a:t>In this tutorial, we are going to clean a table that captures information on the users of an e-commerce website, such as name, age, email address, available credit, and so on. This table has been generated by pulling directly from the webserver all the available raw data. Our ultimate objective is to create a clean list of contactable users, which we can leverage as a mailing list for sending email newsletters. Since the list of users constantly changes (as some subscribe and unregister themselves every day), we want to build a KNIME workflow that systematically cleans the latest data for us every time we want to update our mailing list:</a:t>
            </a:r>
            <a:endParaRPr lang="en-US" sz="2200" dirty="0"/>
          </a:p>
        </p:txBody>
      </p:sp>
      <p:pic>
        <p:nvPicPr>
          <p:cNvPr id="5" name="Picture 4">
            <a:extLst>
              <a:ext uri="{FF2B5EF4-FFF2-40B4-BE49-F238E27FC236}">
                <a16:creationId xmlns:a16="http://schemas.microsoft.com/office/drawing/2014/main" id="{FACC191A-269F-8187-F3FC-19E2E815B325}"/>
              </a:ext>
            </a:extLst>
          </p:cNvPr>
          <p:cNvPicPr>
            <a:picLocks noChangeAspect="1"/>
          </p:cNvPicPr>
          <p:nvPr/>
        </p:nvPicPr>
        <p:blipFill>
          <a:blip r:embed="rId2"/>
          <a:stretch>
            <a:fillRect/>
          </a:stretch>
        </p:blipFill>
        <p:spPr>
          <a:xfrm>
            <a:off x="4596209" y="3009363"/>
            <a:ext cx="7259063" cy="3848637"/>
          </a:xfrm>
          <a:prstGeom prst="rect">
            <a:avLst/>
          </a:prstGeom>
        </p:spPr>
      </p:pic>
    </p:spTree>
    <p:extLst>
      <p:ext uri="{BB962C8B-B14F-4D97-AF65-F5344CB8AC3E}">
        <p14:creationId xmlns:p14="http://schemas.microsoft.com/office/powerpoint/2010/main" val="375690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Lab #2 (Cleaning Data) Assignment in KNIME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7427163" cy="5814204"/>
          </a:xfrm>
        </p:spPr>
        <p:txBody>
          <a:bodyPr>
            <a:noAutofit/>
          </a:bodyPr>
          <a:lstStyle/>
          <a:p>
            <a:pPr marL="0" indent="0" algn="l">
              <a:buNone/>
            </a:pPr>
            <a:r>
              <a:rPr lang="en-US" sz="2000" b="0" i="0" u="none" strike="noStrike" baseline="0" dirty="0">
                <a:latin typeface="BookAntiqua"/>
              </a:rPr>
              <a:t>As you can see from the screenshot, a first look at the raw table (the data in </a:t>
            </a:r>
            <a:r>
              <a:rPr lang="en-US" sz="2000" b="0" i="1" u="none" strike="noStrike" baseline="0" dirty="0">
                <a:latin typeface="BookAntiqua"/>
              </a:rPr>
              <a:t>DirtyData.xlsx</a:t>
            </a:r>
            <a:r>
              <a:rPr lang="en-US" sz="2000" b="0" u="none" strike="noStrike" baseline="0" dirty="0">
                <a:latin typeface="BookAntiqua"/>
              </a:rPr>
              <a:t>)</a:t>
            </a:r>
            <a:r>
              <a:rPr lang="en-US" sz="2000" b="0" i="0" u="none" strike="noStrike" baseline="0" dirty="0">
                <a:latin typeface="BookAntiqua"/>
              </a:rPr>
              <a:t> unveils a series of data quality flaws to be looked after.</a:t>
            </a:r>
          </a:p>
          <a:p>
            <a:pPr marL="0" indent="0" algn="l">
              <a:buNone/>
            </a:pPr>
            <a:r>
              <a:rPr lang="en-US" sz="2000" dirty="0"/>
              <a:t>A. Some rows appear to be duplicated.</a:t>
            </a:r>
          </a:p>
          <a:p>
            <a:pPr marL="0" indent="0" algn="l">
              <a:buNone/>
            </a:pPr>
            <a:r>
              <a:rPr lang="en-US" sz="2000" dirty="0"/>
              <a:t>B. Names and surnames have inconsistent capitalization and some unpleasant blank characters. Additionally, instead of having two separate fields for the name, we would prefer to have a single column (currently missing) with the full name of each person.</a:t>
            </a:r>
          </a:p>
          <a:p>
            <a:pPr marL="0" indent="0" algn="l">
              <a:buNone/>
            </a:pPr>
            <a:r>
              <a:rPr lang="en-US" sz="2000" dirty="0"/>
              <a:t>C. Some email addresses are wrongly formatted (as they miss the @ symbol or the full domain), making the respective users not contactable.</a:t>
            </a:r>
          </a:p>
          <a:p>
            <a:pPr marL="0" indent="0" algn="l">
              <a:buNone/>
            </a:pPr>
            <a:r>
              <a:rPr lang="en-US" sz="2000" dirty="0"/>
              <a:t>D. Various values are missing, leaving the cell empty.</a:t>
            </a:r>
          </a:p>
          <a:p>
            <a:pPr marL="0" indent="0" algn="l">
              <a:buNone/>
            </a:pPr>
            <a:r>
              <a:rPr lang="en-US" sz="2000" dirty="0"/>
              <a:t>E. Some credit values are negative. We know that according to company policy these users should be considered inactive and shall not be contacted, so we can remove them from the list.</a:t>
            </a:r>
          </a:p>
          <a:p>
            <a:pPr marL="0" indent="0" algn="l">
              <a:buNone/>
            </a:pPr>
            <a:r>
              <a:rPr lang="en-US" sz="2000" dirty="0"/>
              <a:t>F. Some columns are not needed. In this case, we can drop the column holding the IP address of the user since it cannot be used for sending a newsletter or to personalize its content.</a:t>
            </a:r>
          </a:p>
        </p:txBody>
      </p:sp>
      <p:pic>
        <p:nvPicPr>
          <p:cNvPr id="5" name="Picture 4">
            <a:extLst>
              <a:ext uri="{FF2B5EF4-FFF2-40B4-BE49-F238E27FC236}">
                <a16:creationId xmlns:a16="http://schemas.microsoft.com/office/drawing/2014/main" id="{FACC191A-269F-8187-F3FC-19E2E815B325}"/>
              </a:ext>
            </a:extLst>
          </p:cNvPr>
          <p:cNvPicPr>
            <a:picLocks noChangeAspect="1"/>
          </p:cNvPicPr>
          <p:nvPr/>
        </p:nvPicPr>
        <p:blipFill>
          <a:blip r:embed="rId2"/>
          <a:stretch>
            <a:fillRect/>
          </a:stretch>
        </p:blipFill>
        <p:spPr>
          <a:xfrm>
            <a:off x="7509933" y="1043797"/>
            <a:ext cx="4696443" cy="2489978"/>
          </a:xfrm>
          <a:prstGeom prst="rect">
            <a:avLst/>
          </a:prstGeom>
        </p:spPr>
      </p:pic>
      <p:pic>
        <p:nvPicPr>
          <p:cNvPr id="6" name="Picture 5">
            <a:extLst>
              <a:ext uri="{FF2B5EF4-FFF2-40B4-BE49-F238E27FC236}">
                <a16:creationId xmlns:a16="http://schemas.microsoft.com/office/drawing/2014/main" id="{F2B4BE6A-57FA-ECC9-95B3-BC0C5698428A}"/>
              </a:ext>
            </a:extLst>
          </p:cNvPr>
          <p:cNvPicPr>
            <a:picLocks noChangeAspect="1"/>
          </p:cNvPicPr>
          <p:nvPr/>
        </p:nvPicPr>
        <p:blipFill>
          <a:blip r:embed="rId3"/>
          <a:stretch>
            <a:fillRect/>
          </a:stretch>
        </p:blipFill>
        <p:spPr>
          <a:xfrm>
            <a:off x="7495557" y="3867077"/>
            <a:ext cx="4696443" cy="829227"/>
          </a:xfrm>
          <a:prstGeom prst="rect">
            <a:avLst/>
          </a:prstGeom>
        </p:spPr>
      </p:pic>
    </p:spTree>
    <p:extLst>
      <p:ext uri="{BB962C8B-B14F-4D97-AF65-F5344CB8AC3E}">
        <p14:creationId xmlns:p14="http://schemas.microsoft.com/office/powerpoint/2010/main" val="1368428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5BD8-867F-DD6F-933D-4A682189DE33}"/>
              </a:ext>
            </a:extLst>
          </p:cNvPr>
          <p:cNvSpPr>
            <a:spLocks noGrp="1"/>
          </p:cNvSpPr>
          <p:nvPr>
            <p:ph type="title"/>
          </p:nvPr>
        </p:nvSpPr>
        <p:spPr>
          <a:xfrm>
            <a:off x="810491" y="346653"/>
            <a:ext cx="10515600" cy="646332"/>
          </a:xfrm>
        </p:spPr>
        <p:txBody>
          <a:bodyPr>
            <a:normAutofit fontScale="90000"/>
          </a:bodyPr>
          <a:lstStyle/>
          <a:p>
            <a:pPr algn="ctr"/>
            <a:r>
              <a:rPr lang="en-US" dirty="0"/>
              <a:t>Cleaning Data – An Overview of the ETL Process</a:t>
            </a:r>
          </a:p>
        </p:txBody>
      </p:sp>
      <p:pic>
        <p:nvPicPr>
          <p:cNvPr id="9" name="Picture 8">
            <a:extLst>
              <a:ext uri="{FF2B5EF4-FFF2-40B4-BE49-F238E27FC236}">
                <a16:creationId xmlns:a16="http://schemas.microsoft.com/office/drawing/2014/main" id="{4F7A03D3-D311-021F-9E35-AFFCAFD95C25}"/>
              </a:ext>
            </a:extLst>
          </p:cNvPr>
          <p:cNvPicPr>
            <a:picLocks noChangeAspect="1"/>
          </p:cNvPicPr>
          <p:nvPr/>
        </p:nvPicPr>
        <p:blipFill>
          <a:blip r:embed="rId2"/>
          <a:stretch>
            <a:fillRect/>
          </a:stretch>
        </p:blipFill>
        <p:spPr>
          <a:xfrm>
            <a:off x="6197890" y="3218547"/>
            <a:ext cx="1536183" cy="1366052"/>
          </a:xfrm>
          <a:prstGeom prst="rect">
            <a:avLst/>
          </a:prstGeom>
        </p:spPr>
      </p:pic>
      <p:sp>
        <p:nvSpPr>
          <p:cNvPr id="12" name="TextBox 11">
            <a:extLst>
              <a:ext uri="{FF2B5EF4-FFF2-40B4-BE49-F238E27FC236}">
                <a16:creationId xmlns:a16="http://schemas.microsoft.com/office/drawing/2014/main" id="{E90FE2AF-AD92-8FAC-D366-A6073294841E}"/>
              </a:ext>
            </a:extLst>
          </p:cNvPr>
          <p:cNvSpPr txBox="1"/>
          <p:nvPr/>
        </p:nvSpPr>
        <p:spPr>
          <a:xfrm>
            <a:off x="141685" y="1459434"/>
            <a:ext cx="4350327" cy="646331"/>
          </a:xfrm>
          <a:prstGeom prst="rect">
            <a:avLst/>
          </a:prstGeom>
          <a:noFill/>
        </p:spPr>
        <p:txBody>
          <a:bodyPr wrap="square" rtlCol="0">
            <a:spAutoFit/>
          </a:bodyPr>
          <a:lstStyle/>
          <a:p>
            <a:r>
              <a:rPr lang="en-US" b="1" dirty="0">
                <a:solidFill>
                  <a:schemeClr val="tx2">
                    <a:lumMod val="75000"/>
                    <a:lumOff val="25000"/>
                  </a:schemeClr>
                </a:solidFill>
                <a:latin typeface="Courier New" panose="02070309020205020404" pitchFamily="49" charset="0"/>
                <a:cs typeface="Courier New" panose="02070309020205020404" pitchFamily="49" charset="0"/>
              </a:rPr>
              <a:t>Excel File:</a:t>
            </a:r>
            <a:br>
              <a:rPr lang="en-US" b="1" dirty="0">
                <a:solidFill>
                  <a:schemeClr val="tx2">
                    <a:lumMod val="75000"/>
                    <a:lumOff val="25000"/>
                  </a:schemeClr>
                </a:solidFill>
                <a:latin typeface="Courier New" panose="02070309020205020404" pitchFamily="49" charset="0"/>
                <a:cs typeface="Courier New" panose="02070309020205020404" pitchFamily="49" charset="0"/>
              </a:rPr>
            </a:br>
            <a:r>
              <a:rPr lang="en-US" b="1" dirty="0">
                <a:solidFill>
                  <a:schemeClr val="tx2">
                    <a:lumMod val="75000"/>
                    <a:lumOff val="25000"/>
                  </a:schemeClr>
                </a:solidFill>
                <a:latin typeface="Courier New" panose="02070309020205020404" pitchFamily="49" charset="0"/>
                <a:cs typeface="Courier New" panose="02070309020205020404" pitchFamily="49" charset="0"/>
              </a:rPr>
              <a:t>DirtyData.xlsx</a:t>
            </a:r>
          </a:p>
        </p:txBody>
      </p:sp>
      <p:sp>
        <p:nvSpPr>
          <p:cNvPr id="15" name="TextBox 14">
            <a:extLst>
              <a:ext uri="{FF2B5EF4-FFF2-40B4-BE49-F238E27FC236}">
                <a16:creationId xmlns:a16="http://schemas.microsoft.com/office/drawing/2014/main" id="{7C17D09F-59AA-570C-E880-F5A92A08D2E8}"/>
              </a:ext>
            </a:extLst>
          </p:cNvPr>
          <p:cNvSpPr txBox="1"/>
          <p:nvPr/>
        </p:nvSpPr>
        <p:spPr>
          <a:xfrm>
            <a:off x="8920500" y="2003915"/>
            <a:ext cx="4350327" cy="646331"/>
          </a:xfrm>
          <a:prstGeom prst="rect">
            <a:avLst/>
          </a:prstGeom>
          <a:noFill/>
        </p:spPr>
        <p:txBody>
          <a:bodyPr wrap="square" rtlCol="0">
            <a:spAutoFit/>
          </a:bodyPr>
          <a:lstStyle/>
          <a:p>
            <a:r>
              <a:rPr lang="en-US" b="1" dirty="0">
                <a:solidFill>
                  <a:schemeClr val="tx2">
                    <a:lumMod val="75000"/>
                    <a:lumOff val="25000"/>
                  </a:schemeClr>
                </a:solidFill>
                <a:latin typeface="Courier New" panose="02070309020205020404" pitchFamily="49" charset="0"/>
                <a:cs typeface="Courier New" panose="02070309020205020404" pitchFamily="49" charset="0"/>
              </a:rPr>
              <a:t>CSV File:</a:t>
            </a:r>
            <a:br>
              <a:rPr lang="en-US" b="1" dirty="0">
                <a:solidFill>
                  <a:schemeClr val="tx2">
                    <a:lumMod val="75000"/>
                    <a:lumOff val="25000"/>
                  </a:schemeClr>
                </a:solidFill>
                <a:latin typeface="Courier New" panose="02070309020205020404" pitchFamily="49" charset="0"/>
                <a:cs typeface="Courier New" panose="02070309020205020404" pitchFamily="49" charset="0"/>
              </a:rPr>
            </a:br>
            <a:r>
              <a:rPr lang="en-US" b="1" dirty="0">
                <a:solidFill>
                  <a:schemeClr val="tx2">
                    <a:lumMod val="75000"/>
                    <a:lumOff val="25000"/>
                  </a:schemeClr>
                </a:solidFill>
                <a:latin typeface="Courier New" panose="02070309020205020404" pitchFamily="49" charset="0"/>
                <a:cs typeface="Courier New" panose="02070309020205020404" pitchFamily="49" charset="0"/>
              </a:rPr>
              <a:t>Clean data.csv</a:t>
            </a:r>
          </a:p>
        </p:txBody>
      </p:sp>
      <p:cxnSp>
        <p:nvCxnSpPr>
          <p:cNvPr id="17" name="Straight Arrow Connector 16">
            <a:extLst>
              <a:ext uri="{FF2B5EF4-FFF2-40B4-BE49-F238E27FC236}">
                <a16:creationId xmlns:a16="http://schemas.microsoft.com/office/drawing/2014/main" id="{9E08C9E5-E5EC-8FCF-2773-CC361419C26F}"/>
              </a:ext>
            </a:extLst>
          </p:cNvPr>
          <p:cNvCxnSpPr>
            <a:cxnSpLocks/>
            <a:endCxn id="9" idx="1"/>
          </p:cNvCxnSpPr>
          <p:nvPr/>
        </p:nvCxnSpPr>
        <p:spPr>
          <a:xfrm>
            <a:off x="4752975" y="2972880"/>
            <a:ext cx="1444915" cy="928693"/>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7AC05AF8-09CF-439C-FD2D-58F9B367BA7C}"/>
              </a:ext>
            </a:extLst>
          </p:cNvPr>
          <p:cNvCxnSpPr>
            <a:cxnSpLocks/>
          </p:cNvCxnSpPr>
          <p:nvPr/>
        </p:nvCxnSpPr>
        <p:spPr>
          <a:xfrm flipV="1">
            <a:off x="7734072" y="3429000"/>
            <a:ext cx="1075900" cy="49785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FE943D39-EC3F-D162-7D3A-C0E5BD3005BB}"/>
              </a:ext>
            </a:extLst>
          </p:cNvPr>
          <p:cNvSpPr txBox="1"/>
          <p:nvPr/>
        </p:nvSpPr>
        <p:spPr>
          <a:xfrm>
            <a:off x="6096000" y="2796533"/>
            <a:ext cx="1964555" cy="338554"/>
          </a:xfrm>
          <a:prstGeom prst="rect">
            <a:avLst/>
          </a:prstGeom>
          <a:noFill/>
        </p:spPr>
        <p:txBody>
          <a:bodyPr wrap="square" rtlCol="0">
            <a:spAutoFit/>
          </a:bodyPr>
          <a:lstStyle/>
          <a:p>
            <a:r>
              <a:rPr lang="en-US" sz="1600" b="1" dirty="0">
                <a:solidFill>
                  <a:schemeClr val="tx2">
                    <a:lumMod val="75000"/>
                    <a:lumOff val="25000"/>
                  </a:schemeClr>
                </a:solidFill>
                <a:latin typeface="Courier New" panose="02070309020205020404" pitchFamily="49" charset="0"/>
                <a:cs typeface="Courier New" panose="02070309020205020404" pitchFamily="49" charset="0"/>
              </a:rPr>
              <a:t>KNIME Workflow</a:t>
            </a:r>
          </a:p>
        </p:txBody>
      </p:sp>
      <p:sp>
        <p:nvSpPr>
          <p:cNvPr id="22" name="TextBox 21">
            <a:extLst>
              <a:ext uri="{FF2B5EF4-FFF2-40B4-BE49-F238E27FC236}">
                <a16:creationId xmlns:a16="http://schemas.microsoft.com/office/drawing/2014/main" id="{2C496DEB-B31D-9D20-90CD-CDBDC3808F05}"/>
              </a:ext>
            </a:extLst>
          </p:cNvPr>
          <p:cNvSpPr txBox="1"/>
          <p:nvPr/>
        </p:nvSpPr>
        <p:spPr>
          <a:xfrm>
            <a:off x="2100053" y="4111407"/>
            <a:ext cx="2730386" cy="646331"/>
          </a:xfrm>
          <a:prstGeom prst="rect">
            <a:avLst/>
          </a:prstGeom>
          <a:noFill/>
        </p:spPr>
        <p:txBody>
          <a:bodyPr wrap="square" rtlCol="0">
            <a:spAutoFit/>
          </a:bodyPr>
          <a:lstStyle/>
          <a:p>
            <a:r>
              <a:rPr lang="en-US" dirty="0"/>
              <a:t>1. Extract Data from DirtyData.xlsx</a:t>
            </a:r>
          </a:p>
        </p:txBody>
      </p:sp>
      <p:sp>
        <p:nvSpPr>
          <p:cNvPr id="24" name="TextBox 23">
            <a:extLst>
              <a:ext uri="{FF2B5EF4-FFF2-40B4-BE49-F238E27FC236}">
                <a16:creationId xmlns:a16="http://schemas.microsoft.com/office/drawing/2014/main" id="{AF04B953-B9E9-F5DA-6443-C56AAC548FE5}"/>
              </a:ext>
            </a:extLst>
          </p:cNvPr>
          <p:cNvSpPr txBox="1"/>
          <p:nvPr/>
        </p:nvSpPr>
        <p:spPr>
          <a:xfrm>
            <a:off x="5851098" y="4960407"/>
            <a:ext cx="2730386" cy="1200329"/>
          </a:xfrm>
          <a:prstGeom prst="rect">
            <a:avLst/>
          </a:prstGeom>
          <a:noFill/>
        </p:spPr>
        <p:txBody>
          <a:bodyPr wrap="square" rtlCol="0">
            <a:spAutoFit/>
          </a:bodyPr>
          <a:lstStyle/>
          <a:p>
            <a:r>
              <a:rPr lang="en-US" dirty="0"/>
              <a:t>2. Transform Data by creating workflow steps/nodes to correct the identified data issues.</a:t>
            </a:r>
          </a:p>
        </p:txBody>
      </p:sp>
      <p:sp>
        <p:nvSpPr>
          <p:cNvPr id="26" name="TextBox 25">
            <a:extLst>
              <a:ext uri="{FF2B5EF4-FFF2-40B4-BE49-F238E27FC236}">
                <a16:creationId xmlns:a16="http://schemas.microsoft.com/office/drawing/2014/main" id="{A9BAE44D-26F6-2F53-B693-CDDFF29ACB0B}"/>
              </a:ext>
            </a:extLst>
          </p:cNvPr>
          <p:cNvSpPr txBox="1"/>
          <p:nvPr/>
        </p:nvSpPr>
        <p:spPr>
          <a:xfrm>
            <a:off x="8809972" y="4842994"/>
            <a:ext cx="2730386" cy="646331"/>
          </a:xfrm>
          <a:prstGeom prst="rect">
            <a:avLst/>
          </a:prstGeom>
          <a:noFill/>
        </p:spPr>
        <p:txBody>
          <a:bodyPr wrap="square" rtlCol="0">
            <a:spAutoFit/>
          </a:bodyPr>
          <a:lstStyle/>
          <a:p>
            <a:r>
              <a:rPr lang="en-US" dirty="0"/>
              <a:t>3. Load Data to </a:t>
            </a:r>
            <a:br>
              <a:rPr lang="en-US" dirty="0"/>
            </a:br>
            <a:r>
              <a:rPr lang="en-US" dirty="0"/>
              <a:t>Clean Data.csv</a:t>
            </a:r>
          </a:p>
        </p:txBody>
      </p:sp>
      <p:pic>
        <p:nvPicPr>
          <p:cNvPr id="6" name="Picture 5">
            <a:extLst>
              <a:ext uri="{FF2B5EF4-FFF2-40B4-BE49-F238E27FC236}">
                <a16:creationId xmlns:a16="http://schemas.microsoft.com/office/drawing/2014/main" id="{3EE0096D-1582-CFE5-C2BA-EA42D1AB18BB}"/>
              </a:ext>
            </a:extLst>
          </p:cNvPr>
          <p:cNvPicPr>
            <a:picLocks noChangeAspect="1"/>
          </p:cNvPicPr>
          <p:nvPr/>
        </p:nvPicPr>
        <p:blipFill>
          <a:blip r:embed="rId3"/>
          <a:stretch>
            <a:fillRect/>
          </a:stretch>
        </p:blipFill>
        <p:spPr>
          <a:xfrm>
            <a:off x="152574" y="2233509"/>
            <a:ext cx="4307108" cy="1548032"/>
          </a:xfrm>
          <a:prstGeom prst="rect">
            <a:avLst/>
          </a:prstGeom>
        </p:spPr>
      </p:pic>
      <p:pic>
        <p:nvPicPr>
          <p:cNvPr id="16" name="Picture 15">
            <a:extLst>
              <a:ext uri="{FF2B5EF4-FFF2-40B4-BE49-F238E27FC236}">
                <a16:creationId xmlns:a16="http://schemas.microsoft.com/office/drawing/2014/main" id="{BF049619-EF9D-90FA-2C9B-FBA13A445C3F}"/>
              </a:ext>
            </a:extLst>
          </p:cNvPr>
          <p:cNvPicPr>
            <a:picLocks noChangeAspect="1"/>
          </p:cNvPicPr>
          <p:nvPr/>
        </p:nvPicPr>
        <p:blipFill>
          <a:blip r:embed="rId4"/>
          <a:stretch>
            <a:fillRect/>
          </a:stretch>
        </p:blipFill>
        <p:spPr>
          <a:xfrm>
            <a:off x="8920500" y="2617390"/>
            <a:ext cx="3146195" cy="2225604"/>
          </a:xfrm>
          <a:prstGeom prst="rect">
            <a:avLst/>
          </a:prstGeom>
        </p:spPr>
      </p:pic>
    </p:spTree>
    <p:extLst>
      <p:ext uri="{BB962C8B-B14F-4D97-AF65-F5344CB8AC3E}">
        <p14:creationId xmlns:p14="http://schemas.microsoft.com/office/powerpoint/2010/main" val="3117898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45 of text)  Steps 1&amp;2 (of 17)</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043796"/>
            <a:ext cx="12025223" cy="5814204"/>
          </a:xfrm>
        </p:spPr>
        <p:txBody>
          <a:bodyPr>
            <a:noAutofit/>
          </a:bodyPr>
          <a:lstStyle/>
          <a:p>
            <a:pPr marL="0" indent="0" algn="l">
              <a:buNone/>
            </a:pPr>
            <a:r>
              <a:rPr lang="en-US" b="0" i="0" u="none" strike="noStrike" baseline="0" dirty="0">
                <a:latin typeface="BookAntiqua"/>
              </a:rPr>
              <a:t>We have an Excel file (</a:t>
            </a:r>
            <a:r>
              <a:rPr lang="en-US" b="0" i="1" u="none" strike="noStrike" baseline="0" dirty="0">
                <a:latin typeface="BookAntiqua"/>
              </a:rPr>
              <a:t>DirtyData.xlsx</a:t>
            </a:r>
            <a:r>
              <a:rPr lang="en-US" b="0" u="none" strike="noStrike" baseline="0" dirty="0">
                <a:latin typeface="BookAntiqua"/>
              </a:rPr>
              <a:t>) with an excerpt of the raw data, showing samples of all the identified issues.  By using this file as a base, we can build a KNIME workflow that polishes the data and exports a good-looking and ready-to-use mailing list.</a:t>
            </a:r>
          </a:p>
          <a:p>
            <a:pPr marL="0" indent="0" algn="l">
              <a:buNone/>
            </a:pPr>
            <a:endParaRPr lang="en-US" dirty="0">
              <a:latin typeface="BookAntiqua"/>
            </a:endParaRPr>
          </a:p>
          <a:p>
            <a:pPr marL="342900" indent="-342900" algn="l">
              <a:buAutoNum type="arabicPeriod"/>
            </a:pPr>
            <a:r>
              <a:rPr lang="en-US" b="0" i="0" u="none" strike="noStrike" baseline="0" dirty="0">
                <a:latin typeface="BookAntiqua"/>
              </a:rPr>
              <a:t>First of all, we need to create a blank workflow (you can do this as seen in the previous example or—alternatively—you can go to </a:t>
            </a:r>
            <a:r>
              <a:rPr lang="en-US" b="1" i="0" u="none" strike="noStrike" baseline="0" dirty="0">
                <a:latin typeface="BookAntiqua-Bold"/>
              </a:rPr>
              <a:t>File | New... </a:t>
            </a:r>
            <a:r>
              <a:rPr lang="en-US" b="0" i="0" u="none" strike="noStrike" baseline="0" dirty="0">
                <a:latin typeface="BookAntiqua"/>
              </a:rPr>
              <a:t>and then select </a:t>
            </a:r>
            <a:r>
              <a:rPr lang="en-US" b="1" i="0" u="none" strike="noStrike" baseline="0" dirty="0">
                <a:latin typeface="BookAntiqua-Bold"/>
              </a:rPr>
              <a:t>New KNIME Workflow</a:t>
            </a:r>
            <a:r>
              <a:rPr lang="en-US" b="0" i="0" u="none" strike="noStrike" baseline="0" dirty="0">
                <a:latin typeface="BookAntiqua"/>
              </a:rPr>
              <a:t>): we can call it </a:t>
            </a:r>
            <a:r>
              <a:rPr lang="en-US" b="0" i="0" u="none" strike="noStrike" baseline="0" dirty="0">
                <a:latin typeface="Consolas" panose="020B0609020204030204" pitchFamily="49" charset="0"/>
              </a:rPr>
              <a:t>Cleaning data</a:t>
            </a:r>
            <a:r>
              <a:rPr lang="en-US" b="0" i="0" u="none" strike="noStrike" baseline="0" dirty="0">
                <a:latin typeface="BookAntiqua"/>
              </a:rPr>
              <a:t>.</a:t>
            </a:r>
            <a:br>
              <a:rPr lang="en-US" b="0" i="0" u="none" strike="noStrike" baseline="0" dirty="0">
                <a:latin typeface="BookAntiqua"/>
              </a:rPr>
            </a:br>
            <a:endParaRPr lang="en-US" b="0" i="0" u="none" strike="noStrike" baseline="0" dirty="0">
              <a:latin typeface="BookAntiqua"/>
            </a:endParaRPr>
          </a:p>
          <a:p>
            <a:pPr marL="342900" indent="-342900" algn="l">
              <a:buAutoNum type="arabicPeriod"/>
            </a:pPr>
            <a:r>
              <a:rPr lang="en-US" b="0" i="0" u="none" strike="noStrike" baseline="0" dirty="0">
                <a:latin typeface="BookAntiqua"/>
              </a:rPr>
              <a:t>To load the data, we can either drag and drop the source file on the Workflow Editor or grab the Excel Reader node from the repository and place it in the blank editor space.</a:t>
            </a:r>
            <a:endParaRPr lang="en-US" dirty="0"/>
          </a:p>
        </p:txBody>
      </p:sp>
    </p:spTree>
    <p:extLst>
      <p:ext uri="{BB962C8B-B14F-4D97-AF65-F5344CB8AC3E}">
        <p14:creationId xmlns:p14="http://schemas.microsoft.com/office/powerpoint/2010/main" val="2690146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46-47)  </a:t>
            </a:r>
            <a:br>
              <a:rPr lang="en-US" dirty="0"/>
            </a:br>
            <a:r>
              <a:rPr lang="en-US" dirty="0"/>
              <a:t>Step 3 – Excel Reader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8236789" cy="5814204"/>
          </a:xfrm>
        </p:spPr>
        <p:txBody>
          <a:bodyPr>
            <a:noAutofit/>
          </a:bodyPr>
          <a:lstStyle/>
          <a:p>
            <a:pPr marL="0" indent="0" algn="l">
              <a:buNone/>
            </a:pPr>
            <a:r>
              <a:rPr lang="en-US" sz="2000" b="0" i="0" u="none" strike="noStrike" baseline="0" dirty="0">
                <a:latin typeface="BookAntiqua"/>
              </a:rPr>
              <a:t>This node (</a:t>
            </a:r>
            <a:r>
              <a:rPr lang="en-US" sz="2000" b="1" i="0" u="none" strike="noStrike" baseline="0" dirty="0">
                <a:latin typeface="BookAntiqua-Bold"/>
              </a:rPr>
              <a:t>IO &gt; Read</a:t>
            </a:r>
            <a:r>
              <a:rPr lang="en-US" sz="2000" b="0" i="0" u="none" strike="noStrike" baseline="0" dirty="0">
                <a:latin typeface="BookAntiqua"/>
              </a:rPr>
              <a:t>) opens Excel files, reads the content of the specified worksheet, and makes it available as a table at its output port. </a:t>
            </a:r>
          </a:p>
          <a:p>
            <a:pPr marL="0" indent="0" algn="l">
              <a:buNone/>
            </a:pPr>
            <a:r>
              <a:rPr lang="en-US" sz="2000" b="0" i="0" u="none" strike="noStrike" baseline="0" dirty="0">
                <a:latin typeface="BookAntiqua"/>
              </a:rPr>
              <a:t>In the main tab of the configuration dialog, after indicating which file or folder to open (click on </a:t>
            </a:r>
            <a:r>
              <a:rPr lang="en-US" sz="2000" b="1" i="0" u="none" strike="noStrike" baseline="0" dirty="0">
                <a:latin typeface="BookAntiqua-Bold"/>
              </a:rPr>
              <a:t>Browse... </a:t>
            </a:r>
            <a:r>
              <a:rPr lang="en-US" sz="2000" b="0" i="0" u="none" strike="noStrike" baseline="0" dirty="0">
                <a:latin typeface="BookAntiqua"/>
              </a:rPr>
              <a:t>to change), you can specify (</a:t>
            </a:r>
            <a:r>
              <a:rPr lang="en-US" sz="2000" b="1" i="0" u="none" strike="noStrike" baseline="0" dirty="0">
                <a:latin typeface="BookAntiqua-Bold"/>
              </a:rPr>
              <a:t>Sheet selection</a:t>
            </a:r>
            <a:r>
              <a:rPr lang="en-US" sz="2000" b="0" i="0" u="none" strike="noStrike" baseline="0" dirty="0">
                <a:latin typeface="BookAntiqua"/>
              </a:rPr>
              <a:t>) the worksheet to consider: by default, the node will read the first sheet available in the workbook</a:t>
            </a:r>
            <a:r>
              <a:rPr lang="en-US" sz="2000" dirty="0">
                <a:latin typeface="BookAntiqua"/>
              </a:rPr>
              <a:t>, </a:t>
            </a:r>
            <a:r>
              <a:rPr lang="en-US" sz="2000" b="0" i="0" u="none" strike="noStrike" baseline="0" dirty="0">
                <a:latin typeface="BookAntiqua"/>
              </a:rPr>
              <a:t>but you can indicate the name of a specific sheet or its position. </a:t>
            </a:r>
          </a:p>
          <a:p>
            <a:pPr marL="0" indent="0" algn="l">
              <a:buNone/>
            </a:pPr>
            <a:r>
              <a:rPr lang="en-US" sz="2000" b="0" i="0" u="none" strike="noStrike" baseline="0" dirty="0">
                <a:latin typeface="BookAntiqua"/>
              </a:rPr>
              <a:t>If your sheet includes the column headers, you can ask KNIME to use them as column names in the resulting table: in the section </a:t>
            </a:r>
            <a:r>
              <a:rPr lang="en-US" sz="2000" b="1" i="0" u="none" strike="noStrike" baseline="0" dirty="0">
                <a:latin typeface="BookAntiqua-Bold"/>
              </a:rPr>
              <a:t>Column Header</a:t>
            </a:r>
            <a:r>
              <a:rPr lang="en-US" sz="2000" b="0" i="0" u="none" strike="noStrike" baseline="0" dirty="0">
                <a:latin typeface="BookAntiqua"/>
              </a:rPr>
              <a:t>, you can select which row contains the column headers. </a:t>
            </a:r>
          </a:p>
          <a:p>
            <a:pPr marL="0" indent="0" algn="l">
              <a:buNone/>
            </a:pPr>
            <a:r>
              <a:rPr lang="en-US" sz="2000" b="0" i="0" u="none" strike="noStrike" baseline="0" dirty="0">
                <a:latin typeface="BookAntiqua"/>
              </a:rPr>
              <a:t>You can also restrict the reading to a portion of the sheet, by specifying the range of columns and rows to read within the </a:t>
            </a:r>
            <a:r>
              <a:rPr lang="en-US" sz="2000" b="1" i="0" u="none" strike="noStrike" baseline="0" dirty="0">
                <a:latin typeface="BookAntiqua-Bold"/>
              </a:rPr>
              <a:t>Sheet area </a:t>
            </a:r>
            <a:r>
              <a:rPr lang="en-US" sz="2000" b="0" i="0" u="none" strike="noStrike" baseline="0" dirty="0">
                <a:latin typeface="BookAntiqua"/>
              </a:rPr>
              <a:t>section. </a:t>
            </a:r>
          </a:p>
          <a:p>
            <a:pPr marL="0" indent="0" algn="l">
              <a:buNone/>
            </a:pPr>
            <a:r>
              <a:rPr lang="en-US" sz="2000" b="0" i="0" u="none" strike="noStrike" baseline="0" dirty="0">
                <a:latin typeface="BookAntiqua"/>
              </a:rPr>
              <a:t>You can check whether the node is configured correctly by looking at the bottom of the window, which gives you a preview of what KNIME is reading from the file.</a:t>
            </a:r>
          </a:p>
          <a:p>
            <a:pPr marL="0" indent="0" algn="l">
              <a:buNone/>
            </a:pPr>
            <a:r>
              <a:rPr lang="en-US" sz="2000" b="0" i="0" u="none" strike="noStrike" baseline="0" dirty="0">
                <a:latin typeface="BookAntiqua"/>
              </a:rPr>
              <a:t>If you want to apply some transformations (like renaming columns, reordering them, and so on) as the data gets read, you can use the </a:t>
            </a:r>
            <a:r>
              <a:rPr lang="en-US" sz="2000" b="1" i="0" u="none" strike="noStrike" baseline="0" dirty="0">
                <a:latin typeface="BookAntiqua-Bold"/>
              </a:rPr>
              <a:t>Transformation </a:t>
            </a:r>
            <a:r>
              <a:rPr lang="en-US" sz="2000" b="0" i="0" u="none" strike="noStrike" baseline="0" dirty="0">
                <a:latin typeface="BookAntiqua"/>
              </a:rPr>
              <a:t>tab, which works the same as in the CSV Reader node we have already used.</a:t>
            </a:r>
            <a:endParaRPr lang="en-US" sz="2000" dirty="0"/>
          </a:p>
        </p:txBody>
      </p:sp>
      <p:pic>
        <p:nvPicPr>
          <p:cNvPr id="5" name="Picture 4">
            <a:extLst>
              <a:ext uri="{FF2B5EF4-FFF2-40B4-BE49-F238E27FC236}">
                <a16:creationId xmlns:a16="http://schemas.microsoft.com/office/drawing/2014/main" id="{A43EAA7F-E3BE-9E32-8B14-AA431ABF2057}"/>
              </a:ext>
            </a:extLst>
          </p:cNvPr>
          <p:cNvPicPr>
            <a:picLocks noChangeAspect="1"/>
          </p:cNvPicPr>
          <p:nvPr/>
        </p:nvPicPr>
        <p:blipFill>
          <a:blip r:embed="rId2"/>
          <a:stretch>
            <a:fillRect/>
          </a:stretch>
        </p:blipFill>
        <p:spPr>
          <a:xfrm>
            <a:off x="8305800" y="140396"/>
            <a:ext cx="3038899" cy="647790"/>
          </a:xfrm>
          <a:prstGeom prst="rect">
            <a:avLst/>
          </a:prstGeom>
        </p:spPr>
      </p:pic>
      <p:pic>
        <p:nvPicPr>
          <p:cNvPr id="9" name="Picture 8">
            <a:extLst>
              <a:ext uri="{FF2B5EF4-FFF2-40B4-BE49-F238E27FC236}">
                <a16:creationId xmlns:a16="http://schemas.microsoft.com/office/drawing/2014/main" id="{DF26D88B-FE82-F664-1255-4602F5D87A01}"/>
              </a:ext>
            </a:extLst>
          </p:cNvPr>
          <p:cNvPicPr>
            <a:picLocks noChangeAspect="1"/>
          </p:cNvPicPr>
          <p:nvPr/>
        </p:nvPicPr>
        <p:blipFill>
          <a:blip r:embed="rId3"/>
          <a:stretch>
            <a:fillRect/>
          </a:stretch>
        </p:blipFill>
        <p:spPr>
          <a:xfrm>
            <a:off x="8305800" y="1964726"/>
            <a:ext cx="3746090" cy="2895600"/>
          </a:xfrm>
          <a:prstGeom prst="rect">
            <a:avLst/>
          </a:prstGeom>
        </p:spPr>
      </p:pic>
    </p:spTree>
    <p:extLst>
      <p:ext uri="{BB962C8B-B14F-4D97-AF65-F5344CB8AC3E}">
        <p14:creationId xmlns:p14="http://schemas.microsoft.com/office/powerpoint/2010/main" val="1566800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46-47)  </a:t>
            </a:r>
            <a:br>
              <a:rPr lang="en-US" dirty="0"/>
            </a:br>
            <a:r>
              <a:rPr lang="en-US" dirty="0"/>
              <a:t>Step 3 – Excel Reader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8236789" cy="5814204"/>
          </a:xfrm>
        </p:spPr>
        <p:txBody>
          <a:bodyPr>
            <a:noAutofit/>
          </a:bodyPr>
          <a:lstStyle/>
          <a:p>
            <a:pPr marL="0" indent="0" algn="l">
              <a:buNone/>
            </a:pPr>
            <a:endParaRPr lang="en-US" dirty="0">
              <a:latin typeface="BookAntiqua"/>
            </a:endParaRPr>
          </a:p>
          <a:p>
            <a:pPr marL="0" indent="0" algn="l">
              <a:buNone/>
            </a:pPr>
            <a:r>
              <a:rPr lang="en-US" b="0" i="0" u="none" strike="noStrike" baseline="0" dirty="0">
                <a:latin typeface="BookAntiqua"/>
              </a:rPr>
              <a:t>3. Configuring this node will be simple in our case: we should just select the file to open and leave all other parameters unchanged as the default selection looks good for us. </a:t>
            </a:r>
          </a:p>
          <a:p>
            <a:pPr marL="0" indent="0" algn="l">
              <a:buNone/>
            </a:pPr>
            <a:r>
              <a:rPr lang="en-US" b="0" i="0" u="none" strike="noStrike" baseline="0" dirty="0">
                <a:latin typeface="BookAntiqua"/>
              </a:rPr>
              <a:t>We could use the </a:t>
            </a:r>
            <a:r>
              <a:rPr lang="en-US" b="1" i="0" u="none" strike="noStrike" baseline="0" dirty="0">
                <a:latin typeface="BookAntiqua-Bold"/>
              </a:rPr>
              <a:t>Transformation </a:t>
            </a:r>
            <a:r>
              <a:rPr lang="en-US" b="0" i="0" u="none" strike="noStrike" baseline="0" dirty="0">
                <a:latin typeface="BookAntiqua"/>
              </a:rPr>
              <a:t>tab to make some adjustments to the format but we will do it later using the appropriate nodes, so we can keep it easy for now.</a:t>
            </a:r>
            <a:r>
              <a:rPr lang="en-US" dirty="0"/>
              <a:t> </a:t>
            </a:r>
          </a:p>
          <a:p>
            <a:pPr marL="0" indent="0" algn="l">
              <a:buNone/>
            </a:pPr>
            <a:endParaRPr lang="en-US" dirty="0"/>
          </a:p>
        </p:txBody>
      </p:sp>
      <p:pic>
        <p:nvPicPr>
          <p:cNvPr id="9" name="Picture 8">
            <a:extLst>
              <a:ext uri="{FF2B5EF4-FFF2-40B4-BE49-F238E27FC236}">
                <a16:creationId xmlns:a16="http://schemas.microsoft.com/office/drawing/2014/main" id="{DF26D88B-FE82-F664-1255-4602F5D87A01}"/>
              </a:ext>
            </a:extLst>
          </p:cNvPr>
          <p:cNvPicPr>
            <a:picLocks noChangeAspect="1"/>
          </p:cNvPicPr>
          <p:nvPr/>
        </p:nvPicPr>
        <p:blipFill>
          <a:blip r:embed="rId2"/>
          <a:stretch>
            <a:fillRect/>
          </a:stretch>
        </p:blipFill>
        <p:spPr>
          <a:xfrm>
            <a:off x="8305800" y="1981200"/>
            <a:ext cx="3746090" cy="2895600"/>
          </a:xfrm>
          <a:prstGeom prst="rect">
            <a:avLst/>
          </a:prstGeom>
        </p:spPr>
      </p:pic>
      <p:pic>
        <p:nvPicPr>
          <p:cNvPr id="4" name="Picture 3">
            <a:extLst>
              <a:ext uri="{FF2B5EF4-FFF2-40B4-BE49-F238E27FC236}">
                <a16:creationId xmlns:a16="http://schemas.microsoft.com/office/drawing/2014/main" id="{1B910DA1-7FA6-7E7C-1785-03058944A13F}"/>
              </a:ext>
            </a:extLst>
          </p:cNvPr>
          <p:cNvPicPr>
            <a:picLocks noChangeAspect="1"/>
          </p:cNvPicPr>
          <p:nvPr/>
        </p:nvPicPr>
        <p:blipFill>
          <a:blip r:embed="rId3"/>
          <a:stretch>
            <a:fillRect/>
          </a:stretch>
        </p:blipFill>
        <p:spPr>
          <a:xfrm>
            <a:off x="8305800" y="140396"/>
            <a:ext cx="3038899" cy="647790"/>
          </a:xfrm>
          <a:prstGeom prst="rect">
            <a:avLst/>
          </a:prstGeom>
        </p:spPr>
      </p:pic>
    </p:spTree>
    <p:extLst>
      <p:ext uri="{BB962C8B-B14F-4D97-AF65-F5344CB8AC3E}">
        <p14:creationId xmlns:p14="http://schemas.microsoft.com/office/powerpoint/2010/main" val="3629392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46-47)  </a:t>
            </a:r>
            <a:br>
              <a:rPr lang="en-US" dirty="0"/>
            </a:br>
            <a:r>
              <a:rPr lang="en-US" dirty="0"/>
              <a:t>Step 4 – Duplicate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8236789" cy="5814204"/>
          </a:xfrm>
        </p:spPr>
        <p:txBody>
          <a:bodyPr>
            <a:noAutofit/>
          </a:bodyPr>
          <a:lstStyle/>
          <a:p>
            <a:pPr marL="0" indent="0">
              <a:buNone/>
            </a:pPr>
            <a:r>
              <a:rPr lang="en-US" sz="2000" b="0" i="0" u="none" strike="noStrike" baseline="0" dirty="0">
                <a:latin typeface="BookAntiqua"/>
              </a:rPr>
              <a:t>To remove the duplicated rows we can use a new node that does exactly that:  Its name is Duplicate Row Filter.</a:t>
            </a:r>
            <a:endParaRPr lang="en-US" sz="2000" dirty="0">
              <a:latin typeface="BookAntiqua"/>
            </a:endParaRPr>
          </a:p>
          <a:p>
            <a:pPr marL="0" indent="0" algn="l">
              <a:buNone/>
            </a:pPr>
            <a:r>
              <a:rPr lang="en-US" sz="1800" b="0" i="0" u="none" strike="noStrike" baseline="0" dirty="0">
                <a:latin typeface="BookAntiqua"/>
              </a:rPr>
              <a:t>This node (</a:t>
            </a:r>
            <a:r>
              <a:rPr lang="en-US" sz="1800" b="1" i="0" u="none" strike="noStrike" baseline="0" dirty="0">
                <a:latin typeface="BookAntiqua-Bold"/>
              </a:rPr>
              <a:t>Manipulation &gt; Row &gt; Filter</a:t>
            </a:r>
            <a:r>
              <a:rPr lang="en-US" sz="1800" b="0" i="0" u="none" strike="noStrike" baseline="0" dirty="0">
                <a:latin typeface="BookAntiqua"/>
              </a:rPr>
              <a:t>) identifies rows having the same values in selected columns and manages them accordingly. In the first tab of the configuration window, you select which columns should be considered for the search of duplicates.</a:t>
            </a:r>
          </a:p>
          <a:p>
            <a:pPr marL="0" indent="0" algn="l">
              <a:buNone/>
            </a:pPr>
            <a:r>
              <a:rPr lang="en-US" sz="1800" b="0" i="0" u="none" strike="noStrike" baseline="0" dirty="0">
                <a:latin typeface="BookAntiqua"/>
              </a:rPr>
              <a:t>If more than one column is selected, the node will consider duplicates as only rows that have the same values across all the selected columns. In the configuration of many KNIME nodes, we will be asked to select a subset of columns, so it makes sense to spend some time on becoming acquainted with the interface:</a:t>
            </a:r>
          </a:p>
          <a:p>
            <a:pPr marL="0" indent="0" algn="l">
              <a:buNone/>
            </a:pPr>
            <a:r>
              <a:rPr lang="en-US" sz="1800" b="0" i="0" u="none" strike="noStrike" baseline="0" dirty="0">
                <a:latin typeface="BookAntiqua"/>
              </a:rPr>
              <a:t>• The panel on the right (having a green border) contains the columns included in your selection while the one on the left (red-bordered) displays the excluded columns.</a:t>
            </a:r>
          </a:p>
          <a:p>
            <a:pPr marL="0" indent="0" algn="l">
              <a:buNone/>
            </a:pPr>
            <a:r>
              <a:rPr lang="en-US" sz="1800" b="0" i="0" u="none" strike="noStrike" baseline="0" dirty="0">
                <a:latin typeface="BookAntiqua"/>
              </a:rPr>
              <a:t>• By double-clicking on the names of the columns or by using the four arrow buttons in the middle, you can transfer the columns across panes.</a:t>
            </a:r>
          </a:p>
          <a:p>
            <a:pPr marL="0" indent="0" algn="l">
              <a:buNone/>
            </a:pPr>
            <a:r>
              <a:rPr lang="en-US" sz="1800" b="0" i="0" u="none" strike="noStrike" baseline="0" dirty="0">
                <a:latin typeface="BookAntiqua"/>
              </a:rPr>
              <a:t>• If you have many columns, you can look them up by name using the </a:t>
            </a:r>
            <a:r>
              <a:rPr lang="en-US" sz="1800" b="1" i="0" u="none" strike="noStrike" baseline="0" dirty="0">
                <a:latin typeface="BookAntiqua-Bold"/>
              </a:rPr>
              <a:t>Filter </a:t>
            </a:r>
            <a:r>
              <a:rPr lang="en-US" sz="1800" b="0" i="0" u="none" strike="noStrike" baseline="0" dirty="0">
                <a:latin typeface="BookAntiqua"/>
              </a:rPr>
              <a:t>textboxes at the top of each pane.</a:t>
            </a:r>
          </a:p>
          <a:p>
            <a:pPr marL="0" indent="0" algn="l">
              <a:buNone/>
            </a:pPr>
            <a:r>
              <a:rPr lang="en-US" sz="1800" b="0" i="0" u="none" strike="noStrike" baseline="0" dirty="0">
                <a:latin typeface="BookAntiqua"/>
              </a:rPr>
              <a:t>• If you want to select columns by patterns in their names (like the ones starting with an </a:t>
            </a:r>
            <a:r>
              <a:rPr lang="en-US" sz="1800" b="0" i="0" u="none" strike="noStrike" baseline="0" dirty="0">
                <a:latin typeface="Consolas" panose="020B0609020204030204" pitchFamily="49" charset="0"/>
              </a:rPr>
              <a:t>A</a:t>
            </a:r>
            <a:r>
              <a:rPr lang="en-US" sz="1800" b="0" i="0" u="none" strike="noStrike" baseline="0" dirty="0">
                <a:latin typeface="BookAntiqua"/>
              </a:rPr>
              <a:t>) or by type (integers, decimal numbers, strings, and so on), you can select the other options available on the radio selector on top (</a:t>
            </a:r>
            <a:r>
              <a:rPr lang="en-US" sz="1800" b="1" i="0" u="none" strike="noStrike" baseline="0" dirty="0">
                <a:latin typeface="BookAntiqua-Bold"/>
              </a:rPr>
              <a:t>Wildcard/Regex Selection </a:t>
            </a:r>
            <a:r>
              <a:rPr lang="en-US" sz="1800" b="0" i="0" u="none" strike="noStrike" baseline="0" dirty="0">
                <a:latin typeface="BookAntiqua"/>
              </a:rPr>
              <a:t>or </a:t>
            </a:r>
            <a:r>
              <a:rPr lang="en-US" sz="1800" b="1" i="0" u="none" strike="noStrike" baseline="0" dirty="0">
                <a:latin typeface="BookAntiqua-Bold"/>
              </a:rPr>
              <a:t>Type Selection</a:t>
            </a:r>
            <a:r>
              <a:rPr lang="en-US" sz="1800" b="0" i="0" u="none" strike="noStrike" baseline="0" dirty="0">
                <a:latin typeface="BookAntiqua"/>
              </a:rPr>
              <a:t>).</a:t>
            </a:r>
            <a:endParaRPr lang="en-US" sz="2000" dirty="0"/>
          </a:p>
        </p:txBody>
      </p:sp>
      <p:pic>
        <p:nvPicPr>
          <p:cNvPr id="6" name="Picture 5">
            <a:extLst>
              <a:ext uri="{FF2B5EF4-FFF2-40B4-BE49-F238E27FC236}">
                <a16:creationId xmlns:a16="http://schemas.microsoft.com/office/drawing/2014/main" id="{B40DE491-3612-181C-80A8-0E8550214F33}"/>
              </a:ext>
            </a:extLst>
          </p:cNvPr>
          <p:cNvPicPr>
            <a:picLocks noChangeAspect="1"/>
          </p:cNvPicPr>
          <p:nvPr/>
        </p:nvPicPr>
        <p:blipFill>
          <a:blip r:embed="rId2"/>
          <a:stretch>
            <a:fillRect/>
          </a:stretch>
        </p:blipFill>
        <p:spPr>
          <a:xfrm>
            <a:off x="8098279" y="273674"/>
            <a:ext cx="3912566" cy="558938"/>
          </a:xfrm>
          <a:prstGeom prst="rect">
            <a:avLst/>
          </a:prstGeom>
        </p:spPr>
      </p:pic>
      <p:pic>
        <p:nvPicPr>
          <p:cNvPr id="8" name="Picture 7">
            <a:extLst>
              <a:ext uri="{FF2B5EF4-FFF2-40B4-BE49-F238E27FC236}">
                <a16:creationId xmlns:a16="http://schemas.microsoft.com/office/drawing/2014/main" id="{847E884E-65D9-8B0F-B9E9-9152ECF3C6B8}"/>
              </a:ext>
            </a:extLst>
          </p:cNvPr>
          <p:cNvPicPr>
            <a:picLocks noChangeAspect="1"/>
          </p:cNvPicPr>
          <p:nvPr/>
        </p:nvPicPr>
        <p:blipFill>
          <a:blip r:embed="rId3"/>
          <a:stretch>
            <a:fillRect/>
          </a:stretch>
        </p:blipFill>
        <p:spPr>
          <a:xfrm>
            <a:off x="8305800" y="1921339"/>
            <a:ext cx="3796922" cy="2166129"/>
          </a:xfrm>
          <a:prstGeom prst="rect">
            <a:avLst/>
          </a:prstGeom>
        </p:spPr>
      </p:pic>
    </p:spTree>
    <p:extLst>
      <p:ext uri="{BB962C8B-B14F-4D97-AF65-F5344CB8AC3E}">
        <p14:creationId xmlns:p14="http://schemas.microsoft.com/office/powerpoint/2010/main" val="3141580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46-47)  </a:t>
            </a:r>
            <a:br>
              <a:rPr lang="en-US" dirty="0"/>
            </a:br>
            <a:r>
              <a:rPr lang="en-US" dirty="0"/>
              <a:t>Step 4 – Duplicate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8236789" cy="5814204"/>
          </a:xfrm>
        </p:spPr>
        <p:txBody>
          <a:bodyPr>
            <a:noAutofit/>
          </a:bodyPr>
          <a:lstStyle/>
          <a:p>
            <a:pPr marL="0" indent="0" algn="l">
              <a:buNone/>
            </a:pPr>
            <a:r>
              <a:rPr lang="en-US" sz="1800" b="0" i="0" u="none" strike="noStrike" baseline="0" dirty="0">
                <a:latin typeface="BookAntiqua"/>
              </a:rPr>
              <a:t>The second tab in the configuration window (titled </a:t>
            </a:r>
            <a:r>
              <a:rPr lang="en-US" sz="1800" b="1" i="0" u="none" strike="noStrike" baseline="0" dirty="0">
                <a:latin typeface="BookAntiqua-Bold"/>
              </a:rPr>
              <a:t>Advanced</a:t>
            </a:r>
            <a:r>
              <a:rPr lang="en-US" sz="1800" b="0" i="0" u="none" strike="noStrike" baseline="0" dirty="0">
                <a:latin typeface="BookAntiqua"/>
              </a:rPr>
              <a:t>) lets you decide what to do with the duplicate rows once identified (by default, they get removed but you can also keep them and add an extra column specifying whether they are duplicates or not) and which rows should be kept among the duplicates (by default, the first row is kept and all others are removed, but other strategies are available).</a:t>
            </a:r>
          </a:p>
          <a:p>
            <a:pPr marL="0" indent="0" algn="l">
              <a:buNone/>
            </a:pPr>
            <a:endParaRPr lang="en-US" sz="1800" dirty="0">
              <a:latin typeface="BookAntiqua"/>
            </a:endParaRPr>
          </a:p>
          <a:p>
            <a:pPr marL="0" indent="0" algn="l">
              <a:buNone/>
            </a:pPr>
            <a:r>
              <a:rPr lang="en-US" sz="2000" dirty="0"/>
              <a:t>4. Let's implement the Duplicate Row Filter node and connect it with the output port of the Excel Reader. The new node will now show an amber status light, signaling that it can run with its default behavior, although we want to do some configuration first.</a:t>
            </a:r>
          </a:p>
          <a:p>
            <a:pPr marL="0" indent="0" algn="l">
              <a:buNone/>
            </a:pPr>
            <a:r>
              <a:rPr lang="en-US" sz="2000" dirty="0"/>
              <a:t>5. Double-click on the node to enter its configuration window. Since we don't want to bombard the same user with multiple emails, we should keep one entry per email address, removing all rows having a duplicate address. Hence, from the configuration window, we move all columns to the left and we keep only __</a:t>
            </a:r>
            <a:r>
              <a:rPr lang="en-US" sz="2000" dirty="0" err="1"/>
              <a:t>Email_Entered</a:t>
            </a:r>
            <a:r>
              <a:rPr lang="en-US" sz="2000" dirty="0"/>
              <a:t> on the right. We click on OK and run the node (F7).</a:t>
            </a:r>
          </a:p>
          <a:p>
            <a:pPr marL="0" indent="0" algn="l">
              <a:buNone/>
            </a:pPr>
            <a:r>
              <a:rPr lang="en-US" sz="2000" dirty="0"/>
              <a:t>6. Our curiosity makes it impossible to refrain from checking whether this node has worked well. So, we have a look at the data appearing on its output port (right-click and the last icon with the magnifying lens or Shift + F6) and we notice that a couple of rows having duplicated email addresses were removed as expected.</a:t>
            </a:r>
          </a:p>
        </p:txBody>
      </p:sp>
      <p:pic>
        <p:nvPicPr>
          <p:cNvPr id="6" name="Picture 5">
            <a:extLst>
              <a:ext uri="{FF2B5EF4-FFF2-40B4-BE49-F238E27FC236}">
                <a16:creationId xmlns:a16="http://schemas.microsoft.com/office/drawing/2014/main" id="{B40DE491-3612-181C-80A8-0E8550214F33}"/>
              </a:ext>
            </a:extLst>
          </p:cNvPr>
          <p:cNvPicPr>
            <a:picLocks noChangeAspect="1"/>
          </p:cNvPicPr>
          <p:nvPr/>
        </p:nvPicPr>
        <p:blipFill>
          <a:blip r:embed="rId2"/>
          <a:stretch>
            <a:fillRect/>
          </a:stretch>
        </p:blipFill>
        <p:spPr>
          <a:xfrm>
            <a:off x="8098279" y="273674"/>
            <a:ext cx="3912566" cy="558938"/>
          </a:xfrm>
          <a:prstGeom prst="rect">
            <a:avLst/>
          </a:prstGeom>
        </p:spPr>
      </p:pic>
      <p:pic>
        <p:nvPicPr>
          <p:cNvPr id="8" name="Picture 7">
            <a:extLst>
              <a:ext uri="{FF2B5EF4-FFF2-40B4-BE49-F238E27FC236}">
                <a16:creationId xmlns:a16="http://schemas.microsoft.com/office/drawing/2014/main" id="{847E884E-65D9-8B0F-B9E9-9152ECF3C6B8}"/>
              </a:ext>
            </a:extLst>
          </p:cNvPr>
          <p:cNvPicPr>
            <a:picLocks noChangeAspect="1"/>
          </p:cNvPicPr>
          <p:nvPr/>
        </p:nvPicPr>
        <p:blipFill>
          <a:blip r:embed="rId3"/>
          <a:stretch>
            <a:fillRect/>
          </a:stretch>
        </p:blipFill>
        <p:spPr>
          <a:xfrm>
            <a:off x="8305800" y="1921339"/>
            <a:ext cx="3796922" cy="2166129"/>
          </a:xfrm>
          <a:prstGeom prst="rect">
            <a:avLst/>
          </a:prstGeom>
        </p:spPr>
      </p:pic>
    </p:spTree>
    <p:extLst>
      <p:ext uri="{BB962C8B-B14F-4D97-AF65-F5344CB8AC3E}">
        <p14:creationId xmlns:p14="http://schemas.microsoft.com/office/powerpoint/2010/main" val="3631664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46-47)  </a:t>
            </a:r>
            <a:br>
              <a:rPr lang="en-US" dirty="0"/>
            </a:br>
            <a:r>
              <a:rPr lang="en-US" dirty="0"/>
              <a:t>Step 5-6 – Duplicate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8236789" cy="5544284"/>
          </a:xfrm>
        </p:spPr>
        <p:txBody>
          <a:bodyPr>
            <a:noAutofit/>
          </a:bodyPr>
          <a:lstStyle/>
          <a:p>
            <a:pPr marL="0" indent="0" algn="l">
              <a:buNone/>
            </a:pPr>
            <a:br>
              <a:rPr lang="en-US" sz="2400" dirty="0"/>
            </a:br>
            <a:br>
              <a:rPr lang="en-US" sz="2400" dirty="0"/>
            </a:br>
            <a:r>
              <a:rPr lang="en-US" sz="2400" dirty="0"/>
              <a:t>5. Double-click on the node to enter its configuration window. Since we don't want to bombard the same user with multiple emails, we should keep one entry per email address, removing all rows having a duplicate address. Hence, from the configuration window, we move all columns to the left and we keep only __Email_Entered on the right. We click on OK and run the node (F7).</a:t>
            </a:r>
            <a:br>
              <a:rPr lang="en-US" sz="2400" dirty="0"/>
            </a:br>
            <a:endParaRPr lang="en-US" sz="2400" dirty="0"/>
          </a:p>
          <a:p>
            <a:pPr marL="0" indent="0" algn="l">
              <a:buNone/>
            </a:pPr>
            <a:r>
              <a:rPr lang="en-US" sz="2400" dirty="0"/>
              <a:t>6. Our curiosity makes it impossible to refrain from checking whether this node has worked well. So, we have a look at the data appearing on its output port (right-click and the last icon with the magnifying lens or Shift + F6) and we notice that a couple of rows having duplicated email addresses were removed as expected.</a:t>
            </a:r>
          </a:p>
        </p:txBody>
      </p:sp>
      <p:pic>
        <p:nvPicPr>
          <p:cNvPr id="6" name="Picture 5">
            <a:extLst>
              <a:ext uri="{FF2B5EF4-FFF2-40B4-BE49-F238E27FC236}">
                <a16:creationId xmlns:a16="http://schemas.microsoft.com/office/drawing/2014/main" id="{B40DE491-3612-181C-80A8-0E8550214F33}"/>
              </a:ext>
            </a:extLst>
          </p:cNvPr>
          <p:cNvPicPr>
            <a:picLocks noChangeAspect="1"/>
          </p:cNvPicPr>
          <p:nvPr/>
        </p:nvPicPr>
        <p:blipFill>
          <a:blip r:embed="rId2"/>
          <a:stretch>
            <a:fillRect/>
          </a:stretch>
        </p:blipFill>
        <p:spPr>
          <a:xfrm>
            <a:off x="8098279" y="273674"/>
            <a:ext cx="3912566" cy="558938"/>
          </a:xfrm>
          <a:prstGeom prst="rect">
            <a:avLst/>
          </a:prstGeom>
        </p:spPr>
      </p:pic>
      <p:pic>
        <p:nvPicPr>
          <p:cNvPr id="8" name="Picture 7">
            <a:extLst>
              <a:ext uri="{FF2B5EF4-FFF2-40B4-BE49-F238E27FC236}">
                <a16:creationId xmlns:a16="http://schemas.microsoft.com/office/drawing/2014/main" id="{847E884E-65D9-8B0F-B9E9-9152ECF3C6B8}"/>
              </a:ext>
            </a:extLst>
          </p:cNvPr>
          <p:cNvPicPr>
            <a:picLocks noChangeAspect="1"/>
          </p:cNvPicPr>
          <p:nvPr/>
        </p:nvPicPr>
        <p:blipFill>
          <a:blip r:embed="rId3"/>
          <a:stretch>
            <a:fillRect/>
          </a:stretch>
        </p:blipFill>
        <p:spPr>
          <a:xfrm>
            <a:off x="8305800" y="1921339"/>
            <a:ext cx="3796922" cy="2166129"/>
          </a:xfrm>
          <a:prstGeom prst="rect">
            <a:avLst/>
          </a:prstGeom>
        </p:spPr>
      </p:pic>
    </p:spTree>
    <p:extLst>
      <p:ext uri="{BB962C8B-B14F-4D97-AF65-F5344CB8AC3E}">
        <p14:creationId xmlns:p14="http://schemas.microsoft.com/office/powerpoint/2010/main" val="2670967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46-51)  </a:t>
            </a:r>
            <a:br>
              <a:rPr lang="en-US" dirty="0"/>
            </a:br>
            <a:r>
              <a:rPr lang="en-US" dirty="0"/>
              <a:t>Step 7 – String Manipulation</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3817190" cy="5544284"/>
          </a:xfrm>
        </p:spPr>
        <p:txBody>
          <a:bodyPr>
            <a:noAutofit/>
          </a:bodyPr>
          <a:lstStyle/>
          <a:p>
            <a:pPr marL="0" indent="0" algn="l">
              <a:buNone/>
            </a:pPr>
            <a:r>
              <a:rPr lang="en-US" sz="2400" dirty="0"/>
              <a:t>This node (Manipulation &gt; Column &gt; Convert &amp; Replace) applies transformations to strings, making it possible to reformat textual data as needed. </a:t>
            </a:r>
          </a:p>
          <a:p>
            <a:pPr marL="0" indent="0" algn="l">
              <a:buNone/>
            </a:pPr>
            <a:r>
              <a:rPr lang="en-US" sz="2400" dirty="0"/>
              <a:t>The node includes a large set of pre-built functions for text manipulation, such as replacement, capitalization, and concatenation.</a:t>
            </a:r>
          </a:p>
        </p:txBody>
      </p:sp>
      <p:pic>
        <p:nvPicPr>
          <p:cNvPr id="5" name="Picture 4">
            <a:extLst>
              <a:ext uri="{FF2B5EF4-FFF2-40B4-BE49-F238E27FC236}">
                <a16:creationId xmlns:a16="http://schemas.microsoft.com/office/drawing/2014/main" id="{51530EE3-BAA4-68B7-B960-4D51860D1223}"/>
              </a:ext>
            </a:extLst>
          </p:cNvPr>
          <p:cNvPicPr>
            <a:picLocks noChangeAspect="1"/>
          </p:cNvPicPr>
          <p:nvPr/>
        </p:nvPicPr>
        <p:blipFill>
          <a:blip r:embed="rId2"/>
          <a:stretch>
            <a:fillRect/>
          </a:stretch>
        </p:blipFill>
        <p:spPr>
          <a:xfrm>
            <a:off x="8007439" y="228555"/>
            <a:ext cx="4086795" cy="600159"/>
          </a:xfrm>
          <a:prstGeom prst="rect">
            <a:avLst/>
          </a:prstGeom>
        </p:spPr>
      </p:pic>
      <p:pic>
        <p:nvPicPr>
          <p:cNvPr id="9" name="Picture 8">
            <a:extLst>
              <a:ext uri="{FF2B5EF4-FFF2-40B4-BE49-F238E27FC236}">
                <a16:creationId xmlns:a16="http://schemas.microsoft.com/office/drawing/2014/main" id="{79132659-6490-E450-BA84-6A145EF5FB53}"/>
              </a:ext>
            </a:extLst>
          </p:cNvPr>
          <p:cNvPicPr>
            <a:picLocks noChangeAspect="1"/>
          </p:cNvPicPr>
          <p:nvPr/>
        </p:nvPicPr>
        <p:blipFill>
          <a:blip r:embed="rId3"/>
          <a:stretch>
            <a:fillRect/>
          </a:stretch>
        </p:blipFill>
        <p:spPr>
          <a:xfrm>
            <a:off x="4816118" y="1290308"/>
            <a:ext cx="7278116" cy="4715533"/>
          </a:xfrm>
          <a:prstGeom prst="rect">
            <a:avLst/>
          </a:prstGeom>
        </p:spPr>
      </p:pic>
    </p:spTree>
    <p:extLst>
      <p:ext uri="{BB962C8B-B14F-4D97-AF65-F5344CB8AC3E}">
        <p14:creationId xmlns:p14="http://schemas.microsoft.com/office/powerpoint/2010/main" val="1083625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46-51)  </a:t>
            </a:r>
            <a:br>
              <a:rPr lang="en-US" dirty="0"/>
            </a:br>
            <a:r>
              <a:rPr lang="en-US" dirty="0"/>
              <a:t>Step 7 – String Manipulation</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4747106" cy="5544284"/>
          </a:xfrm>
        </p:spPr>
        <p:txBody>
          <a:bodyPr>
            <a:noAutofit/>
          </a:bodyPr>
          <a:lstStyle/>
          <a:p>
            <a:pPr marL="0" indent="0" algn="l">
              <a:buNone/>
            </a:pPr>
            <a:r>
              <a:rPr lang="en-US" sz="2400" dirty="0"/>
              <a:t>The configuration window for this node provides several panels.</a:t>
            </a:r>
          </a:p>
          <a:p>
            <a:pPr marL="457200" indent="-457200" algn="l">
              <a:buAutoNum type="alphaUcPeriod"/>
            </a:pPr>
            <a:r>
              <a:rPr lang="en-US" sz="2000" dirty="0"/>
              <a:t>The Expression box is used to specify the overall formula that implements the desired transformation. In most cases, you can build the expression by just using your mouse, clicking on the functions to use and on the columns upon which to apply them.</a:t>
            </a:r>
            <a:br>
              <a:rPr lang="en-US" sz="2000" dirty="0"/>
            </a:br>
            <a:endParaRPr lang="en-US" sz="2000" dirty="0"/>
          </a:p>
          <a:p>
            <a:pPr marL="457200" indent="-457200" algn="l">
              <a:buAutoNum type="alphaUcPeriod"/>
            </a:pPr>
            <a:r>
              <a:rPr lang="en-US" sz="2000" dirty="0"/>
              <a:t>The Function list includes all available transformations. For instance, the function </a:t>
            </a:r>
            <a:r>
              <a:rPr lang="en-US" sz="2000" dirty="0" err="1"/>
              <a:t>upperCase</a:t>
            </a:r>
            <a:r>
              <a:rPr lang="en-US" sz="2000" dirty="0"/>
              <a:t>() will convert a string in all-capital letters. When you double-click on a function here, it will get added to your expression.</a:t>
            </a:r>
          </a:p>
        </p:txBody>
      </p:sp>
      <p:pic>
        <p:nvPicPr>
          <p:cNvPr id="5" name="Picture 4">
            <a:extLst>
              <a:ext uri="{FF2B5EF4-FFF2-40B4-BE49-F238E27FC236}">
                <a16:creationId xmlns:a16="http://schemas.microsoft.com/office/drawing/2014/main" id="{51530EE3-BAA4-68B7-B960-4D51860D1223}"/>
              </a:ext>
            </a:extLst>
          </p:cNvPr>
          <p:cNvPicPr>
            <a:picLocks noChangeAspect="1"/>
          </p:cNvPicPr>
          <p:nvPr/>
        </p:nvPicPr>
        <p:blipFill>
          <a:blip r:embed="rId2"/>
          <a:stretch>
            <a:fillRect/>
          </a:stretch>
        </p:blipFill>
        <p:spPr>
          <a:xfrm>
            <a:off x="8007439" y="228555"/>
            <a:ext cx="4086795" cy="600159"/>
          </a:xfrm>
          <a:prstGeom prst="rect">
            <a:avLst/>
          </a:prstGeom>
        </p:spPr>
      </p:pic>
      <p:pic>
        <p:nvPicPr>
          <p:cNvPr id="9" name="Picture 8">
            <a:extLst>
              <a:ext uri="{FF2B5EF4-FFF2-40B4-BE49-F238E27FC236}">
                <a16:creationId xmlns:a16="http://schemas.microsoft.com/office/drawing/2014/main" id="{79132659-6490-E450-BA84-6A145EF5FB53}"/>
              </a:ext>
            </a:extLst>
          </p:cNvPr>
          <p:cNvPicPr>
            <a:picLocks noChangeAspect="1"/>
          </p:cNvPicPr>
          <p:nvPr/>
        </p:nvPicPr>
        <p:blipFill>
          <a:blip r:embed="rId3"/>
          <a:stretch>
            <a:fillRect/>
          </a:stretch>
        </p:blipFill>
        <p:spPr>
          <a:xfrm>
            <a:off x="4816118" y="1290308"/>
            <a:ext cx="7278116" cy="4715533"/>
          </a:xfrm>
          <a:prstGeom prst="rect">
            <a:avLst/>
          </a:prstGeom>
        </p:spPr>
      </p:pic>
    </p:spTree>
    <p:extLst>
      <p:ext uri="{BB962C8B-B14F-4D97-AF65-F5344CB8AC3E}">
        <p14:creationId xmlns:p14="http://schemas.microsoft.com/office/powerpoint/2010/main" val="2801409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46-51)  </a:t>
            </a:r>
            <a:br>
              <a:rPr lang="en-US" dirty="0"/>
            </a:br>
            <a:r>
              <a:rPr lang="en-US" dirty="0"/>
              <a:t>Step 7 – String Manipulation</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4747106" cy="5544284"/>
          </a:xfrm>
        </p:spPr>
        <p:txBody>
          <a:bodyPr>
            <a:noAutofit/>
          </a:bodyPr>
          <a:lstStyle/>
          <a:p>
            <a:pPr marL="0" indent="0" algn="l">
              <a:buNone/>
            </a:pPr>
            <a:r>
              <a:rPr lang="en-US" sz="2400" dirty="0"/>
              <a:t>The configuration window for this node provides several panels.</a:t>
            </a:r>
            <a:br>
              <a:rPr lang="en-US" sz="2400" dirty="0"/>
            </a:br>
            <a:br>
              <a:rPr lang="en-US" sz="2400" dirty="0"/>
            </a:br>
            <a:r>
              <a:rPr lang="en-US" sz="2400" dirty="0"/>
              <a:t>C. The Description box is a handy source of help, showing a description and some examples for each available function as soon as you select it from the list.</a:t>
            </a:r>
            <a:br>
              <a:rPr lang="en-US" sz="2400" dirty="0"/>
            </a:br>
            <a:endParaRPr lang="en-US" sz="2400" dirty="0"/>
          </a:p>
          <a:p>
            <a:pPr marL="0" indent="0" algn="l">
              <a:buNone/>
            </a:pPr>
            <a:r>
              <a:rPr lang="en-US" sz="2400" dirty="0"/>
              <a:t>D. The Column List will show you all available columns in the table. By double-clicking on them, you add them to the expression: they will show with a dollar sign character ($) on either side to indicate a column.</a:t>
            </a:r>
          </a:p>
        </p:txBody>
      </p:sp>
      <p:pic>
        <p:nvPicPr>
          <p:cNvPr id="5" name="Picture 4">
            <a:extLst>
              <a:ext uri="{FF2B5EF4-FFF2-40B4-BE49-F238E27FC236}">
                <a16:creationId xmlns:a16="http://schemas.microsoft.com/office/drawing/2014/main" id="{51530EE3-BAA4-68B7-B960-4D51860D1223}"/>
              </a:ext>
            </a:extLst>
          </p:cNvPr>
          <p:cNvPicPr>
            <a:picLocks noChangeAspect="1"/>
          </p:cNvPicPr>
          <p:nvPr/>
        </p:nvPicPr>
        <p:blipFill>
          <a:blip r:embed="rId2"/>
          <a:stretch>
            <a:fillRect/>
          </a:stretch>
        </p:blipFill>
        <p:spPr>
          <a:xfrm>
            <a:off x="8007439" y="228555"/>
            <a:ext cx="4086795" cy="600159"/>
          </a:xfrm>
          <a:prstGeom prst="rect">
            <a:avLst/>
          </a:prstGeom>
        </p:spPr>
      </p:pic>
      <p:pic>
        <p:nvPicPr>
          <p:cNvPr id="9" name="Picture 8">
            <a:extLst>
              <a:ext uri="{FF2B5EF4-FFF2-40B4-BE49-F238E27FC236}">
                <a16:creationId xmlns:a16="http://schemas.microsoft.com/office/drawing/2014/main" id="{79132659-6490-E450-BA84-6A145EF5FB53}"/>
              </a:ext>
            </a:extLst>
          </p:cNvPr>
          <p:cNvPicPr>
            <a:picLocks noChangeAspect="1"/>
          </p:cNvPicPr>
          <p:nvPr/>
        </p:nvPicPr>
        <p:blipFill>
          <a:blip r:embed="rId3"/>
          <a:stretch>
            <a:fillRect/>
          </a:stretch>
        </p:blipFill>
        <p:spPr>
          <a:xfrm>
            <a:off x="4816118" y="1290308"/>
            <a:ext cx="7278116" cy="4715533"/>
          </a:xfrm>
          <a:prstGeom prst="rect">
            <a:avLst/>
          </a:prstGeom>
        </p:spPr>
      </p:pic>
    </p:spTree>
    <p:extLst>
      <p:ext uri="{BB962C8B-B14F-4D97-AF65-F5344CB8AC3E}">
        <p14:creationId xmlns:p14="http://schemas.microsoft.com/office/powerpoint/2010/main" val="1563024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46-51)  </a:t>
            </a:r>
            <a:br>
              <a:rPr lang="en-US" dirty="0"/>
            </a:br>
            <a:r>
              <a:rPr lang="en-US" dirty="0"/>
              <a:t>Step 7 – String Manipulation</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4747106" cy="5544284"/>
          </a:xfrm>
        </p:spPr>
        <p:txBody>
          <a:bodyPr>
            <a:noAutofit/>
          </a:bodyPr>
          <a:lstStyle/>
          <a:p>
            <a:pPr marL="0" indent="0" algn="l">
              <a:buNone/>
            </a:pPr>
            <a:r>
              <a:rPr lang="en-US" sz="2400" dirty="0"/>
              <a:t>The configuration window for this node provides several panels.</a:t>
            </a:r>
            <a:br>
              <a:rPr lang="en-US" sz="2400" dirty="0"/>
            </a:br>
            <a:br>
              <a:rPr lang="en-US" sz="2400" dirty="0"/>
            </a:br>
            <a:r>
              <a:rPr lang="en-US" sz="2400" dirty="0"/>
              <a:t>E. At the bottom, you find a radio button to decide where to store your result. You can either Append it as a new column or Replace an existing one.</a:t>
            </a:r>
          </a:p>
        </p:txBody>
      </p:sp>
      <p:pic>
        <p:nvPicPr>
          <p:cNvPr id="5" name="Picture 4">
            <a:extLst>
              <a:ext uri="{FF2B5EF4-FFF2-40B4-BE49-F238E27FC236}">
                <a16:creationId xmlns:a16="http://schemas.microsoft.com/office/drawing/2014/main" id="{51530EE3-BAA4-68B7-B960-4D51860D1223}"/>
              </a:ext>
            </a:extLst>
          </p:cNvPr>
          <p:cNvPicPr>
            <a:picLocks noChangeAspect="1"/>
          </p:cNvPicPr>
          <p:nvPr/>
        </p:nvPicPr>
        <p:blipFill>
          <a:blip r:embed="rId2"/>
          <a:stretch>
            <a:fillRect/>
          </a:stretch>
        </p:blipFill>
        <p:spPr>
          <a:xfrm>
            <a:off x="8007439" y="228555"/>
            <a:ext cx="4086795" cy="600159"/>
          </a:xfrm>
          <a:prstGeom prst="rect">
            <a:avLst/>
          </a:prstGeom>
        </p:spPr>
      </p:pic>
      <p:pic>
        <p:nvPicPr>
          <p:cNvPr id="9" name="Picture 8">
            <a:extLst>
              <a:ext uri="{FF2B5EF4-FFF2-40B4-BE49-F238E27FC236}">
                <a16:creationId xmlns:a16="http://schemas.microsoft.com/office/drawing/2014/main" id="{79132659-6490-E450-BA84-6A145EF5FB53}"/>
              </a:ext>
            </a:extLst>
          </p:cNvPr>
          <p:cNvPicPr>
            <a:picLocks noChangeAspect="1"/>
          </p:cNvPicPr>
          <p:nvPr/>
        </p:nvPicPr>
        <p:blipFill>
          <a:blip r:embed="rId3"/>
          <a:stretch>
            <a:fillRect/>
          </a:stretch>
        </p:blipFill>
        <p:spPr>
          <a:xfrm>
            <a:off x="4816118" y="1290308"/>
            <a:ext cx="7278116" cy="4715533"/>
          </a:xfrm>
          <a:prstGeom prst="rect">
            <a:avLst/>
          </a:prstGeom>
        </p:spPr>
      </p:pic>
    </p:spTree>
    <p:extLst>
      <p:ext uri="{BB962C8B-B14F-4D97-AF65-F5344CB8AC3E}">
        <p14:creationId xmlns:p14="http://schemas.microsoft.com/office/powerpoint/2010/main" val="1987077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46-51)  </a:t>
            </a:r>
            <a:br>
              <a:rPr lang="en-US" dirty="0"/>
            </a:br>
            <a:r>
              <a:rPr lang="en-US" dirty="0"/>
              <a:t>Step 7 – String Manipulation</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4747106" cy="5544284"/>
          </a:xfrm>
        </p:spPr>
        <p:txBody>
          <a:bodyPr>
            <a:noAutofit/>
          </a:bodyPr>
          <a:lstStyle/>
          <a:p>
            <a:pPr marL="0" indent="0" algn="l">
              <a:buNone/>
            </a:pPr>
            <a:endParaRPr lang="en-US" sz="2400" dirty="0"/>
          </a:p>
          <a:p>
            <a:pPr marL="0" indent="0" algn="l">
              <a:buNone/>
            </a:pPr>
            <a:r>
              <a:rPr lang="en-US" sz="2400" dirty="0"/>
              <a:t>This table on pg. 50 of the text summarizes the most useful functions available within the node.</a:t>
            </a:r>
            <a:br>
              <a:rPr lang="en-US" sz="2400" dirty="0"/>
            </a:br>
            <a:endParaRPr lang="en-US" sz="2400" dirty="0"/>
          </a:p>
          <a:p>
            <a:pPr marL="0" indent="0" algn="l">
              <a:buNone/>
            </a:pPr>
            <a:r>
              <a:rPr lang="en-US" sz="2400" dirty="0"/>
              <a:t>This node is perfect for our needs as we have a few strings in our DirtyData.xlsx to manipulate.</a:t>
            </a:r>
            <a:br>
              <a:rPr lang="en-US" sz="2400" dirty="0"/>
            </a:br>
            <a:endParaRPr lang="en-US" sz="2400" dirty="0"/>
          </a:p>
          <a:p>
            <a:pPr marL="0" indent="0" algn="l">
              <a:buNone/>
            </a:pPr>
            <a:r>
              <a:rPr lang="en-US" sz="2400" dirty="0"/>
              <a:t>We need to fix the capitalization of names and surnames, remove those bad-looking whitespaces, and create a new column with the full name.</a:t>
            </a:r>
          </a:p>
        </p:txBody>
      </p:sp>
      <p:pic>
        <p:nvPicPr>
          <p:cNvPr id="5" name="Picture 4">
            <a:extLst>
              <a:ext uri="{FF2B5EF4-FFF2-40B4-BE49-F238E27FC236}">
                <a16:creationId xmlns:a16="http://schemas.microsoft.com/office/drawing/2014/main" id="{51530EE3-BAA4-68B7-B960-4D51860D1223}"/>
              </a:ext>
            </a:extLst>
          </p:cNvPr>
          <p:cNvPicPr>
            <a:picLocks noChangeAspect="1"/>
          </p:cNvPicPr>
          <p:nvPr/>
        </p:nvPicPr>
        <p:blipFill>
          <a:blip r:embed="rId2"/>
          <a:stretch>
            <a:fillRect/>
          </a:stretch>
        </p:blipFill>
        <p:spPr>
          <a:xfrm>
            <a:off x="8007439" y="228555"/>
            <a:ext cx="4086795" cy="600159"/>
          </a:xfrm>
          <a:prstGeom prst="rect">
            <a:avLst/>
          </a:prstGeom>
        </p:spPr>
      </p:pic>
      <p:pic>
        <p:nvPicPr>
          <p:cNvPr id="6" name="Picture 5">
            <a:extLst>
              <a:ext uri="{FF2B5EF4-FFF2-40B4-BE49-F238E27FC236}">
                <a16:creationId xmlns:a16="http://schemas.microsoft.com/office/drawing/2014/main" id="{C014CC7B-1586-EA11-2C42-EAE80F160776}"/>
              </a:ext>
            </a:extLst>
          </p:cNvPr>
          <p:cNvPicPr>
            <a:picLocks noChangeAspect="1"/>
          </p:cNvPicPr>
          <p:nvPr/>
        </p:nvPicPr>
        <p:blipFill>
          <a:blip r:embed="rId3"/>
          <a:stretch>
            <a:fillRect/>
          </a:stretch>
        </p:blipFill>
        <p:spPr>
          <a:xfrm>
            <a:off x="5276850" y="1286392"/>
            <a:ext cx="6817384" cy="5332232"/>
          </a:xfrm>
          <a:prstGeom prst="rect">
            <a:avLst/>
          </a:prstGeom>
        </p:spPr>
      </p:pic>
    </p:spTree>
    <p:extLst>
      <p:ext uri="{BB962C8B-B14F-4D97-AF65-F5344CB8AC3E}">
        <p14:creationId xmlns:p14="http://schemas.microsoft.com/office/powerpoint/2010/main" val="1352923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46-51)  </a:t>
            </a:r>
            <a:br>
              <a:rPr lang="en-US" dirty="0"/>
            </a:br>
            <a:r>
              <a:rPr lang="en-US" dirty="0"/>
              <a:t>Step 7 – String Manipulation</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12025222" cy="5544284"/>
          </a:xfrm>
        </p:spPr>
        <p:txBody>
          <a:bodyPr>
            <a:noAutofit/>
          </a:bodyPr>
          <a:lstStyle/>
          <a:p>
            <a:pPr marL="0" indent="0" algn="l">
              <a:buNone/>
            </a:pPr>
            <a:endParaRPr lang="en-US" sz="2400" dirty="0"/>
          </a:p>
          <a:p>
            <a:pPr marL="0" indent="0" algn="l">
              <a:buNone/>
            </a:pPr>
            <a:r>
              <a:rPr lang="en-US" sz="2400" dirty="0"/>
              <a:t>7. Let's implement the String Manipulation node, dragging it from the repository and connecting the output of the previous node with the input of this new one. </a:t>
            </a:r>
          </a:p>
          <a:p>
            <a:pPr marL="0" indent="0" algn="l">
              <a:buNone/>
            </a:pPr>
            <a:r>
              <a:rPr lang="en-US" sz="2400" dirty="0"/>
              <a:t>Double-click on the node and its configuration dialog appears. </a:t>
            </a:r>
          </a:p>
          <a:p>
            <a:pPr marL="0" indent="0" algn="l">
              <a:buNone/>
            </a:pPr>
            <a:r>
              <a:rPr lang="en-US" sz="2400" dirty="0"/>
              <a:t>Let's start with the column First name. </a:t>
            </a:r>
          </a:p>
          <a:p>
            <a:pPr marL="0" indent="0" algn="l">
              <a:buNone/>
            </a:pPr>
            <a:r>
              <a:rPr lang="en-US" sz="2400" dirty="0"/>
              <a:t>We want to see a nice upper-case character at the beginning of every word and we also require whitespaces to be stripped from both ends of the string. </a:t>
            </a:r>
          </a:p>
          <a:p>
            <a:pPr marL="0" indent="0" algn="l">
              <a:buNone/>
            </a:pPr>
            <a:r>
              <a:rPr lang="en-US" sz="2400" dirty="0"/>
              <a:t>Let's build the expression by double-clicking first on capitalize() and strip() from the Function box and then on First name from the Column list. </a:t>
            </a:r>
          </a:p>
          <a:p>
            <a:pPr marL="0" indent="0" algn="l">
              <a:buNone/>
            </a:pPr>
            <a:r>
              <a:rPr lang="en-US" sz="2400" dirty="0"/>
              <a:t>By clicking in this order, we should have obtained the expression capitalize(strip($First name$)), which is exactly what we wanted. </a:t>
            </a:r>
          </a:p>
          <a:p>
            <a:pPr marL="0" indent="0" algn="l">
              <a:buNone/>
            </a:pPr>
            <a:r>
              <a:rPr lang="en-US" sz="2400" dirty="0"/>
              <a:t>In this case, we want to substitute the raw version of the first name with the result of this expression, so we need to select Replace column and then First name. We are all set so we can click on OK and close the window.</a:t>
            </a:r>
          </a:p>
        </p:txBody>
      </p:sp>
      <p:pic>
        <p:nvPicPr>
          <p:cNvPr id="5" name="Picture 4">
            <a:extLst>
              <a:ext uri="{FF2B5EF4-FFF2-40B4-BE49-F238E27FC236}">
                <a16:creationId xmlns:a16="http://schemas.microsoft.com/office/drawing/2014/main" id="{51530EE3-BAA4-68B7-B960-4D51860D1223}"/>
              </a:ext>
            </a:extLst>
          </p:cNvPr>
          <p:cNvPicPr>
            <a:picLocks noChangeAspect="1"/>
          </p:cNvPicPr>
          <p:nvPr/>
        </p:nvPicPr>
        <p:blipFill>
          <a:blip r:embed="rId2"/>
          <a:stretch>
            <a:fillRect/>
          </a:stretch>
        </p:blipFill>
        <p:spPr>
          <a:xfrm>
            <a:off x="8007439" y="228555"/>
            <a:ext cx="4086795" cy="600159"/>
          </a:xfrm>
          <a:prstGeom prst="rect">
            <a:avLst/>
          </a:prstGeom>
        </p:spPr>
      </p:pic>
    </p:spTree>
    <p:extLst>
      <p:ext uri="{BB962C8B-B14F-4D97-AF65-F5344CB8AC3E}">
        <p14:creationId xmlns:p14="http://schemas.microsoft.com/office/powerpoint/2010/main" val="1165996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51)  </a:t>
            </a:r>
            <a:br>
              <a:rPr lang="en-US" dirty="0"/>
            </a:br>
            <a:r>
              <a:rPr lang="en-US" dirty="0"/>
              <a:t>Step 8 – String Manipulation</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12025222" cy="5544284"/>
          </a:xfrm>
        </p:spPr>
        <p:txBody>
          <a:bodyPr>
            <a:noAutofit/>
          </a:bodyPr>
          <a:lstStyle/>
          <a:p>
            <a:pPr marL="0" indent="0" algn="l">
              <a:buNone/>
            </a:pPr>
            <a:endParaRPr lang="en-US" sz="2400" dirty="0"/>
          </a:p>
          <a:p>
            <a:pPr marL="0" indent="0" algn="l">
              <a:buNone/>
            </a:pPr>
            <a:r>
              <a:rPr lang="en-US" sz="2400" dirty="0"/>
              <a:t>8. </a:t>
            </a:r>
            <a:r>
              <a:rPr lang="en-US" sz="2400" b="0" i="0" u="none" strike="noStrike" baseline="0" dirty="0">
                <a:latin typeface="BookAntiqua"/>
              </a:rPr>
              <a:t>Now we want to repeat the same for the surname. </a:t>
            </a:r>
          </a:p>
          <a:p>
            <a:pPr marL="0" indent="0" algn="l">
              <a:buNone/>
            </a:pPr>
            <a:r>
              <a:rPr lang="en-US" sz="2400" b="0" i="0" u="none" strike="noStrike" baseline="0" dirty="0">
                <a:latin typeface="BookAntiqua"/>
              </a:rPr>
              <a:t>We'll use another String Manipulation node for it. To make it faster we can also copy and paste the icon of the node from the Workflow Editor, with the usual </a:t>
            </a:r>
            <a:r>
              <a:rPr lang="en-US" sz="2400" b="0" i="1" u="none" strike="noStrike" baseline="0" dirty="0">
                <a:latin typeface="BookAntiqua-Italic"/>
              </a:rPr>
              <a:t>Ctrl </a:t>
            </a:r>
            <a:r>
              <a:rPr lang="en-US" sz="2400" b="0" i="0" u="none" strike="noStrike" baseline="0" dirty="0">
                <a:latin typeface="BookAntiqua"/>
              </a:rPr>
              <a:t>+ </a:t>
            </a:r>
            <a:r>
              <a:rPr lang="en-US" sz="2400" b="0" i="1" u="none" strike="noStrike" baseline="0" dirty="0">
                <a:latin typeface="BookAntiqua-Italic"/>
              </a:rPr>
              <a:t>C </a:t>
            </a:r>
            <a:r>
              <a:rPr lang="en-US" sz="2400" b="0" i="0" u="none" strike="noStrike" baseline="0" dirty="0">
                <a:latin typeface="BookAntiqua"/>
              </a:rPr>
              <a:t>and </a:t>
            </a:r>
            <a:r>
              <a:rPr lang="en-US" sz="2400" b="0" i="1" u="none" strike="noStrike" baseline="0" dirty="0">
                <a:latin typeface="BookAntiqua-Italic"/>
              </a:rPr>
              <a:t>Ctrl </a:t>
            </a:r>
            <a:r>
              <a:rPr lang="en-US" sz="2400" b="0" i="0" u="none" strike="noStrike" baseline="0" dirty="0">
                <a:latin typeface="BookAntiqua"/>
              </a:rPr>
              <a:t>+ </a:t>
            </a:r>
            <a:r>
              <a:rPr lang="en-US" sz="2400" b="0" i="1" u="none" strike="noStrike" baseline="0" dirty="0">
                <a:latin typeface="BookAntiqua-Italic"/>
              </a:rPr>
              <a:t>V </a:t>
            </a:r>
            <a:r>
              <a:rPr lang="en-US" sz="2400" b="0" i="0" u="none" strike="noStrike" baseline="0" dirty="0">
                <a:latin typeface="BookAntiqua"/>
              </a:rPr>
              <a:t>key combinations. </a:t>
            </a:r>
          </a:p>
          <a:p>
            <a:pPr marL="0" indent="0" algn="l">
              <a:buNone/>
            </a:pPr>
            <a:r>
              <a:rPr lang="en-US" sz="2400" b="0" i="0" u="none" strike="noStrike" baseline="0" dirty="0">
                <a:latin typeface="BookAntiqua"/>
              </a:rPr>
              <a:t>We need to repeat the configuration described in the previous step: the only difference is that now we apply it to column </a:t>
            </a:r>
            <a:r>
              <a:rPr lang="en-US" sz="2400" b="0" i="0" u="none" strike="noStrike" baseline="0" dirty="0">
                <a:latin typeface="Consolas" panose="020B0609020204030204" pitchFamily="49" charset="0"/>
              </a:rPr>
              <a:t>Surname </a:t>
            </a:r>
            <a:r>
              <a:rPr lang="en-US" sz="2400" b="0" i="0" u="none" strike="noStrike" baseline="0" dirty="0">
                <a:latin typeface="BookAntiqua"/>
              </a:rPr>
              <a:t>instead of </a:t>
            </a:r>
            <a:r>
              <a:rPr lang="en-US" sz="2400" b="0" i="0" u="none" strike="noStrike" baseline="0" dirty="0">
                <a:latin typeface="Consolas" panose="020B0609020204030204" pitchFamily="49" charset="0"/>
              </a:rPr>
              <a:t>First name</a:t>
            </a:r>
            <a:r>
              <a:rPr lang="en-US" sz="2400" b="0" i="0" u="none" strike="noStrike" baseline="0" dirty="0">
                <a:latin typeface="BookAntiqua"/>
              </a:rPr>
              <a:t>. </a:t>
            </a:r>
          </a:p>
          <a:p>
            <a:pPr marL="0" indent="0" algn="l">
              <a:buNone/>
            </a:pPr>
            <a:r>
              <a:rPr lang="en-US" sz="2400" b="0" i="0" u="none" strike="noStrike" baseline="0" dirty="0">
                <a:latin typeface="BookAntiqua"/>
              </a:rPr>
              <a:t>Make sure that both the expression and the </a:t>
            </a:r>
            <a:r>
              <a:rPr lang="en-US" sz="2400" b="1" i="0" u="none" strike="noStrike" baseline="0" dirty="0">
                <a:latin typeface="BookAntiqua-Bold"/>
              </a:rPr>
              <a:t>Replace column </a:t>
            </a:r>
            <a:r>
              <a:rPr lang="en-US" sz="2400" b="0" i="0" u="none" strike="noStrike" baseline="0" dirty="0">
                <a:latin typeface="BookAntiqua"/>
              </a:rPr>
              <a:t>setting refer to </a:t>
            </a:r>
            <a:r>
              <a:rPr lang="en-US" sz="2400" b="0" i="0" u="none" strike="noStrike" baseline="0" dirty="0">
                <a:latin typeface="Consolas" panose="020B0609020204030204" pitchFamily="49" charset="0"/>
              </a:rPr>
              <a:t>Surname </a:t>
            </a:r>
            <a:r>
              <a:rPr lang="en-US" sz="2400" b="0" i="0" u="none" strike="noStrike" baseline="0" dirty="0">
                <a:latin typeface="BookAntiqua"/>
              </a:rPr>
              <a:t>this time.</a:t>
            </a:r>
            <a:endParaRPr lang="en-US" sz="2400" dirty="0"/>
          </a:p>
        </p:txBody>
      </p:sp>
      <p:pic>
        <p:nvPicPr>
          <p:cNvPr id="5" name="Picture 4">
            <a:extLst>
              <a:ext uri="{FF2B5EF4-FFF2-40B4-BE49-F238E27FC236}">
                <a16:creationId xmlns:a16="http://schemas.microsoft.com/office/drawing/2014/main" id="{51530EE3-BAA4-68B7-B960-4D51860D1223}"/>
              </a:ext>
            </a:extLst>
          </p:cNvPr>
          <p:cNvPicPr>
            <a:picLocks noChangeAspect="1"/>
          </p:cNvPicPr>
          <p:nvPr/>
        </p:nvPicPr>
        <p:blipFill>
          <a:blip r:embed="rId2"/>
          <a:stretch>
            <a:fillRect/>
          </a:stretch>
        </p:blipFill>
        <p:spPr>
          <a:xfrm>
            <a:off x="8007439" y="228555"/>
            <a:ext cx="4086795" cy="600159"/>
          </a:xfrm>
          <a:prstGeom prst="rect">
            <a:avLst/>
          </a:prstGeom>
        </p:spPr>
      </p:pic>
    </p:spTree>
    <p:extLst>
      <p:ext uri="{BB962C8B-B14F-4D97-AF65-F5344CB8AC3E}">
        <p14:creationId xmlns:p14="http://schemas.microsoft.com/office/powerpoint/2010/main" val="3809356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51)  </a:t>
            </a:r>
            <a:br>
              <a:rPr lang="en-US" dirty="0"/>
            </a:br>
            <a:r>
              <a:rPr lang="en-US" dirty="0"/>
              <a:t>Step 9 – String Manipulation</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12025222" cy="5544284"/>
          </a:xfrm>
        </p:spPr>
        <p:txBody>
          <a:bodyPr>
            <a:noAutofit/>
          </a:bodyPr>
          <a:lstStyle/>
          <a:p>
            <a:pPr marL="0" indent="0" algn="l">
              <a:buNone/>
            </a:pPr>
            <a:r>
              <a:rPr lang="en-US" sz="2000" dirty="0"/>
              <a:t>9. </a:t>
            </a:r>
            <a:r>
              <a:rPr lang="en-US" sz="2000" b="0" i="0" u="none" strike="noStrike" baseline="0" dirty="0">
                <a:latin typeface="BookAntiqua"/>
              </a:rPr>
              <a:t>Both parts of the name look fine now as they show no extra spaces and boast good-looking capitalization. As required by our business case, we need to create a new column carrying the full name of each user, combining first name and surname. </a:t>
            </a:r>
          </a:p>
          <a:p>
            <a:pPr marL="0" indent="0" algn="l">
              <a:buNone/>
            </a:pPr>
            <a:r>
              <a:rPr lang="en-US" sz="2000" b="0" i="0" u="none" strike="noStrike" baseline="0" dirty="0">
                <a:latin typeface="BookAntiqua"/>
              </a:rPr>
              <a:t>Once again, we can use the String Manipulation node for this: let's get one more node of these in the Workflow Editor, make the connection, and open the configuration page. This time, we need to concatenate two strings so we can leverage the </a:t>
            </a:r>
            <a:r>
              <a:rPr lang="en-US" sz="2000" b="0" i="0" u="none" strike="noStrike" baseline="0" dirty="0">
                <a:latin typeface="Consolas" panose="020B0609020204030204" pitchFamily="49" charset="0"/>
              </a:rPr>
              <a:t>join() </a:t>
            </a:r>
            <a:r>
              <a:rPr lang="en-US" sz="2000" b="0" i="0" u="none" strike="noStrike" baseline="0" dirty="0">
                <a:latin typeface="BookAntiqua"/>
              </a:rPr>
              <a:t>function. </a:t>
            </a:r>
          </a:p>
          <a:p>
            <a:pPr marL="0" indent="0" algn="l">
              <a:buNone/>
            </a:pPr>
            <a:r>
              <a:rPr lang="en-US" sz="2000" b="0" i="0" u="none" strike="noStrike" baseline="0" dirty="0">
                <a:latin typeface="BookAntiqua"/>
              </a:rPr>
              <a:t>Let's double-click first on </a:t>
            </a:r>
            <a:r>
              <a:rPr lang="en-US" sz="2000" b="0" i="0" u="none" strike="noStrike" baseline="0" dirty="0">
                <a:latin typeface="Consolas" panose="020B0609020204030204" pitchFamily="49" charset="0"/>
              </a:rPr>
              <a:t>join() </a:t>
            </a:r>
            <a:r>
              <a:rPr lang="en-US" sz="2000" b="0" i="0" u="none" strike="noStrike" baseline="0" dirty="0">
                <a:latin typeface="BookAntiqua"/>
              </a:rPr>
              <a:t>from the </a:t>
            </a:r>
            <a:r>
              <a:rPr lang="en-US" sz="2000" b="1" i="0" u="none" strike="noStrike" baseline="0" dirty="0">
                <a:latin typeface="BookAntiqua-Bold"/>
              </a:rPr>
              <a:t>Function </a:t>
            </a:r>
            <a:r>
              <a:rPr lang="en-US" sz="2000" b="0" i="0" u="none" strike="noStrike" baseline="0" dirty="0">
                <a:latin typeface="BookAntiqua"/>
              </a:rPr>
              <a:t>box and then on </a:t>
            </a:r>
            <a:r>
              <a:rPr lang="en-US" sz="2000" b="0" i="0" u="none" strike="noStrike" baseline="0" dirty="0">
                <a:latin typeface="Consolas" panose="020B0609020204030204" pitchFamily="49" charset="0"/>
              </a:rPr>
              <a:t>First name </a:t>
            </a:r>
            <a:r>
              <a:rPr lang="en-US" sz="2000" b="0" i="0" u="none" strike="noStrike" baseline="0" dirty="0">
                <a:latin typeface="BookAntiqua"/>
              </a:rPr>
              <a:t>from the </a:t>
            </a:r>
            <a:r>
              <a:rPr lang="en-US" sz="2000" b="1" i="0" u="none" strike="noStrike" baseline="0" dirty="0">
                <a:latin typeface="BookAntiqua-Bold"/>
              </a:rPr>
              <a:t>Column list</a:t>
            </a:r>
            <a:r>
              <a:rPr lang="en-US" sz="2000" b="0" i="0" u="none" strike="noStrike" baseline="0" dirty="0">
                <a:latin typeface="BookAntiqua"/>
              </a:rPr>
              <a:t>. Since we want names and surnames to be separated by a blank space, we need to add this character on the expression, by typing the sequence </a:t>
            </a:r>
            <a:r>
              <a:rPr lang="en-US" sz="2000" b="0" i="0" u="none" strike="noStrike" baseline="0" dirty="0">
                <a:latin typeface="Consolas" panose="020B0609020204030204" pitchFamily="49" charset="0"/>
              </a:rPr>
              <a:t>," ", </a:t>
            </a:r>
            <a:r>
              <a:rPr lang="en-US" sz="2000" b="0" i="0" u="none" strike="noStrike" baseline="0" dirty="0">
                <a:latin typeface="BookAntiqua"/>
              </a:rPr>
              <a:t>in the expression box just after </a:t>
            </a:r>
            <a:r>
              <a:rPr lang="en-US" sz="2000" b="0" i="0" u="none" strike="noStrike" baseline="0" dirty="0">
                <a:latin typeface="Consolas" panose="020B0609020204030204" pitchFamily="49" charset="0"/>
              </a:rPr>
              <a:t>$First name$</a:t>
            </a:r>
            <a:r>
              <a:rPr lang="en-US" sz="2000" b="0" i="0" u="none" strike="noStrike" baseline="0" dirty="0">
                <a:latin typeface="BookAntiqua"/>
              </a:rPr>
              <a:t>. </a:t>
            </a:r>
          </a:p>
          <a:p>
            <a:pPr marL="0" indent="0" algn="l">
              <a:buNone/>
            </a:pPr>
            <a:r>
              <a:rPr lang="en-US" sz="2000" b="0" i="0" u="none" strike="noStrike" baseline="0" dirty="0">
                <a:latin typeface="BookAntiqua"/>
              </a:rPr>
              <a:t>We complete the expression by double-clicking on the column </a:t>
            </a:r>
            <a:r>
              <a:rPr lang="en-US" sz="2000" b="0" i="0" u="none" strike="noStrike" baseline="0" dirty="0">
                <a:latin typeface="Consolas" panose="020B0609020204030204" pitchFamily="49" charset="0"/>
              </a:rPr>
              <a:t>Surname </a:t>
            </a:r>
            <a:r>
              <a:rPr lang="en-US" sz="2000" b="0" i="0" u="none" strike="noStrike" baseline="0" dirty="0">
                <a:latin typeface="BookAntiqua"/>
              </a:rPr>
              <a:t>and we are done. The overall expression should be: </a:t>
            </a:r>
            <a:r>
              <a:rPr lang="en-US" sz="2000" b="0" i="0" u="none" strike="noStrike" baseline="0" dirty="0">
                <a:latin typeface="Consolas" panose="020B0609020204030204" pitchFamily="49" charset="0"/>
              </a:rPr>
              <a:t>join($First name$," ",$Surname$)</a:t>
            </a:r>
            <a:r>
              <a:rPr lang="en-US" sz="2000" b="0" i="0" u="none" strike="noStrike" baseline="0" dirty="0">
                <a:latin typeface="BookAntiqua"/>
              </a:rPr>
              <a:t>. </a:t>
            </a:r>
          </a:p>
          <a:p>
            <a:pPr marL="0" indent="0" algn="l">
              <a:buNone/>
            </a:pPr>
            <a:r>
              <a:rPr lang="en-US" sz="2000" b="0" i="0" u="none" strike="noStrike" baseline="0" dirty="0">
                <a:latin typeface="BookAntiqua"/>
              </a:rPr>
              <a:t>Before closing, we need to decide where to store the result. </a:t>
            </a:r>
          </a:p>
          <a:p>
            <a:pPr marL="0" indent="0" algn="l">
              <a:buNone/>
            </a:pPr>
            <a:r>
              <a:rPr lang="en-US" sz="2000" b="0" i="0" u="none" strike="noStrike" baseline="0" dirty="0">
                <a:latin typeface="BookAntiqua"/>
              </a:rPr>
              <a:t>This time we want to create a new column so we select </a:t>
            </a:r>
            <a:br>
              <a:rPr lang="en-US" sz="2000" b="0" i="0" u="none" strike="noStrike" baseline="0" dirty="0">
                <a:latin typeface="BookAntiqua"/>
              </a:rPr>
            </a:br>
            <a:r>
              <a:rPr lang="en-US" sz="2000" b="1" i="0" u="none" strike="noStrike" baseline="0" dirty="0">
                <a:latin typeface="BookAntiqua-Bold"/>
              </a:rPr>
              <a:t>Append </a:t>
            </a:r>
            <a:r>
              <a:rPr lang="en-US" sz="2000" b="0" i="0" u="none" strike="noStrike" baseline="0" dirty="0">
                <a:latin typeface="BookAntiqua"/>
              </a:rPr>
              <a:t>and then type the name of the new column, </a:t>
            </a:r>
            <a:br>
              <a:rPr lang="en-US" sz="2000" b="0" i="0" u="none" strike="noStrike" baseline="0" dirty="0">
                <a:latin typeface="BookAntiqua"/>
              </a:rPr>
            </a:br>
            <a:r>
              <a:rPr lang="en-US" sz="2000" b="0" i="0" u="none" strike="noStrike" baseline="0" dirty="0">
                <a:latin typeface="BookAntiqua"/>
              </a:rPr>
              <a:t>which could be Full name. </a:t>
            </a:r>
          </a:p>
          <a:p>
            <a:pPr marL="0" indent="0" algn="l">
              <a:buNone/>
            </a:pPr>
            <a:r>
              <a:rPr lang="en-US" sz="2000" b="0" i="0" u="none" strike="noStrike" baseline="0" dirty="0">
                <a:latin typeface="BookAntiqua"/>
              </a:rPr>
              <a:t>Click on </a:t>
            </a:r>
            <a:r>
              <a:rPr lang="en-US" sz="2000" b="1" i="0" u="none" strike="noStrike" baseline="0" dirty="0">
                <a:latin typeface="BookAntiqua-Bold"/>
              </a:rPr>
              <a:t>OK </a:t>
            </a:r>
            <a:r>
              <a:rPr lang="en-US" sz="2000" b="0" i="0" u="none" strike="noStrike" baseline="0" dirty="0">
                <a:latin typeface="BookAntiqua"/>
              </a:rPr>
              <a:t>and check the results.</a:t>
            </a:r>
            <a:endParaRPr lang="en-US" sz="2000" dirty="0"/>
          </a:p>
        </p:txBody>
      </p:sp>
      <p:pic>
        <p:nvPicPr>
          <p:cNvPr id="5" name="Picture 4">
            <a:extLst>
              <a:ext uri="{FF2B5EF4-FFF2-40B4-BE49-F238E27FC236}">
                <a16:creationId xmlns:a16="http://schemas.microsoft.com/office/drawing/2014/main" id="{51530EE3-BAA4-68B7-B960-4D51860D1223}"/>
              </a:ext>
            </a:extLst>
          </p:cNvPr>
          <p:cNvPicPr>
            <a:picLocks noChangeAspect="1"/>
          </p:cNvPicPr>
          <p:nvPr/>
        </p:nvPicPr>
        <p:blipFill>
          <a:blip r:embed="rId2"/>
          <a:stretch>
            <a:fillRect/>
          </a:stretch>
        </p:blipFill>
        <p:spPr>
          <a:xfrm>
            <a:off x="8007439" y="228555"/>
            <a:ext cx="4086795" cy="600159"/>
          </a:xfrm>
          <a:prstGeom prst="rect">
            <a:avLst/>
          </a:prstGeom>
        </p:spPr>
      </p:pic>
      <p:pic>
        <p:nvPicPr>
          <p:cNvPr id="6" name="Picture 5">
            <a:extLst>
              <a:ext uri="{FF2B5EF4-FFF2-40B4-BE49-F238E27FC236}">
                <a16:creationId xmlns:a16="http://schemas.microsoft.com/office/drawing/2014/main" id="{80BB86AD-5AF5-E688-FA81-E309BEC83580}"/>
              </a:ext>
            </a:extLst>
          </p:cNvPr>
          <p:cNvPicPr>
            <a:picLocks noChangeAspect="1"/>
          </p:cNvPicPr>
          <p:nvPr/>
        </p:nvPicPr>
        <p:blipFill>
          <a:blip r:embed="rId3"/>
          <a:stretch>
            <a:fillRect/>
          </a:stretch>
        </p:blipFill>
        <p:spPr>
          <a:xfrm>
            <a:off x="6312768" y="4650541"/>
            <a:ext cx="5781466" cy="2054186"/>
          </a:xfrm>
          <a:prstGeom prst="rect">
            <a:avLst/>
          </a:prstGeom>
        </p:spPr>
      </p:pic>
    </p:spTree>
    <p:extLst>
      <p:ext uri="{BB962C8B-B14F-4D97-AF65-F5344CB8AC3E}">
        <p14:creationId xmlns:p14="http://schemas.microsoft.com/office/powerpoint/2010/main" val="2845043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52-55)  </a:t>
            </a:r>
            <a:br>
              <a:rPr lang="en-US" dirty="0"/>
            </a:br>
            <a:r>
              <a:rPr lang="en-US" dirty="0"/>
              <a:t>Steps 10-11 –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11075238" cy="5544284"/>
          </a:xfrm>
        </p:spPr>
        <p:txBody>
          <a:bodyPr>
            <a:noAutofit/>
          </a:bodyPr>
          <a:lstStyle/>
          <a:p>
            <a:pPr marL="0" indent="0" algn="l">
              <a:buNone/>
            </a:pPr>
            <a:br>
              <a:rPr lang="en-US" dirty="0"/>
            </a:br>
            <a:r>
              <a:rPr lang="en-US" dirty="0"/>
              <a:t>This node (Manipulation &gt; Row &gt; Filter) applies filters on rows according to the criteria you specify. Such criteria can either be based on values of a specific column to test (like all strings starting with A or all numbers greater than 5.2) or on the position of the row in the table (for instance only the top 20 rows). </a:t>
            </a:r>
            <a:br>
              <a:rPr lang="en-US" dirty="0"/>
            </a:br>
            <a:endParaRPr lang="en-US" dirty="0"/>
          </a:p>
          <a:p>
            <a:pPr marL="0" indent="0" algn="l">
              <a:buNone/>
            </a:pPr>
            <a:r>
              <a:rPr lang="en-US" dirty="0"/>
              <a:t>To configure the node, you need to first specify the type of criteria you would like to apply using the selector on the left. You also need to specify if those rows that match your criteria should be kept in your workflow (Include rows...) or should be dropped, keeping all others (Exclude rows...).</a:t>
            </a:r>
          </a:p>
        </p:txBody>
      </p:sp>
      <p:pic>
        <p:nvPicPr>
          <p:cNvPr id="7" name="Picture 6">
            <a:extLst>
              <a:ext uri="{FF2B5EF4-FFF2-40B4-BE49-F238E27FC236}">
                <a16:creationId xmlns:a16="http://schemas.microsoft.com/office/drawing/2014/main" id="{2F67C518-3BDE-8FB6-D998-825D814D2DE0}"/>
              </a:ext>
            </a:extLst>
          </p:cNvPr>
          <p:cNvPicPr>
            <a:picLocks noChangeAspect="1"/>
          </p:cNvPicPr>
          <p:nvPr/>
        </p:nvPicPr>
        <p:blipFill>
          <a:blip r:embed="rId2"/>
          <a:stretch>
            <a:fillRect/>
          </a:stretch>
        </p:blipFill>
        <p:spPr>
          <a:xfrm>
            <a:off x="7710303" y="228555"/>
            <a:ext cx="3528465" cy="815241"/>
          </a:xfrm>
          <a:prstGeom prst="rect">
            <a:avLst/>
          </a:prstGeom>
        </p:spPr>
      </p:pic>
    </p:spTree>
    <p:extLst>
      <p:ext uri="{BB962C8B-B14F-4D97-AF65-F5344CB8AC3E}">
        <p14:creationId xmlns:p14="http://schemas.microsoft.com/office/powerpoint/2010/main" val="1261415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52-55)  </a:t>
            </a:r>
            <a:br>
              <a:rPr lang="en-US" dirty="0"/>
            </a:br>
            <a:r>
              <a:rPr lang="en-US" dirty="0"/>
              <a:t>Steps 10-11 –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12025222" cy="5544284"/>
          </a:xfrm>
        </p:spPr>
        <p:txBody>
          <a:bodyPr>
            <a:noAutofit/>
          </a:bodyPr>
          <a:lstStyle/>
          <a:p>
            <a:pPr marL="0" indent="0" algn="l">
              <a:buNone/>
            </a:pPr>
            <a:br>
              <a:rPr lang="en-US" dirty="0"/>
            </a:br>
            <a:r>
              <a:rPr lang="en-US" dirty="0"/>
              <a:t>You have multiple ways to specify the criteria behind your row filtering:</a:t>
            </a:r>
          </a:p>
          <a:p>
            <a:pPr algn="l"/>
            <a:r>
              <a:rPr lang="en-US" sz="2400" b="0" i="0" u="none" strike="noStrike" baseline="0" dirty="0">
                <a:latin typeface="BookAntiqua"/>
              </a:rPr>
              <a:t>Filter by </a:t>
            </a:r>
            <a:r>
              <a:rPr lang="en-US" sz="2400" b="1" i="0" u="none" strike="noStrike" baseline="0" dirty="0">
                <a:latin typeface="BookAntiqua-Bold"/>
              </a:rPr>
              <a:t>attribute value</a:t>
            </a:r>
            <a:r>
              <a:rPr lang="en-US" sz="2400" b="0" i="0" u="none" strike="noStrike" baseline="0" dirty="0">
                <a:latin typeface="BookAntiqua"/>
              </a:rPr>
              <a:t>: In this case, you will be presented on the right with the full list of columns available so that you can pick the one to consider for the filtering (</a:t>
            </a:r>
            <a:r>
              <a:rPr lang="en-US" sz="2400" b="1" i="0" u="none" strike="noStrike" baseline="0" dirty="0">
                <a:latin typeface="BookAntiqua-Bold"/>
              </a:rPr>
              <a:t>Column to test</a:t>
            </a:r>
            <a:r>
              <a:rPr lang="en-US" sz="2400" b="0" i="0" u="none" strike="noStrike" baseline="0" dirty="0">
                <a:latin typeface="BookAntiqua"/>
              </a:rPr>
              <a:t>). Once you pick the column, you need to describe the logic for the selection in the box below (</a:t>
            </a:r>
            <a:r>
              <a:rPr lang="en-US" sz="2400" b="1" i="0" u="none" strike="noStrike" baseline="0" dirty="0">
                <a:latin typeface="BookAntiqua-Bold"/>
              </a:rPr>
              <a:t>Matching criteria</a:t>
            </a:r>
            <a:r>
              <a:rPr lang="en-US" sz="2400" b="0" i="0" u="none" strike="noStrike" baseline="0" dirty="0">
                <a:latin typeface="BookAntiqua"/>
              </a:rPr>
              <a:t>). You have three options:</a:t>
            </a:r>
          </a:p>
          <a:p>
            <a:pPr algn="l"/>
            <a:r>
              <a:rPr lang="en-US" sz="2400" b="0" i="0" u="none" strike="noStrike" baseline="0" dirty="0">
                <a:latin typeface="BookAntiqua"/>
              </a:rPr>
              <a:t>The first one (</a:t>
            </a:r>
            <a:r>
              <a:rPr lang="en-US" sz="2400" b="1" i="0" u="none" strike="noStrike" baseline="0" dirty="0">
                <a:latin typeface="BookAntiqua-Bold"/>
              </a:rPr>
              <a:t>use pattern matching</a:t>
            </a:r>
            <a:r>
              <a:rPr lang="en-US" sz="2400" b="0" i="0" u="none" strike="noStrike" baseline="0" dirty="0">
                <a:latin typeface="BookAntiqua"/>
              </a:rPr>
              <a:t>) will check if the value (considered as a string) adheres to the pattern you specify in the textbox. You can enter a specific value like </a:t>
            </a:r>
            <a:r>
              <a:rPr lang="en-US" sz="2400" b="0" i="0" u="none" strike="noStrike" baseline="0" dirty="0">
                <a:latin typeface="Consolas" panose="020B0609020204030204" pitchFamily="49" charset="0"/>
              </a:rPr>
              <a:t>maria</a:t>
            </a:r>
            <a:r>
              <a:rPr lang="en-US" sz="2400" b="0" i="0" u="none" strike="noStrike" baseline="0" dirty="0">
                <a:latin typeface="BookAntiqua"/>
              </a:rPr>
              <a:t>: this will match rows like "MARIA" or "Maria,“ unless you check the </a:t>
            </a:r>
            <a:r>
              <a:rPr lang="en-US" sz="2400" b="1" i="0" u="none" strike="noStrike" baseline="0" dirty="0">
                <a:latin typeface="BookAntiqua-Bold"/>
              </a:rPr>
              <a:t>case sensitive match </a:t>
            </a:r>
            <a:r>
              <a:rPr lang="en-US" sz="2400" b="0" i="0" u="none" strike="noStrike" baseline="0" dirty="0">
                <a:latin typeface="BookAntiqua"/>
              </a:rPr>
              <a:t>option, which would consider the lower and upper cases as different. Another option is to use wild cards in your search pattern (remember to tick </a:t>
            </a:r>
            <a:r>
              <a:rPr lang="en-US" sz="2400" b="1" i="0" u="none" strike="noStrike" baseline="0" dirty="0">
                <a:latin typeface="BookAntiqua-Bold"/>
              </a:rPr>
              <a:t>contains wild cards</a:t>
            </a:r>
            <a:r>
              <a:rPr lang="en-US" sz="2400" b="0" i="0" u="none" strike="noStrike" baseline="0" dirty="0">
                <a:latin typeface="BookAntiqua"/>
              </a:rPr>
              <a:t>): in this case, the star character </a:t>
            </a:r>
            <a:r>
              <a:rPr lang="en-US" sz="2400" b="0" i="0" u="none" strike="noStrike" baseline="0" dirty="0">
                <a:latin typeface="Consolas" panose="020B0609020204030204" pitchFamily="49" charset="0"/>
              </a:rPr>
              <a:t>"*" </a:t>
            </a:r>
            <a:r>
              <a:rPr lang="en-US" sz="2400" b="0" i="0" u="none" strike="noStrike" baseline="0" dirty="0">
                <a:latin typeface="BookAntiqua"/>
              </a:rPr>
              <a:t>will stand for any sequence of characters (so </a:t>
            </a:r>
            <a:r>
              <a:rPr lang="en-US" sz="2400" b="0" i="0" u="none" strike="noStrike" baseline="0" dirty="0">
                <a:latin typeface="Consolas" panose="020B0609020204030204" pitchFamily="49" charset="0"/>
              </a:rPr>
              <a:t>"M*" </a:t>
            </a:r>
            <a:r>
              <a:rPr lang="en-US" sz="2400" b="0" i="0" u="none" strike="noStrike" baseline="0" dirty="0">
                <a:latin typeface="BookAntiqua"/>
              </a:rPr>
              <a:t>selects all names starting with </a:t>
            </a:r>
            <a:r>
              <a:rPr lang="en-US" sz="2400" b="0" i="0" u="none" strike="noStrike" baseline="0" dirty="0">
                <a:latin typeface="Consolas" panose="020B0609020204030204" pitchFamily="49" charset="0"/>
              </a:rPr>
              <a:t>"M" </a:t>
            </a:r>
            <a:r>
              <a:rPr lang="en-US" sz="2400" b="0" i="0" u="none" strike="noStrike" baseline="0" dirty="0">
                <a:latin typeface="BookAntiqua"/>
              </a:rPr>
              <a:t>like "Mary" and "Mario") while the question mark </a:t>
            </a:r>
            <a:r>
              <a:rPr lang="en-US" sz="2400" b="0" i="0" u="none" strike="noStrike" baseline="0" dirty="0">
                <a:latin typeface="Consolas" panose="020B0609020204030204" pitchFamily="49" charset="0"/>
              </a:rPr>
              <a:t>"?" </a:t>
            </a:r>
            <a:r>
              <a:rPr lang="en-US" sz="2400" b="0" i="0" u="none" strike="noStrike" baseline="0" dirty="0">
                <a:latin typeface="BookAntiqua"/>
              </a:rPr>
              <a:t>will match any single character (</a:t>
            </a:r>
            <a:r>
              <a:rPr lang="en-US" sz="2400" b="0" i="0" u="none" strike="noStrike" baseline="0" dirty="0">
                <a:latin typeface="Consolas" panose="020B0609020204030204" pitchFamily="49" charset="0"/>
              </a:rPr>
              <a:t>"H?" </a:t>
            </a:r>
            <a:r>
              <a:rPr lang="en-US" sz="2400" b="0" i="0" u="none" strike="noStrike" baseline="0" dirty="0">
                <a:latin typeface="BookAntiqua"/>
              </a:rPr>
              <a:t>refers to any string of two characters starting with "H," so it will include "Hi" and exclude "Hello"). If you want to implement more complex searches, you could also use the powerful </a:t>
            </a:r>
            <a:r>
              <a:rPr lang="en-US" sz="2400" b="1" i="0" u="none" strike="noStrike" baseline="0" dirty="0">
                <a:latin typeface="BookAntiqua-Bold"/>
              </a:rPr>
              <a:t>Regular Expressions </a:t>
            </a:r>
            <a:r>
              <a:rPr lang="en-US" sz="2400" b="0" i="0" u="none" strike="noStrike" baseline="0" dirty="0">
                <a:latin typeface="BookAntiqua"/>
              </a:rPr>
              <a:t>(</a:t>
            </a:r>
            <a:r>
              <a:rPr lang="en-US" sz="2400" b="1" i="0" u="none" strike="noStrike" baseline="0" dirty="0" err="1">
                <a:latin typeface="BookAntiqua-Bold"/>
              </a:rPr>
              <a:t>RegEx</a:t>
            </a:r>
            <a:r>
              <a:rPr lang="en-US" sz="2400" b="0" i="0" u="none" strike="noStrike" baseline="0" dirty="0">
                <a:latin typeface="BookAntiqua"/>
              </a:rPr>
              <a:t>), which offer great flexibility in setting criteria.</a:t>
            </a:r>
            <a:endParaRPr lang="en-US" sz="3600" dirty="0"/>
          </a:p>
        </p:txBody>
      </p:sp>
      <p:pic>
        <p:nvPicPr>
          <p:cNvPr id="7" name="Picture 6">
            <a:extLst>
              <a:ext uri="{FF2B5EF4-FFF2-40B4-BE49-F238E27FC236}">
                <a16:creationId xmlns:a16="http://schemas.microsoft.com/office/drawing/2014/main" id="{2F67C518-3BDE-8FB6-D998-825D814D2DE0}"/>
              </a:ext>
            </a:extLst>
          </p:cNvPr>
          <p:cNvPicPr>
            <a:picLocks noChangeAspect="1"/>
          </p:cNvPicPr>
          <p:nvPr/>
        </p:nvPicPr>
        <p:blipFill>
          <a:blip r:embed="rId2"/>
          <a:stretch>
            <a:fillRect/>
          </a:stretch>
        </p:blipFill>
        <p:spPr>
          <a:xfrm>
            <a:off x="7710303" y="228555"/>
            <a:ext cx="3528465" cy="815241"/>
          </a:xfrm>
          <a:prstGeom prst="rect">
            <a:avLst/>
          </a:prstGeom>
        </p:spPr>
      </p:pic>
    </p:spTree>
    <p:extLst>
      <p:ext uri="{BB962C8B-B14F-4D97-AF65-F5344CB8AC3E}">
        <p14:creationId xmlns:p14="http://schemas.microsoft.com/office/powerpoint/2010/main" val="2462024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52-55)  </a:t>
            </a:r>
            <a:br>
              <a:rPr lang="en-US" dirty="0"/>
            </a:br>
            <a:r>
              <a:rPr lang="en-US" dirty="0"/>
              <a:t>Steps 10-11 –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12025222" cy="5544284"/>
          </a:xfrm>
        </p:spPr>
        <p:txBody>
          <a:bodyPr>
            <a:noAutofit/>
          </a:bodyPr>
          <a:lstStyle/>
          <a:p>
            <a:pPr marL="0" indent="0" algn="l">
              <a:buNone/>
            </a:pPr>
            <a:br>
              <a:rPr lang="en-US" dirty="0"/>
            </a:br>
            <a:r>
              <a:rPr lang="en-US" dirty="0"/>
              <a:t>You have multiple ways to specify the criteria behind your row filtering:</a:t>
            </a:r>
          </a:p>
          <a:p>
            <a:pPr algn="l"/>
            <a:r>
              <a:rPr lang="en-US" sz="2400" b="0" i="0" u="none" strike="noStrike" baseline="0" dirty="0">
                <a:latin typeface="BookAntiqua"/>
              </a:rPr>
              <a:t>Filter by </a:t>
            </a:r>
            <a:r>
              <a:rPr lang="en-US" sz="2400" b="1" i="0" u="none" strike="noStrike" baseline="0" dirty="0">
                <a:latin typeface="BookAntiqua-Bold"/>
              </a:rPr>
              <a:t>attribute value</a:t>
            </a:r>
            <a:r>
              <a:rPr lang="en-US" sz="2400" b="0" i="0" u="none" strike="noStrike" baseline="0" dirty="0">
                <a:latin typeface="BookAntiqua"/>
              </a:rPr>
              <a:t>: In this case, you will be presented on the right with the full list of columns available so that you can pick the one to consider for the filtering (</a:t>
            </a:r>
            <a:r>
              <a:rPr lang="en-US" sz="2400" b="1" i="0" u="none" strike="noStrike" baseline="0" dirty="0">
                <a:latin typeface="BookAntiqua-Bold"/>
              </a:rPr>
              <a:t>Column to test</a:t>
            </a:r>
            <a:r>
              <a:rPr lang="en-US" sz="2400" b="0" i="0" u="none" strike="noStrike" baseline="0" dirty="0">
                <a:latin typeface="BookAntiqua"/>
              </a:rPr>
              <a:t>). Once you pick the column, you need to describe the logic for the selection in the box below (</a:t>
            </a:r>
            <a:r>
              <a:rPr lang="en-US" sz="2400" b="1" i="0" u="none" strike="noStrike" baseline="0" dirty="0">
                <a:latin typeface="BookAntiqua-Bold"/>
              </a:rPr>
              <a:t>Matching criteria</a:t>
            </a:r>
            <a:r>
              <a:rPr lang="en-US" sz="2400" b="0" i="0" u="none" strike="noStrike" baseline="0" dirty="0">
                <a:latin typeface="BookAntiqua"/>
              </a:rPr>
              <a:t>). You have three options:</a:t>
            </a:r>
          </a:p>
          <a:p>
            <a:pPr algn="l"/>
            <a:r>
              <a:rPr lang="en-US" sz="2400" b="0" i="0" u="none" strike="noStrike" baseline="0" dirty="0">
                <a:latin typeface="BookAntiqua"/>
              </a:rPr>
              <a:t>The second one (</a:t>
            </a:r>
            <a:r>
              <a:rPr lang="en-US" sz="2400" b="1" i="0" u="none" strike="noStrike" baseline="0" dirty="0">
                <a:latin typeface="BookAntiqua-Bold"/>
              </a:rPr>
              <a:t>use range checking</a:t>
            </a:r>
            <a:r>
              <a:rPr lang="en-US" sz="2400" b="0" i="0" u="none" strike="noStrike" baseline="0" dirty="0">
                <a:latin typeface="BookAntiqua"/>
              </a:rPr>
              <a:t>) is great with numbers as it lets you set any kind of interval: you can specify a lower bound (including all numbers that are greater or equal than that) or an upper bound (lower or equal) or both (making it a closed interval).</a:t>
            </a:r>
          </a:p>
          <a:p>
            <a:pPr algn="l"/>
            <a:r>
              <a:rPr lang="en-US" sz="2400" b="0" i="0" u="none" strike="noStrike" baseline="0" dirty="0">
                <a:latin typeface="BookAntiqua"/>
              </a:rPr>
              <a:t>The third option is to match only the rows that have a missing value in the column under test.</a:t>
            </a:r>
          </a:p>
          <a:p>
            <a:pPr algn="l"/>
            <a:endParaRPr lang="en-US" sz="3600" dirty="0"/>
          </a:p>
        </p:txBody>
      </p:sp>
      <p:pic>
        <p:nvPicPr>
          <p:cNvPr id="7" name="Picture 6">
            <a:extLst>
              <a:ext uri="{FF2B5EF4-FFF2-40B4-BE49-F238E27FC236}">
                <a16:creationId xmlns:a16="http://schemas.microsoft.com/office/drawing/2014/main" id="{2F67C518-3BDE-8FB6-D998-825D814D2DE0}"/>
              </a:ext>
            </a:extLst>
          </p:cNvPr>
          <p:cNvPicPr>
            <a:picLocks noChangeAspect="1"/>
          </p:cNvPicPr>
          <p:nvPr/>
        </p:nvPicPr>
        <p:blipFill>
          <a:blip r:embed="rId2"/>
          <a:stretch>
            <a:fillRect/>
          </a:stretch>
        </p:blipFill>
        <p:spPr>
          <a:xfrm>
            <a:off x="7710303" y="228555"/>
            <a:ext cx="3528465" cy="815241"/>
          </a:xfrm>
          <a:prstGeom prst="rect">
            <a:avLst/>
          </a:prstGeom>
        </p:spPr>
      </p:pic>
    </p:spTree>
    <p:extLst>
      <p:ext uri="{BB962C8B-B14F-4D97-AF65-F5344CB8AC3E}">
        <p14:creationId xmlns:p14="http://schemas.microsoft.com/office/powerpoint/2010/main" val="239104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52-55)  </a:t>
            </a:r>
            <a:br>
              <a:rPr lang="en-US" dirty="0"/>
            </a:br>
            <a:r>
              <a:rPr lang="en-US" dirty="0"/>
              <a:t>Steps 10-11 –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6341313" cy="5544284"/>
          </a:xfrm>
        </p:spPr>
        <p:txBody>
          <a:bodyPr>
            <a:noAutofit/>
          </a:bodyPr>
          <a:lstStyle/>
          <a:p>
            <a:pPr marL="0" indent="0" algn="l">
              <a:buNone/>
            </a:pPr>
            <a:r>
              <a:rPr lang="en-US" dirty="0"/>
              <a:t>You have multiple ways to specify the criteria behind your row filtering:</a:t>
            </a:r>
          </a:p>
          <a:p>
            <a:r>
              <a:rPr lang="en-US" sz="2400" b="0" i="0" u="none" strike="noStrike" baseline="0" dirty="0">
                <a:latin typeface="BookAntiqua"/>
              </a:rPr>
              <a:t>Filter by </a:t>
            </a:r>
            <a:r>
              <a:rPr lang="en-US" sz="2400" b="1" i="0" u="none" strike="noStrike" baseline="0" dirty="0">
                <a:latin typeface="BookAntiqua-Bold"/>
              </a:rPr>
              <a:t>row number</a:t>
            </a:r>
            <a:r>
              <a:rPr lang="en-US" sz="2400" b="0" i="0" u="none" strike="noStrike" baseline="0" dirty="0">
                <a:latin typeface="BookAntiqua"/>
              </a:rPr>
              <a:t>: This way you can specify which is the first and the last row to match, considering the current sorting order in the table. </a:t>
            </a:r>
            <a:r>
              <a:rPr lang="en-US" sz="2400" dirty="0">
                <a:latin typeface="BookAntiqua"/>
              </a:rPr>
              <a:t>I</a:t>
            </a:r>
            <a:r>
              <a:rPr lang="en-US" sz="2400" b="0" i="0" u="none" strike="noStrike" baseline="0" dirty="0">
                <a:latin typeface="BookAntiqua"/>
              </a:rPr>
              <a:t>f you put </a:t>
            </a:r>
            <a:r>
              <a:rPr lang="en-US" sz="2400" b="0" i="0" u="none" strike="noStrike" baseline="0" dirty="0">
                <a:latin typeface="Consolas" panose="020B0609020204030204" pitchFamily="49" charset="0"/>
              </a:rPr>
              <a:t>1 </a:t>
            </a:r>
            <a:r>
              <a:rPr lang="en-US" sz="2400" b="0" i="0" u="none" strike="noStrike" baseline="0" dirty="0">
                <a:latin typeface="BookAntiqua"/>
              </a:rPr>
              <a:t>in the </a:t>
            </a:r>
            <a:r>
              <a:rPr lang="en-US" sz="2400" b="1" i="0" u="none" strike="noStrike" baseline="0" dirty="0">
                <a:latin typeface="BookAntiqua-Bold"/>
              </a:rPr>
              <a:t>First row number </a:t>
            </a:r>
            <a:r>
              <a:rPr lang="en-US" sz="2400" b="0" i="0" u="none" strike="noStrike" baseline="0" dirty="0">
                <a:latin typeface="BookAntiqua"/>
              </a:rPr>
              <a:t>selector and then </a:t>
            </a:r>
            <a:r>
              <a:rPr lang="en-US" sz="2400" b="0" i="0" u="none" strike="noStrike" baseline="0" dirty="0">
                <a:latin typeface="Consolas" panose="020B0609020204030204" pitchFamily="49" charset="0"/>
              </a:rPr>
              <a:t>1 </a:t>
            </a:r>
            <a:r>
              <a:rPr lang="en-US" sz="2400" b="0" i="0" u="none" strike="noStrike" baseline="0" dirty="0">
                <a:latin typeface="BookAntiqua"/>
              </a:rPr>
              <a:t>in </a:t>
            </a:r>
            <a:r>
              <a:rPr lang="en-US" sz="2400" b="1" i="0" u="none" strike="noStrike" baseline="0" dirty="0">
                <a:latin typeface="BookAntiqua-Bold"/>
              </a:rPr>
              <a:t>Last row number</a:t>
            </a:r>
            <a:r>
              <a:rPr lang="en-US" sz="2400" b="0" i="0" u="none" strike="noStrike" baseline="0" dirty="0">
                <a:latin typeface="BookAntiqua"/>
              </a:rPr>
              <a:t>, you will match only the top 10 rows of the table. If you want to match only the rows after a certain position, like from the 100th onwards, you can set the threshold in the first selector (</a:t>
            </a:r>
            <a:r>
              <a:rPr lang="en-US" sz="2400" b="0" i="0" u="none" strike="noStrike" baseline="0" dirty="0">
                <a:latin typeface="Consolas" panose="020B0609020204030204" pitchFamily="49" charset="0"/>
              </a:rPr>
              <a:t>100</a:t>
            </a:r>
            <a:r>
              <a:rPr lang="en-US" sz="2400" b="0" i="0" u="none" strike="noStrike" baseline="0" dirty="0">
                <a:latin typeface="BookAntiqua"/>
              </a:rPr>
              <a:t>) and tick the check box below (</a:t>
            </a:r>
            <a:r>
              <a:rPr lang="en-US" sz="2400" b="1" i="0" u="none" strike="noStrike" baseline="0" dirty="0">
                <a:latin typeface="BookAntiqua-Bold"/>
              </a:rPr>
              <a:t>to the end of the table</a:t>
            </a:r>
            <a:r>
              <a:rPr lang="en-US" sz="2400" b="0" i="0" u="none" strike="noStrike" baseline="0" dirty="0">
                <a:latin typeface="BookAntiqua"/>
              </a:rPr>
              <a:t>).</a:t>
            </a:r>
          </a:p>
          <a:p>
            <a:pPr algn="l"/>
            <a:r>
              <a:rPr lang="en-US" sz="2400" b="0" i="0" u="none" strike="noStrike" baseline="0" dirty="0">
                <a:latin typeface="BookAntiqua"/>
              </a:rPr>
              <a:t>Filter by </a:t>
            </a:r>
            <a:r>
              <a:rPr lang="en-US" sz="2400" b="1" i="0" u="none" strike="noStrike" baseline="0" dirty="0">
                <a:latin typeface="BookAntiqua-Bold"/>
              </a:rPr>
              <a:t>row ID</a:t>
            </a:r>
            <a:r>
              <a:rPr lang="en-US" sz="2400" b="0" i="0" u="none" strike="noStrike" baseline="0" dirty="0">
                <a:latin typeface="BookAntiqua"/>
              </a:rPr>
              <a:t>: You could test row IDs against some regular expressions as well, although this route is rarely used.</a:t>
            </a:r>
            <a:endParaRPr lang="en-US" sz="2400" dirty="0"/>
          </a:p>
        </p:txBody>
      </p:sp>
      <p:pic>
        <p:nvPicPr>
          <p:cNvPr id="7" name="Picture 6">
            <a:extLst>
              <a:ext uri="{FF2B5EF4-FFF2-40B4-BE49-F238E27FC236}">
                <a16:creationId xmlns:a16="http://schemas.microsoft.com/office/drawing/2014/main" id="{2F67C518-3BDE-8FB6-D998-825D814D2DE0}"/>
              </a:ext>
            </a:extLst>
          </p:cNvPr>
          <p:cNvPicPr>
            <a:picLocks noChangeAspect="1"/>
          </p:cNvPicPr>
          <p:nvPr/>
        </p:nvPicPr>
        <p:blipFill>
          <a:blip r:embed="rId2"/>
          <a:stretch>
            <a:fillRect/>
          </a:stretch>
        </p:blipFill>
        <p:spPr>
          <a:xfrm>
            <a:off x="7710303" y="228555"/>
            <a:ext cx="3528465" cy="815241"/>
          </a:xfrm>
          <a:prstGeom prst="rect">
            <a:avLst/>
          </a:prstGeom>
        </p:spPr>
      </p:pic>
      <p:pic>
        <p:nvPicPr>
          <p:cNvPr id="5" name="Picture 4">
            <a:extLst>
              <a:ext uri="{FF2B5EF4-FFF2-40B4-BE49-F238E27FC236}">
                <a16:creationId xmlns:a16="http://schemas.microsoft.com/office/drawing/2014/main" id="{8A9BB10D-30DC-803F-08E4-4199E28B23E0}"/>
              </a:ext>
            </a:extLst>
          </p:cNvPr>
          <p:cNvPicPr>
            <a:picLocks noChangeAspect="1"/>
          </p:cNvPicPr>
          <p:nvPr/>
        </p:nvPicPr>
        <p:blipFill>
          <a:blip r:embed="rId3"/>
          <a:stretch>
            <a:fillRect/>
          </a:stretch>
        </p:blipFill>
        <p:spPr>
          <a:xfrm>
            <a:off x="6528924" y="1180367"/>
            <a:ext cx="5565789" cy="4096484"/>
          </a:xfrm>
          <a:prstGeom prst="rect">
            <a:avLst/>
          </a:prstGeom>
        </p:spPr>
      </p:pic>
      <p:pic>
        <p:nvPicPr>
          <p:cNvPr id="8" name="Picture 7">
            <a:extLst>
              <a:ext uri="{FF2B5EF4-FFF2-40B4-BE49-F238E27FC236}">
                <a16:creationId xmlns:a16="http://schemas.microsoft.com/office/drawing/2014/main" id="{A76ED6D1-EEBB-06C2-7FDD-8F237F407634}"/>
              </a:ext>
            </a:extLst>
          </p:cNvPr>
          <p:cNvPicPr>
            <a:picLocks noChangeAspect="1"/>
          </p:cNvPicPr>
          <p:nvPr/>
        </p:nvPicPr>
        <p:blipFill>
          <a:blip r:embed="rId4"/>
          <a:stretch>
            <a:fillRect/>
          </a:stretch>
        </p:blipFill>
        <p:spPr>
          <a:xfrm>
            <a:off x="6528445" y="5413422"/>
            <a:ext cx="5565789" cy="1417474"/>
          </a:xfrm>
          <a:prstGeom prst="rect">
            <a:avLst/>
          </a:prstGeom>
        </p:spPr>
      </p:pic>
    </p:spTree>
    <p:extLst>
      <p:ext uri="{BB962C8B-B14F-4D97-AF65-F5344CB8AC3E}">
        <p14:creationId xmlns:p14="http://schemas.microsoft.com/office/powerpoint/2010/main" val="2306005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52-55)  </a:t>
            </a:r>
            <a:br>
              <a:rPr lang="en-US" dirty="0"/>
            </a:br>
            <a:r>
              <a:rPr lang="en-US" dirty="0"/>
              <a:t>Steps 10-11 –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6693259" cy="5544284"/>
          </a:xfrm>
        </p:spPr>
        <p:txBody>
          <a:bodyPr>
            <a:noAutofit/>
          </a:bodyPr>
          <a:lstStyle/>
          <a:p>
            <a:pPr marL="0" indent="0" algn="l">
              <a:buNone/>
            </a:pPr>
            <a:r>
              <a:rPr lang="en-US" sz="2000" dirty="0"/>
              <a:t>Let’s see our new node in action straight away as we filter out all the email addresses that do not look valid.</a:t>
            </a:r>
          </a:p>
          <a:p>
            <a:pPr marL="0" indent="0" algn="l">
              <a:buNone/>
            </a:pPr>
            <a:r>
              <a:rPr lang="en-US" sz="2000" dirty="0"/>
              <a:t>10. Implement the Row Filter node, connect it downstream, and open its configuration dialog by double-clicking on it. </a:t>
            </a:r>
          </a:p>
          <a:p>
            <a:pPr marL="0" indent="0" algn="l">
              <a:buNone/>
            </a:pPr>
            <a:r>
              <a:rPr lang="en-US" sz="2000" dirty="0"/>
              <a:t>Since we want to keep only the rows matching certain column criteria, let's select the first option from the radio button on the left (Include rows by attribute value) and, on the right, pick the column with the email address _Email_Entered. </a:t>
            </a:r>
          </a:p>
          <a:p>
            <a:pPr marL="0" indent="0" algn="l">
              <a:buNone/>
            </a:pPr>
            <a:r>
              <a:rPr lang="en-US" sz="2000" dirty="0"/>
              <a:t>One simple pattern we can use for checking the validity of an email address is the wild card expression *@*.*. This will check for all strings that have at least an @ symbol followed by a dot . with some text in between.</a:t>
            </a:r>
          </a:p>
          <a:p>
            <a:pPr marL="0" indent="0" algn="l">
              <a:buNone/>
            </a:pPr>
            <a:r>
              <a:rPr lang="en-US" sz="2000" dirty="0"/>
              <a:t>This is not going to be the most thorough validity check for email addresses, but it will certainly spot the ones that are clearly irregular and is good enough for us at this stage. Remember to tick the contains wild cards checkbox and click OK to move on.</a:t>
            </a:r>
          </a:p>
        </p:txBody>
      </p:sp>
      <p:pic>
        <p:nvPicPr>
          <p:cNvPr id="7" name="Picture 6">
            <a:extLst>
              <a:ext uri="{FF2B5EF4-FFF2-40B4-BE49-F238E27FC236}">
                <a16:creationId xmlns:a16="http://schemas.microsoft.com/office/drawing/2014/main" id="{2F67C518-3BDE-8FB6-D998-825D814D2DE0}"/>
              </a:ext>
            </a:extLst>
          </p:cNvPr>
          <p:cNvPicPr>
            <a:picLocks noChangeAspect="1"/>
          </p:cNvPicPr>
          <p:nvPr/>
        </p:nvPicPr>
        <p:blipFill>
          <a:blip r:embed="rId2"/>
          <a:stretch>
            <a:fillRect/>
          </a:stretch>
        </p:blipFill>
        <p:spPr>
          <a:xfrm>
            <a:off x="7710303" y="228555"/>
            <a:ext cx="3528465" cy="815241"/>
          </a:xfrm>
          <a:prstGeom prst="rect">
            <a:avLst/>
          </a:prstGeom>
        </p:spPr>
      </p:pic>
      <p:pic>
        <p:nvPicPr>
          <p:cNvPr id="5" name="Picture 4">
            <a:extLst>
              <a:ext uri="{FF2B5EF4-FFF2-40B4-BE49-F238E27FC236}">
                <a16:creationId xmlns:a16="http://schemas.microsoft.com/office/drawing/2014/main" id="{8A9BB10D-30DC-803F-08E4-4199E28B23E0}"/>
              </a:ext>
            </a:extLst>
          </p:cNvPr>
          <p:cNvPicPr>
            <a:picLocks noChangeAspect="1"/>
          </p:cNvPicPr>
          <p:nvPr/>
        </p:nvPicPr>
        <p:blipFill>
          <a:blip r:embed="rId3"/>
          <a:stretch>
            <a:fillRect/>
          </a:stretch>
        </p:blipFill>
        <p:spPr>
          <a:xfrm>
            <a:off x="6762750" y="1180367"/>
            <a:ext cx="5331963" cy="3924385"/>
          </a:xfrm>
          <a:prstGeom prst="rect">
            <a:avLst/>
          </a:prstGeom>
        </p:spPr>
      </p:pic>
      <p:pic>
        <p:nvPicPr>
          <p:cNvPr id="8" name="Picture 7">
            <a:extLst>
              <a:ext uri="{FF2B5EF4-FFF2-40B4-BE49-F238E27FC236}">
                <a16:creationId xmlns:a16="http://schemas.microsoft.com/office/drawing/2014/main" id="{A76ED6D1-EEBB-06C2-7FDD-8F237F407634}"/>
              </a:ext>
            </a:extLst>
          </p:cNvPr>
          <p:cNvPicPr>
            <a:picLocks noChangeAspect="1"/>
          </p:cNvPicPr>
          <p:nvPr/>
        </p:nvPicPr>
        <p:blipFill>
          <a:blip r:embed="rId4"/>
          <a:stretch>
            <a:fillRect/>
          </a:stretch>
        </p:blipFill>
        <p:spPr>
          <a:xfrm>
            <a:off x="6762271" y="5413422"/>
            <a:ext cx="5331963" cy="1357924"/>
          </a:xfrm>
          <a:prstGeom prst="rect">
            <a:avLst/>
          </a:prstGeom>
        </p:spPr>
      </p:pic>
    </p:spTree>
    <p:extLst>
      <p:ext uri="{BB962C8B-B14F-4D97-AF65-F5344CB8AC3E}">
        <p14:creationId xmlns:p14="http://schemas.microsoft.com/office/powerpoint/2010/main" val="494316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52-55)  </a:t>
            </a:r>
            <a:br>
              <a:rPr lang="en-US" dirty="0"/>
            </a:br>
            <a:r>
              <a:rPr lang="en-US" dirty="0"/>
              <a:t>Steps 10-11 – Row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6693259" cy="5544284"/>
          </a:xfrm>
        </p:spPr>
        <p:txBody>
          <a:bodyPr>
            <a:noAutofit/>
          </a:bodyPr>
          <a:lstStyle/>
          <a:p>
            <a:pPr marL="0" indent="0" algn="l">
              <a:buNone/>
            </a:pPr>
            <a:r>
              <a:rPr lang="en-US" sz="2000" dirty="0"/>
              <a:t>Let’s see our new node in action straight away as we filter out all the email addresses that do not look valid.</a:t>
            </a:r>
          </a:p>
          <a:p>
            <a:pPr marL="0" indent="0" algn="l">
              <a:buNone/>
            </a:pPr>
            <a:r>
              <a:rPr lang="en-US" sz="2000" dirty="0"/>
              <a:t>11. We have yet more filtering to be done. We want to remove all rows displaying a negative credit: those users are inactive and should not be added to our mailing list.</a:t>
            </a:r>
          </a:p>
          <a:p>
            <a:pPr marL="0" indent="0" algn="l">
              <a:buNone/>
            </a:pPr>
            <a:r>
              <a:rPr lang="en-US" sz="2000" dirty="0"/>
              <a:t>Let's implement an additional Row Filter node and put it next to the previous one, creating the right connections across the ports. </a:t>
            </a:r>
          </a:p>
          <a:p>
            <a:pPr marL="0" indent="0" algn="l">
              <a:buNone/>
            </a:pPr>
            <a:r>
              <a:rPr lang="en-US" sz="2000" dirty="0"/>
              <a:t>We will again use the Include rows by attribute value option but the matching criteria will be set as range checking (second radio button on the right). </a:t>
            </a:r>
          </a:p>
          <a:p>
            <a:pPr marL="0" indent="0" algn="l">
              <a:buNone/>
            </a:pPr>
            <a:r>
              <a:rPr lang="en-US" sz="2000" dirty="0"/>
              <a:t>By setting 0 as Lower bound, we are good to go since all negative values will be filtered out. </a:t>
            </a:r>
          </a:p>
          <a:p>
            <a:pPr marL="0" indent="0" algn="l">
              <a:buNone/>
            </a:pPr>
            <a:r>
              <a:rPr lang="en-US" sz="2000" dirty="0"/>
              <a:t>We can click OK and move on to the next challenge.</a:t>
            </a:r>
          </a:p>
        </p:txBody>
      </p:sp>
      <p:pic>
        <p:nvPicPr>
          <p:cNvPr id="7" name="Picture 6">
            <a:extLst>
              <a:ext uri="{FF2B5EF4-FFF2-40B4-BE49-F238E27FC236}">
                <a16:creationId xmlns:a16="http://schemas.microsoft.com/office/drawing/2014/main" id="{2F67C518-3BDE-8FB6-D998-825D814D2DE0}"/>
              </a:ext>
            </a:extLst>
          </p:cNvPr>
          <p:cNvPicPr>
            <a:picLocks noChangeAspect="1"/>
          </p:cNvPicPr>
          <p:nvPr/>
        </p:nvPicPr>
        <p:blipFill>
          <a:blip r:embed="rId2"/>
          <a:stretch>
            <a:fillRect/>
          </a:stretch>
        </p:blipFill>
        <p:spPr>
          <a:xfrm>
            <a:off x="7710303" y="228555"/>
            <a:ext cx="3528465" cy="815241"/>
          </a:xfrm>
          <a:prstGeom prst="rect">
            <a:avLst/>
          </a:prstGeom>
        </p:spPr>
      </p:pic>
      <p:pic>
        <p:nvPicPr>
          <p:cNvPr id="5" name="Picture 4">
            <a:extLst>
              <a:ext uri="{FF2B5EF4-FFF2-40B4-BE49-F238E27FC236}">
                <a16:creationId xmlns:a16="http://schemas.microsoft.com/office/drawing/2014/main" id="{8A9BB10D-30DC-803F-08E4-4199E28B23E0}"/>
              </a:ext>
            </a:extLst>
          </p:cNvPr>
          <p:cNvPicPr>
            <a:picLocks noChangeAspect="1"/>
          </p:cNvPicPr>
          <p:nvPr/>
        </p:nvPicPr>
        <p:blipFill>
          <a:blip r:embed="rId3"/>
          <a:stretch>
            <a:fillRect/>
          </a:stretch>
        </p:blipFill>
        <p:spPr>
          <a:xfrm>
            <a:off x="6762750" y="1180367"/>
            <a:ext cx="5331963" cy="3924385"/>
          </a:xfrm>
          <a:prstGeom prst="rect">
            <a:avLst/>
          </a:prstGeom>
        </p:spPr>
      </p:pic>
      <p:pic>
        <p:nvPicPr>
          <p:cNvPr id="8" name="Picture 7">
            <a:extLst>
              <a:ext uri="{FF2B5EF4-FFF2-40B4-BE49-F238E27FC236}">
                <a16:creationId xmlns:a16="http://schemas.microsoft.com/office/drawing/2014/main" id="{A76ED6D1-EEBB-06C2-7FDD-8F237F407634}"/>
              </a:ext>
            </a:extLst>
          </p:cNvPr>
          <p:cNvPicPr>
            <a:picLocks noChangeAspect="1"/>
          </p:cNvPicPr>
          <p:nvPr/>
        </p:nvPicPr>
        <p:blipFill>
          <a:blip r:embed="rId4"/>
          <a:stretch>
            <a:fillRect/>
          </a:stretch>
        </p:blipFill>
        <p:spPr>
          <a:xfrm>
            <a:off x="6762271" y="5413422"/>
            <a:ext cx="5331963" cy="1357924"/>
          </a:xfrm>
          <a:prstGeom prst="rect">
            <a:avLst/>
          </a:prstGeom>
        </p:spPr>
      </p:pic>
    </p:spTree>
    <p:extLst>
      <p:ext uri="{BB962C8B-B14F-4D97-AF65-F5344CB8AC3E}">
        <p14:creationId xmlns:p14="http://schemas.microsoft.com/office/powerpoint/2010/main" val="1862200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55-57)  </a:t>
            </a:r>
            <a:br>
              <a:rPr lang="en-US" dirty="0"/>
            </a:br>
            <a:r>
              <a:rPr lang="en-US" dirty="0"/>
              <a:t>Steps 12-13 – Missing Value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6779463" cy="5544284"/>
          </a:xfrm>
        </p:spPr>
        <p:txBody>
          <a:bodyPr>
            <a:noAutofit/>
          </a:bodyPr>
          <a:lstStyle/>
          <a:p>
            <a:pPr marL="0" indent="0" algn="l">
              <a:buNone/>
            </a:pPr>
            <a:r>
              <a:rPr lang="en-US" sz="2000" dirty="0"/>
              <a:t>The node (</a:t>
            </a:r>
            <a:r>
              <a:rPr lang="en-US" sz="2000" b="1" dirty="0"/>
              <a:t>Manipulation &gt; Column &gt; Transform</a:t>
            </a:r>
            <a:r>
              <a:rPr lang="en-US" sz="2000" dirty="0"/>
              <a:t>) handles missing values (NULLs) in a table, offering multiple methods for imputing the best available replacement. </a:t>
            </a:r>
          </a:p>
          <a:p>
            <a:pPr marL="0" indent="0" algn="l">
              <a:buNone/>
            </a:pPr>
            <a:r>
              <a:rPr lang="en-US" sz="2000" dirty="0"/>
              <a:t>In the first tab of the configuration window (</a:t>
            </a:r>
            <a:r>
              <a:rPr lang="en-US" sz="2000" b="1" dirty="0"/>
              <a:t>Default</a:t>
            </a:r>
            <a:r>
              <a:rPr lang="en-US" sz="2000" dirty="0"/>
              <a:t>), you can define a default treatment option for all columns of a certain data type (strings, integer, and double) by selecting it in the dropdown menus. </a:t>
            </a:r>
          </a:p>
          <a:p>
            <a:pPr marL="0" indent="0" algn="l">
              <a:buNone/>
            </a:pPr>
            <a:r>
              <a:rPr lang="en-US" sz="2000" dirty="0"/>
              <a:t>The second tab (</a:t>
            </a:r>
            <a:r>
              <a:rPr lang="en-US" sz="2000" b="1" dirty="0"/>
              <a:t>Column settings</a:t>
            </a:r>
            <a:r>
              <a:rPr lang="en-US" sz="2000" dirty="0"/>
              <a:t>) allows you to set a specific strategy for each individual column by double-clicking on the name of the column from the list on the left and setting the strategy through the menu that will appear.</a:t>
            </a:r>
          </a:p>
        </p:txBody>
      </p:sp>
      <p:pic>
        <p:nvPicPr>
          <p:cNvPr id="6" name="Picture 5">
            <a:extLst>
              <a:ext uri="{FF2B5EF4-FFF2-40B4-BE49-F238E27FC236}">
                <a16:creationId xmlns:a16="http://schemas.microsoft.com/office/drawing/2014/main" id="{A76715BC-596E-86CF-5195-268E4D28B070}"/>
              </a:ext>
            </a:extLst>
          </p:cNvPr>
          <p:cNvPicPr>
            <a:picLocks noChangeAspect="1"/>
          </p:cNvPicPr>
          <p:nvPr/>
        </p:nvPicPr>
        <p:blipFill>
          <a:blip r:embed="rId2"/>
          <a:stretch>
            <a:fillRect/>
          </a:stretch>
        </p:blipFill>
        <p:spPr>
          <a:xfrm>
            <a:off x="7067325" y="255024"/>
            <a:ext cx="3219899" cy="628738"/>
          </a:xfrm>
          <a:prstGeom prst="rect">
            <a:avLst/>
          </a:prstGeom>
        </p:spPr>
      </p:pic>
      <p:pic>
        <p:nvPicPr>
          <p:cNvPr id="10" name="Picture 9">
            <a:extLst>
              <a:ext uri="{FF2B5EF4-FFF2-40B4-BE49-F238E27FC236}">
                <a16:creationId xmlns:a16="http://schemas.microsoft.com/office/drawing/2014/main" id="{44C0EBF7-41F3-08F0-8DCA-51AA0A4CB86E}"/>
              </a:ext>
            </a:extLst>
          </p:cNvPr>
          <p:cNvPicPr>
            <a:picLocks noChangeAspect="1"/>
          </p:cNvPicPr>
          <p:nvPr/>
        </p:nvPicPr>
        <p:blipFill>
          <a:blip r:embed="rId3"/>
          <a:stretch>
            <a:fillRect/>
          </a:stretch>
        </p:blipFill>
        <p:spPr>
          <a:xfrm>
            <a:off x="485550" y="4740860"/>
            <a:ext cx="10871878" cy="1752015"/>
          </a:xfrm>
          <a:prstGeom prst="rect">
            <a:avLst/>
          </a:prstGeom>
        </p:spPr>
      </p:pic>
      <p:pic>
        <p:nvPicPr>
          <p:cNvPr id="12" name="Picture 11">
            <a:extLst>
              <a:ext uri="{FF2B5EF4-FFF2-40B4-BE49-F238E27FC236}">
                <a16:creationId xmlns:a16="http://schemas.microsoft.com/office/drawing/2014/main" id="{9A2D3384-10B2-57BB-EE54-57DFAE30BA7C}"/>
              </a:ext>
            </a:extLst>
          </p:cNvPr>
          <p:cNvPicPr>
            <a:picLocks noChangeAspect="1"/>
          </p:cNvPicPr>
          <p:nvPr/>
        </p:nvPicPr>
        <p:blipFill>
          <a:blip r:embed="rId4"/>
          <a:stretch>
            <a:fillRect/>
          </a:stretch>
        </p:blipFill>
        <p:spPr>
          <a:xfrm>
            <a:off x="6747999" y="993863"/>
            <a:ext cx="5257144" cy="3560074"/>
          </a:xfrm>
          <a:prstGeom prst="rect">
            <a:avLst/>
          </a:prstGeom>
        </p:spPr>
      </p:pic>
    </p:spTree>
    <p:extLst>
      <p:ext uri="{BB962C8B-B14F-4D97-AF65-F5344CB8AC3E}">
        <p14:creationId xmlns:p14="http://schemas.microsoft.com/office/powerpoint/2010/main" val="3981746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55-57)  </a:t>
            </a:r>
            <a:br>
              <a:rPr lang="en-US" dirty="0"/>
            </a:br>
            <a:r>
              <a:rPr lang="en-US" dirty="0"/>
              <a:t>Steps 12-13 – Missing Value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6779463" cy="5544284"/>
          </a:xfrm>
        </p:spPr>
        <p:txBody>
          <a:bodyPr>
            <a:noAutofit/>
          </a:bodyPr>
          <a:lstStyle/>
          <a:p>
            <a:pPr marL="0" indent="0" algn="l">
              <a:buNone/>
            </a:pPr>
            <a:r>
              <a:rPr lang="en-US" sz="2000" dirty="0"/>
              <a:t>You have a vast list of possible methods to treat your missing values.  The most useful ones are as follows.</a:t>
            </a:r>
          </a:p>
          <a:p>
            <a:r>
              <a:rPr lang="en-US" sz="2000" b="1" dirty="0"/>
              <a:t>Remove Row:</a:t>
            </a:r>
            <a:r>
              <a:rPr lang="en-US" sz="2000" dirty="0"/>
              <a:t> Gets rid of the row altogether if the value is missing.</a:t>
            </a:r>
          </a:p>
          <a:p>
            <a:r>
              <a:rPr lang="en-US" sz="2000" b="1" dirty="0"/>
              <a:t>Fix Value:</a:t>
            </a:r>
            <a:r>
              <a:rPr lang="en-US" sz="2000" dirty="0"/>
              <a:t> Replaces the NULL with a specific value you have to enter in the box that will appear below. All rows with missing values will get the same fix replacement.</a:t>
            </a:r>
          </a:p>
          <a:p>
            <a:r>
              <a:rPr lang="en-US" sz="2000" b="1" dirty="0"/>
              <a:t>Minimum/Maximum/Mean/Median/Most Frequent Value:</a:t>
            </a:r>
            <a:r>
              <a:rPr lang="en-US" sz="2000" dirty="0"/>
              <a:t> Calculates a summary statistic on the distribution over all existing values in the column and uses it as a fixed replacement value.</a:t>
            </a:r>
          </a:p>
          <a:p>
            <a:r>
              <a:rPr lang="en-US" sz="2000" b="1" dirty="0"/>
              <a:t>Previous/Next:</a:t>
            </a:r>
            <a:r>
              <a:rPr lang="en-US" sz="2000" dirty="0"/>
              <a:t> Replaces the missing value with the previous or the next non-missing value in the column, using the current order of rows in the table.</a:t>
            </a:r>
          </a:p>
          <a:p>
            <a:pPr marL="0" indent="0">
              <a:buNone/>
            </a:pPr>
            <a:endParaRPr lang="en-US" sz="2000" dirty="0"/>
          </a:p>
        </p:txBody>
      </p:sp>
      <p:pic>
        <p:nvPicPr>
          <p:cNvPr id="6" name="Picture 5">
            <a:extLst>
              <a:ext uri="{FF2B5EF4-FFF2-40B4-BE49-F238E27FC236}">
                <a16:creationId xmlns:a16="http://schemas.microsoft.com/office/drawing/2014/main" id="{A76715BC-596E-86CF-5195-268E4D28B070}"/>
              </a:ext>
            </a:extLst>
          </p:cNvPr>
          <p:cNvPicPr>
            <a:picLocks noChangeAspect="1"/>
          </p:cNvPicPr>
          <p:nvPr/>
        </p:nvPicPr>
        <p:blipFill>
          <a:blip r:embed="rId2"/>
          <a:stretch>
            <a:fillRect/>
          </a:stretch>
        </p:blipFill>
        <p:spPr>
          <a:xfrm>
            <a:off x="7067325" y="255024"/>
            <a:ext cx="3219899" cy="628738"/>
          </a:xfrm>
          <a:prstGeom prst="rect">
            <a:avLst/>
          </a:prstGeom>
        </p:spPr>
      </p:pic>
      <p:pic>
        <p:nvPicPr>
          <p:cNvPr id="12" name="Picture 11">
            <a:extLst>
              <a:ext uri="{FF2B5EF4-FFF2-40B4-BE49-F238E27FC236}">
                <a16:creationId xmlns:a16="http://schemas.microsoft.com/office/drawing/2014/main" id="{9A2D3384-10B2-57BB-EE54-57DFAE30BA7C}"/>
              </a:ext>
            </a:extLst>
          </p:cNvPr>
          <p:cNvPicPr>
            <a:picLocks noChangeAspect="1"/>
          </p:cNvPicPr>
          <p:nvPr/>
        </p:nvPicPr>
        <p:blipFill>
          <a:blip r:embed="rId3"/>
          <a:stretch>
            <a:fillRect/>
          </a:stretch>
        </p:blipFill>
        <p:spPr>
          <a:xfrm>
            <a:off x="6747999" y="993863"/>
            <a:ext cx="5257144" cy="3560074"/>
          </a:xfrm>
          <a:prstGeom prst="rect">
            <a:avLst/>
          </a:prstGeom>
        </p:spPr>
      </p:pic>
    </p:spTree>
    <p:extLst>
      <p:ext uri="{BB962C8B-B14F-4D97-AF65-F5344CB8AC3E}">
        <p14:creationId xmlns:p14="http://schemas.microsoft.com/office/powerpoint/2010/main" val="2792924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55-57)  </a:t>
            </a:r>
            <a:br>
              <a:rPr lang="en-US" dirty="0"/>
            </a:br>
            <a:r>
              <a:rPr lang="en-US" dirty="0"/>
              <a:t>Steps 12-13 – Missing Value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6779463" cy="5544284"/>
          </a:xfrm>
        </p:spPr>
        <p:txBody>
          <a:bodyPr>
            <a:noAutofit/>
          </a:bodyPr>
          <a:lstStyle/>
          <a:p>
            <a:pPr marL="0" indent="0" algn="l">
              <a:buNone/>
            </a:pPr>
            <a:r>
              <a:rPr lang="en-US" sz="2000" dirty="0"/>
              <a:t>You have a vast list of possible methods to treat your missing values.  The most useful ones are as follows.</a:t>
            </a:r>
          </a:p>
          <a:p>
            <a:r>
              <a:rPr lang="en-US" sz="2000" b="1" dirty="0"/>
              <a:t>Linear Interpolation: </a:t>
            </a:r>
            <a:r>
              <a:rPr lang="en-US" sz="2000" dirty="0"/>
              <a:t>Substitutes missing values with the linear interpolation between the previous and the next non-missing values in the column. If your column represents values changing over time (we call them time series), this handler might offer a smooth way to fill the gaps.</a:t>
            </a:r>
          </a:p>
          <a:p>
            <a:r>
              <a:rPr lang="en-US" sz="2000" b="1" dirty="0"/>
              <a:t>Moving Average: </a:t>
            </a:r>
            <a:r>
              <a:rPr lang="en-US" sz="2000" dirty="0"/>
              <a:t>Substitutes the missing values with a moving average calculated over a certain number of non-missing values appearing in the table just before the missing value (lookbehind window) or after it (lookahead window). For instance, if you have for a column a sequence of values such as [2, 3, 4, NULL] and you apply a lookbehind window of size 2, the NULL value will be substituted for 3.5, which is the average of 3 and 4. For this and the previous handlers, you want to make sure your table is properly sorted (like, in a time series, by increasing time).</a:t>
            </a:r>
          </a:p>
        </p:txBody>
      </p:sp>
      <p:pic>
        <p:nvPicPr>
          <p:cNvPr id="6" name="Picture 5">
            <a:extLst>
              <a:ext uri="{FF2B5EF4-FFF2-40B4-BE49-F238E27FC236}">
                <a16:creationId xmlns:a16="http://schemas.microsoft.com/office/drawing/2014/main" id="{A76715BC-596E-86CF-5195-268E4D28B070}"/>
              </a:ext>
            </a:extLst>
          </p:cNvPr>
          <p:cNvPicPr>
            <a:picLocks noChangeAspect="1"/>
          </p:cNvPicPr>
          <p:nvPr/>
        </p:nvPicPr>
        <p:blipFill>
          <a:blip r:embed="rId2"/>
          <a:stretch>
            <a:fillRect/>
          </a:stretch>
        </p:blipFill>
        <p:spPr>
          <a:xfrm>
            <a:off x="7067325" y="255024"/>
            <a:ext cx="3219899" cy="628738"/>
          </a:xfrm>
          <a:prstGeom prst="rect">
            <a:avLst/>
          </a:prstGeom>
        </p:spPr>
      </p:pic>
      <p:pic>
        <p:nvPicPr>
          <p:cNvPr id="12" name="Picture 11">
            <a:extLst>
              <a:ext uri="{FF2B5EF4-FFF2-40B4-BE49-F238E27FC236}">
                <a16:creationId xmlns:a16="http://schemas.microsoft.com/office/drawing/2014/main" id="{9A2D3384-10B2-57BB-EE54-57DFAE30BA7C}"/>
              </a:ext>
            </a:extLst>
          </p:cNvPr>
          <p:cNvPicPr>
            <a:picLocks noChangeAspect="1"/>
          </p:cNvPicPr>
          <p:nvPr/>
        </p:nvPicPr>
        <p:blipFill>
          <a:blip r:embed="rId3"/>
          <a:stretch>
            <a:fillRect/>
          </a:stretch>
        </p:blipFill>
        <p:spPr>
          <a:xfrm>
            <a:off x="6747999" y="993863"/>
            <a:ext cx="5257144" cy="3560074"/>
          </a:xfrm>
          <a:prstGeom prst="rect">
            <a:avLst/>
          </a:prstGeom>
        </p:spPr>
      </p:pic>
    </p:spTree>
    <p:extLst>
      <p:ext uri="{BB962C8B-B14F-4D97-AF65-F5344CB8AC3E}">
        <p14:creationId xmlns:p14="http://schemas.microsoft.com/office/powerpoint/2010/main" val="1819605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55-57)  </a:t>
            </a:r>
            <a:br>
              <a:rPr lang="en-US" dirty="0"/>
            </a:br>
            <a:r>
              <a:rPr lang="en-US" dirty="0"/>
              <a:t>Steps 12-13 – Missing Value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7738122" cy="5544284"/>
          </a:xfrm>
        </p:spPr>
        <p:txBody>
          <a:bodyPr>
            <a:noAutofit/>
          </a:bodyPr>
          <a:lstStyle/>
          <a:p>
            <a:pPr marL="0" indent="0" algn="l">
              <a:buNone/>
            </a:pPr>
            <a:r>
              <a:rPr lang="en-US" sz="2000" dirty="0"/>
              <a:t>Going back to our use case, we noticed that we have two columns displaying question marks.  Let’s manage them appropriately by leveraging the Missing Value node.</a:t>
            </a:r>
          </a:p>
          <a:p>
            <a:pPr marL="0" indent="0" algn="l">
              <a:buNone/>
            </a:pPr>
            <a:endParaRPr lang="en-US" sz="2000" dirty="0"/>
          </a:p>
          <a:p>
            <a:pPr marL="0" indent="0" algn="l">
              <a:buNone/>
            </a:pPr>
            <a:r>
              <a:rPr lang="en-US" sz="2000" dirty="0"/>
              <a:t>12. Drag the Missing Value node on your workflow and connect it properly. Let's jump straight to the second tab of its configuration window (Column settings), as we want to keep control of which handling strategy we shall adopt for each column in need. </a:t>
            </a:r>
          </a:p>
          <a:p>
            <a:pPr marL="0" indent="0" algn="l">
              <a:buNone/>
            </a:pPr>
            <a:r>
              <a:rPr lang="en-US" sz="2000" dirty="0"/>
              <a:t>For column Age (double-click on it from the list on the left), we can select Median: by doing so, we will assign an age to those users missing one that is not "far off" the age that most users tend to have in our table. </a:t>
            </a:r>
          </a:p>
          <a:p>
            <a:pPr marL="0" indent="0" algn="l">
              <a:buNone/>
            </a:pPr>
            <a:r>
              <a:rPr lang="en-US" sz="2000" dirty="0"/>
              <a:t>When it comes to the number of times users have logged in (Logins column) we assume that the lack of a value means that they haven’t logged in yet. </a:t>
            </a:r>
          </a:p>
          <a:p>
            <a:pPr marL="0" indent="0" algn="l">
              <a:buNone/>
            </a:pPr>
            <a:r>
              <a:rPr lang="en-US" sz="2000" dirty="0"/>
              <a:t>The best strategy to select will be Fix Value, keeping 0 as a default value for all. We can click on OK and close this dialog.</a:t>
            </a:r>
          </a:p>
        </p:txBody>
      </p:sp>
      <p:pic>
        <p:nvPicPr>
          <p:cNvPr id="6" name="Picture 5">
            <a:extLst>
              <a:ext uri="{FF2B5EF4-FFF2-40B4-BE49-F238E27FC236}">
                <a16:creationId xmlns:a16="http://schemas.microsoft.com/office/drawing/2014/main" id="{A76715BC-596E-86CF-5195-268E4D28B070}"/>
              </a:ext>
            </a:extLst>
          </p:cNvPr>
          <p:cNvPicPr>
            <a:picLocks noChangeAspect="1"/>
          </p:cNvPicPr>
          <p:nvPr/>
        </p:nvPicPr>
        <p:blipFill>
          <a:blip r:embed="rId2"/>
          <a:stretch>
            <a:fillRect/>
          </a:stretch>
        </p:blipFill>
        <p:spPr>
          <a:xfrm>
            <a:off x="7810275" y="228555"/>
            <a:ext cx="3219899" cy="628738"/>
          </a:xfrm>
          <a:prstGeom prst="rect">
            <a:avLst/>
          </a:prstGeom>
        </p:spPr>
      </p:pic>
      <p:pic>
        <p:nvPicPr>
          <p:cNvPr id="12" name="Picture 11">
            <a:extLst>
              <a:ext uri="{FF2B5EF4-FFF2-40B4-BE49-F238E27FC236}">
                <a16:creationId xmlns:a16="http://schemas.microsoft.com/office/drawing/2014/main" id="{9A2D3384-10B2-57BB-EE54-57DFAE30BA7C}"/>
              </a:ext>
            </a:extLst>
          </p:cNvPr>
          <p:cNvPicPr>
            <a:picLocks noChangeAspect="1"/>
          </p:cNvPicPr>
          <p:nvPr/>
        </p:nvPicPr>
        <p:blipFill>
          <a:blip r:embed="rId3"/>
          <a:stretch>
            <a:fillRect/>
          </a:stretch>
        </p:blipFill>
        <p:spPr>
          <a:xfrm>
            <a:off x="7896225" y="993863"/>
            <a:ext cx="4108918" cy="2782509"/>
          </a:xfrm>
          <a:prstGeom prst="rect">
            <a:avLst/>
          </a:prstGeom>
        </p:spPr>
      </p:pic>
    </p:spTree>
    <p:extLst>
      <p:ext uri="{BB962C8B-B14F-4D97-AF65-F5344CB8AC3E}">
        <p14:creationId xmlns:p14="http://schemas.microsoft.com/office/powerpoint/2010/main" val="571088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55-57)  </a:t>
            </a:r>
            <a:br>
              <a:rPr lang="en-US" dirty="0"/>
            </a:br>
            <a:r>
              <a:rPr lang="en-US" dirty="0"/>
              <a:t>Steps 12-13 – Missing Value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2" y="1180366"/>
            <a:ext cx="5341188" cy="5544284"/>
          </a:xfrm>
        </p:spPr>
        <p:txBody>
          <a:bodyPr>
            <a:noAutofit/>
          </a:bodyPr>
          <a:lstStyle/>
          <a:p>
            <a:pPr marL="0" indent="0" algn="l">
              <a:buNone/>
            </a:pPr>
            <a:r>
              <a:rPr lang="en-US" sz="2000" dirty="0"/>
              <a:t>Going back to our use case, we noticed that we have two columns displaying question marks.  Let’s manage them appropriately by leveraging the Missing Value node.</a:t>
            </a:r>
          </a:p>
          <a:p>
            <a:pPr marL="0" indent="0" algn="l">
              <a:buNone/>
            </a:pPr>
            <a:endParaRPr lang="en-US" sz="2000" dirty="0"/>
          </a:p>
          <a:p>
            <a:pPr marL="0" indent="0" algn="l">
              <a:buNone/>
            </a:pPr>
            <a:r>
              <a:rPr lang="en-US" sz="2000" dirty="0"/>
              <a:t>13. Let’s check how our chain of transformations is looking at the moment.  If we click on the last node, execute it (F7), and check its output port view (Shift + F6), we can breathe a sigh of relief.  There are no missing values, no negative credits, and both names and email addresses look reasonably formatted.</a:t>
            </a:r>
          </a:p>
        </p:txBody>
      </p:sp>
      <p:pic>
        <p:nvPicPr>
          <p:cNvPr id="6" name="Picture 5">
            <a:extLst>
              <a:ext uri="{FF2B5EF4-FFF2-40B4-BE49-F238E27FC236}">
                <a16:creationId xmlns:a16="http://schemas.microsoft.com/office/drawing/2014/main" id="{A76715BC-596E-86CF-5195-268E4D28B070}"/>
              </a:ext>
            </a:extLst>
          </p:cNvPr>
          <p:cNvPicPr>
            <a:picLocks noChangeAspect="1"/>
          </p:cNvPicPr>
          <p:nvPr/>
        </p:nvPicPr>
        <p:blipFill>
          <a:blip r:embed="rId2"/>
          <a:stretch>
            <a:fillRect/>
          </a:stretch>
        </p:blipFill>
        <p:spPr>
          <a:xfrm>
            <a:off x="7810275" y="228555"/>
            <a:ext cx="3219899" cy="628738"/>
          </a:xfrm>
          <a:prstGeom prst="rect">
            <a:avLst/>
          </a:prstGeom>
        </p:spPr>
      </p:pic>
      <p:pic>
        <p:nvPicPr>
          <p:cNvPr id="12" name="Picture 11">
            <a:extLst>
              <a:ext uri="{FF2B5EF4-FFF2-40B4-BE49-F238E27FC236}">
                <a16:creationId xmlns:a16="http://schemas.microsoft.com/office/drawing/2014/main" id="{9A2D3384-10B2-57BB-EE54-57DFAE30BA7C}"/>
              </a:ext>
            </a:extLst>
          </p:cNvPr>
          <p:cNvPicPr>
            <a:picLocks noChangeAspect="1"/>
          </p:cNvPicPr>
          <p:nvPr/>
        </p:nvPicPr>
        <p:blipFill>
          <a:blip r:embed="rId3"/>
          <a:stretch>
            <a:fillRect/>
          </a:stretch>
        </p:blipFill>
        <p:spPr>
          <a:xfrm>
            <a:off x="5731310" y="1584413"/>
            <a:ext cx="6226208" cy="4216312"/>
          </a:xfrm>
          <a:prstGeom prst="rect">
            <a:avLst/>
          </a:prstGeom>
        </p:spPr>
      </p:pic>
    </p:spTree>
    <p:extLst>
      <p:ext uri="{BB962C8B-B14F-4D97-AF65-F5344CB8AC3E}">
        <p14:creationId xmlns:p14="http://schemas.microsoft.com/office/powerpoint/2010/main" val="2224259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58)  </a:t>
            </a:r>
            <a:br>
              <a:rPr lang="en-US" dirty="0"/>
            </a:br>
            <a:r>
              <a:rPr lang="en-US" dirty="0"/>
              <a:t>Steps 14 – Column Filter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5767145" cy="5544284"/>
          </a:xfrm>
        </p:spPr>
        <p:txBody>
          <a:bodyPr>
            <a:noAutofit/>
          </a:bodyPr>
          <a:lstStyle/>
          <a:p>
            <a:pPr marL="0" indent="0" algn="l">
              <a:buNone/>
            </a:pPr>
            <a:r>
              <a:rPr lang="en-US" sz="2000" dirty="0"/>
              <a:t>The only steps left ahead of us are of an aesthetic nature: we want to drop the columns we don't need, sort the ones remaining, and give them a more intuitive name, before finally saving the output file. We are going to need a few more nodes to complete this last bit.</a:t>
            </a:r>
          </a:p>
          <a:p>
            <a:pPr marL="0" indent="0" algn="l">
              <a:buNone/>
            </a:pPr>
            <a:r>
              <a:rPr lang="en-US" sz="2000" dirty="0"/>
              <a:t>This node (</a:t>
            </a:r>
            <a:r>
              <a:rPr lang="en-US" sz="2000" b="1" dirty="0"/>
              <a:t>Manipulation &gt; Column &gt; Filter</a:t>
            </a:r>
            <a:r>
              <a:rPr lang="en-US" sz="2000" dirty="0"/>
              <a:t>) drops unneeded columns in a table.</a:t>
            </a:r>
          </a:p>
          <a:p>
            <a:pPr marL="0" indent="0" algn="l">
              <a:buNone/>
            </a:pPr>
            <a:r>
              <a:rPr lang="en-US" sz="2000" dirty="0"/>
              <a:t>The only required step for its configuration is to select which columns to keep at the output port (the green box on the right) and which ones to filter out (the red box on the left).</a:t>
            </a:r>
          </a:p>
          <a:p>
            <a:pPr marL="0" indent="0" algn="l">
              <a:buNone/>
            </a:pPr>
            <a:endParaRPr lang="en-US" sz="2000" dirty="0"/>
          </a:p>
          <a:p>
            <a:pPr marL="0" indent="0" algn="l">
              <a:buNone/>
            </a:pPr>
            <a:r>
              <a:rPr lang="en-US" sz="2000" dirty="0"/>
              <a:t>14. Add the Column Filter node to the workflow and exclude the columns we no longer need:  (First Name, Surname, and </a:t>
            </a:r>
            <a:r>
              <a:rPr lang="en-US" sz="2000" dirty="0" err="1"/>
              <a:t>IP_Address</a:t>
            </a:r>
            <a:r>
              <a:rPr lang="en-US" sz="2000" dirty="0"/>
              <a:t>) by moving them onto the left panel.</a:t>
            </a:r>
          </a:p>
        </p:txBody>
      </p:sp>
      <p:pic>
        <p:nvPicPr>
          <p:cNvPr id="5" name="Picture 4">
            <a:extLst>
              <a:ext uri="{FF2B5EF4-FFF2-40B4-BE49-F238E27FC236}">
                <a16:creationId xmlns:a16="http://schemas.microsoft.com/office/drawing/2014/main" id="{244CCFAE-4696-40E4-BB0D-7022C6497AE1}"/>
              </a:ext>
            </a:extLst>
          </p:cNvPr>
          <p:cNvPicPr>
            <a:picLocks noChangeAspect="1"/>
          </p:cNvPicPr>
          <p:nvPr/>
        </p:nvPicPr>
        <p:blipFill>
          <a:blip r:embed="rId2"/>
          <a:stretch>
            <a:fillRect/>
          </a:stretch>
        </p:blipFill>
        <p:spPr>
          <a:xfrm>
            <a:off x="5836157" y="445238"/>
            <a:ext cx="3172268" cy="666843"/>
          </a:xfrm>
          <a:prstGeom prst="rect">
            <a:avLst/>
          </a:prstGeom>
        </p:spPr>
      </p:pic>
      <p:pic>
        <p:nvPicPr>
          <p:cNvPr id="8" name="Picture 7">
            <a:extLst>
              <a:ext uri="{FF2B5EF4-FFF2-40B4-BE49-F238E27FC236}">
                <a16:creationId xmlns:a16="http://schemas.microsoft.com/office/drawing/2014/main" id="{6CF3ECFD-A052-0D1B-A081-E8870A429018}"/>
              </a:ext>
            </a:extLst>
          </p:cNvPr>
          <p:cNvPicPr>
            <a:picLocks noChangeAspect="1"/>
          </p:cNvPicPr>
          <p:nvPr/>
        </p:nvPicPr>
        <p:blipFill>
          <a:blip r:embed="rId3"/>
          <a:stretch>
            <a:fillRect/>
          </a:stretch>
        </p:blipFill>
        <p:spPr>
          <a:xfrm>
            <a:off x="5864732" y="1180366"/>
            <a:ext cx="6229502" cy="3481672"/>
          </a:xfrm>
          <a:prstGeom prst="rect">
            <a:avLst/>
          </a:prstGeom>
        </p:spPr>
      </p:pic>
    </p:spTree>
    <p:extLst>
      <p:ext uri="{BB962C8B-B14F-4D97-AF65-F5344CB8AC3E}">
        <p14:creationId xmlns:p14="http://schemas.microsoft.com/office/powerpoint/2010/main" val="2148558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59)  </a:t>
            </a:r>
            <a:br>
              <a:rPr lang="en-US" dirty="0"/>
            </a:br>
            <a:r>
              <a:rPr lang="en-US" dirty="0"/>
              <a:t>Steps 15 – Column Rename</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5767145" cy="5544284"/>
          </a:xfrm>
        </p:spPr>
        <p:txBody>
          <a:bodyPr>
            <a:noAutofit/>
          </a:bodyPr>
          <a:lstStyle/>
          <a:p>
            <a:pPr marL="0" indent="0" algn="l">
              <a:buNone/>
            </a:pPr>
            <a:r>
              <a:rPr lang="en-US" sz="2000" dirty="0"/>
              <a:t>The node lets you change the names and the data types of columns. To configure it, double-click on the columns you would like to edit (you'll find a list on the left) and tick the Change box: you will then be able to enter the new names in the box beside.</a:t>
            </a:r>
          </a:p>
          <a:p>
            <a:pPr marL="0" indent="0" algn="l">
              <a:buNone/>
            </a:pPr>
            <a:r>
              <a:rPr lang="en-US" sz="2000" dirty="0"/>
              <a:t>To change the data type of a column and convert all its values, you can use the dropdown menu on the right. The menu will be prepopulated with a list of possible data types each column can be safely converted into.</a:t>
            </a:r>
          </a:p>
          <a:p>
            <a:pPr marL="0" indent="0" algn="l">
              <a:buNone/>
            </a:pPr>
            <a:endParaRPr lang="en-US" sz="2000" dirty="0"/>
          </a:p>
          <a:p>
            <a:pPr marL="0" indent="0" algn="l">
              <a:buNone/>
            </a:pPr>
            <a:r>
              <a:rPr lang="en-US" sz="2000" dirty="0"/>
              <a:t>15. We can now use the Column Rename node to change the headers in our table.  The only ones that need some makeup are __Email_Entered, which can become simple Email, and _Credit, which can be renamed to Credit.</a:t>
            </a:r>
          </a:p>
        </p:txBody>
      </p:sp>
      <p:pic>
        <p:nvPicPr>
          <p:cNvPr id="6" name="Picture 5">
            <a:extLst>
              <a:ext uri="{FF2B5EF4-FFF2-40B4-BE49-F238E27FC236}">
                <a16:creationId xmlns:a16="http://schemas.microsoft.com/office/drawing/2014/main" id="{3F2D524E-D7F2-0B28-5511-9D477D6F369C}"/>
              </a:ext>
            </a:extLst>
          </p:cNvPr>
          <p:cNvPicPr>
            <a:picLocks noChangeAspect="1"/>
          </p:cNvPicPr>
          <p:nvPr/>
        </p:nvPicPr>
        <p:blipFill>
          <a:blip r:embed="rId2"/>
          <a:stretch>
            <a:fillRect/>
          </a:stretch>
        </p:blipFill>
        <p:spPr>
          <a:xfrm>
            <a:off x="6137694" y="1033420"/>
            <a:ext cx="3639058" cy="600159"/>
          </a:xfrm>
          <a:prstGeom prst="rect">
            <a:avLst/>
          </a:prstGeom>
        </p:spPr>
      </p:pic>
      <p:pic>
        <p:nvPicPr>
          <p:cNvPr id="9" name="Picture 8">
            <a:extLst>
              <a:ext uri="{FF2B5EF4-FFF2-40B4-BE49-F238E27FC236}">
                <a16:creationId xmlns:a16="http://schemas.microsoft.com/office/drawing/2014/main" id="{62AC7BE6-556D-1A90-5443-15EF5179321F}"/>
              </a:ext>
            </a:extLst>
          </p:cNvPr>
          <p:cNvPicPr>
            <a:picLocks noChangeAspect="1"/>
          </p:cNvPicPr>
          <p:nvPr/>
        </p:nvPicPr>
        <p:blipFill>
          <a:blip r:embed="rId3"/>
          <a:stretch>
            <a:fillRect/>
          </a:stretch>
        </p:blipFill>
        <p:spPr>
          <a:xfrm>
            <a:off x="6137694" y="1647091"/>
            <a:ext cx="5956540" cy="3729651"/>
          </a:xfrm>
          <a:prstGeom prst="rect">
            <a:avLst/>
          </a:prstGeom>
        </p:spPr>
      </p:pic>
    </p:spTree>
    <p:extLst>
      <p:ext uri="{BB962C8B-B14F-4D97-AF65-F5344CB8AC3E}">
        <p14:creationId xmlns:p14="http://schemas.microsoft.com/office/powerpoint/2010/main" val="1098070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60)  </a:t>
            </a:r>
            <a:br>
              <a:rPr lang="en-US" dirty="0"/>
            </a:br>
            <a:r>
              <a:rPr lang="en-US" dirty="0"/>
              <a:t>Steps 16 – Column </a:t>
            </a:r>
            <a:r>
              <a:rPr lang="en-US" dirty="0" err="1"/>
              <a:t>Resorter</a:t>
            </a:r>
            <a:endParaRPr lang="en-US" dirty="0"/>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5985296" cy="5544284"/>
          </a:xfrm>
        </p:spPr>
        <p:txBody>
          <a:bodyPr>
            <a:noAutofit/>
          </a:bodyPr>
          <a:lstStyle/>
          <a:p>
            <a:pPr marL="0" indent="0" algn="l">
              <a:buNone/>
            </a:pPr>
            <a:r>
              <a:rPr lang="en-US" sz="2000" dirty="0"/>
              <a:t>This node (available in </a:t>
            </a:r>
            <a:r>
              <a:rPr lang="en-US" sz="2000" b="1" dirty="0"/>
              <a:t>Manipulation &gt; Column &gt; Transform</a:t>
            </a:r>
            <a:r>
              <a:rPr lang="en-US" sz="2000" dirty="0"/>
              <a:t>) changes the order of columns in a table. In the configuration window, you will find, on the left, all columns available at the input port, and on the right, a series of buttons to move them around. Select the column you wish to move across and then click on the different buttons to move columns up or down, place columns first or last in the table, or sort them in alphabetical order. If different columns appear at the input port (imagine the case where your source file is coming in with some new columns), they will be placed where the &lt;any unknown new column&gt; placeholder lies.</a:t>
            </a:r>
          </a:p>
          <a:p>
            <a:pPr marL="0" indent="0" algn="l">
              <a:buNone/>
            </a:pPr>
            <a:r>
              <a:rPr lang="en-US" sz="2000" dirty="0"/>
              <a:t>16. The last transformation required is to slightly change the order of columns in the table.  The </a:t>
            </a:r>
            <a:r>
              <a:rPr lang="en-US" sz="2000" b="1" dirty="0"/>
              <a:t>Full Name</a:t>
            </a:r>
            <a:r>
              <a:rPr lang="en-US" sz="2000" dirty="0"/>
              <a:t> column was added earlier in the process and ended up appearing as the last column while we would like it to be the first.  Select the column and click on </a:t>
            </a:r>
            <a:r>
              <a:rPr lang="en-US" sz="2000" b="1" dirty="0"/>
              <a:t>Move First</a:t>
            </a:r>
            <a:r>
              <a:rPr lang="en-US" sz="2000" dirty="0"/>
              <a:t> to fix it as need.</a:t>
            </a:r>
          </a:p>
        </p:txBody>
      </p:sp>
      <p:pic>
        <p:nvPicPr>
          <p:cNvPr id="5" name="Picture 4">
            <a:extLst>
              <a:ext uri="{FF2B5EF4-FFF2-40B4-BE49-F238E27FC236}">
                <a16:creationId xmlns:a16="http://schemas.microsoft.com/office/drawing/2014/main" id="{3951E5F4-741C-E95C-1046-BD4EA2ADBF26}"/>
              </a:ext>
            </a:extLst>
          </p:cNvPr>
          <p:cNvPicPr>
            <a:picLocks noChangeAspect="1"/>
          </p:cNvPicPr>
          <p:nvPr/>
        </p:nvPicPr>
        <p:blipFill>
          <a:blip r:embed="rId2"/>
          <a:stretch>
            <a:fillRect/>
          </a:stretch>
        </p:blipFill>
        <p:spPr>
          <a:xfrm>
            <a:off x="6137694" y="865997"/>
            <a:ext cx="3724795" cy="628738"/>
          </a:xfrm>
          <a:prstGeom prst="rect">
            <a:avLst/>
          </a:prstGeom>
        </p:spPr>
      </p:pic>
      <p:pic>
        <p:nvPicPr>
          <p:cNvPr id="8" name="Picture 7">
            <a:extLst>
              <a:ext uri="{FF2B5EF4-FFF2-40B4-BE49-F238E27FC236}">
                <a16:creationId xmlns:a16="http://schemas.microsoft.com/office/drawing/2014/main" id="{40D47AA1-E174-CD36-0E62-90B773866F8C}"/>
              </a:ext>
            </a:extLst>
          </p:cNvPr>
          <p:cNvPicPr>
            <a:picLocks noChangeAspect="1"/>
          </p:cNvPicPr>
          <p:nvPr/>
        </p:nvPicPr>
        <p:blipFill>
          <a:blip r:embed="rId3"/>
          <a:stretch>
            <a:fillRect/>
          </a:stretch>
        </p:blipFill>
        <p:spPr>
          <a:xfrm>
            <a:off x="6096000" y="1666583"/>
            <a:ext cx="5879491" cy="3381668"/>
          </a:xfrm>
          <a:prstGeom prst="rect">
            <a:avLst/>
          </a:prstGeom>
        </p:spPr>
      </p:pic>
    </p:spTree>
    <p:extLst>
      <p:ext uri="{BB962C8B-B14F-4D97-AF65-F5344CB8AC3E}">
        <p14:creationId xmlns:p14="http://schemas.microsoft.com/office/powerpoint/2010/main" val="368954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61)  </a:t>
            </a:r>
            <a:br>
              <a:rPr lang="en-US" dirty="0"/>
            </a:br>
            <a:r>
              <a:rPr lang="en-US" dirty="0"/>
              <a:t>Steps 17 – CSV Writer</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5985296" cy="5544284"/>
          </a:xfrm>
        </p:spPr>
        <p:txBody>
          <a:bodyPr>
            <a:noAutofit/>
          </a:bodyPr>
          <a:lstStyle/>
          <a:p>
            <a:pPr marL="0" indent="0" algn="l">
              <a:buNone/>
            </a:pPr>
            <a:r>
              <a:rPr lang="en-US" sz="2000" dirty="0"/>
              <a:t>This node (</a:t>
            </a:r>
            <a:r>
              <a:rPr lang="en-US" sz="2000" b="1" dirty="0"/>
              <a:t>IO &gt; Write</a:t>
            </a:r>
            <a:r>
              <a:rPr lang="en-US" sz="2000" dirty="0"/>
              <a:t>) saves the input data table into a CSV file on the local disk or to a remote location. The only required configuration step is to specify the full path of the file to create: you can click on the </a:t>
            </a:r>
            <a:r>
              <a:rPr lang="en-US" sz="2000" b="1" dirty="0"/>
              <a:t>Browse... </a:t>
            </a:r>
            <a:r>
              <a:rPr lang="en-US" sz="2000" dirty="0"/>
              <a:t>button to select the desired folder. The other configuration steps (not required) let you: change the format of the resulting CSV file like column delimiters (</a:t>
            </a:r>
            <a:r>
              <a:rPr lang="en-US" sz="2000" b="1" dirty="0"/>
              <a:t>Format </a:t>
            </a:r>
            <a:r>
              <a:rPr lang="en-US" sz="2000" dirty="0"/>
              <a:t>section), keep or remove headers as the first row (</a:t>
            </a:r>
            <a:r>
              <a:rPr lang="en-US" sz="2000" b="1" dirty="0"/>
              <a:t>Write column header</a:t>
            </a:r>
            <a:r>
              <a:rPr lang="en-US" sz="2000" dirty="0"/>
              <a:t>), and compress the newly generated file in .</a:t>
            </a:r>
            <a:r>
              <a:rPr lang="en-US" sz="2000" dirty="0" err="1"/>
              <a:t>gzip</a:t>
            </a:r>
            <a:r>
              <a:rPr lang="en-US" sz="2000" dirty="0"/>
              <a:t> format to save space on disk (go to the </a:t>
            </a:r>
            <a:r>
              <a:rPr lang="en-US" sz="2000" b="1" dirty="0"/>
              <a:t>Advanced Settings</a:t>
            </a:r>
            <a:r>
              <a:rPr lang="en-US" sz="2000" dirty="0"/>
              <a:t> tab for this).</a:t>
            </a:r>
          </a:p>
          <a:p>
            <a:pPr marL="0" indent="0" algn="l">
              <a:buNone/>
            </a:pPr>
            <a:r>
              <a:rPr lang="en-US" sz="2000" dirty="0"/>
              <a:t>17. The very last step of our process is to save our good-looking table as a CSV file. We implement the CSV Writer node, connect it, and do the only piece of required configuration, which is to specify where to save the new file and how to name it. </a:t>
            </a:r>
          </a:p>
          <a:p>
            <a:pPr marL="0" indent="0" algn="l">
              <a:buNone/>
            </a:pPr>
            <a:r>
              <a:rPr lang="en-US" sz="2000" dirty="0"/>
              <a:t>Click </a:t>
            </a:r>
            <a:r>
              <a:rPr lang="en-US" sz="2000" b="1" dirty="0"/>
              <a:t>OK</a:t>
            </a:r>
            <a:r>
              <a:rPr lang="en-US" sz="2000" dirty="0"/>
              <a:t> to close the window and execute the node to finally write the file on your disk.</a:t>
            </a:r>
          </a:p>
        </p:txBody>
      </p:sp>
      <p:pic>
        <p:nvPicPr>
          <p:cNvPr id="6" name="Picture 5">
            <a:extLst>
              <a:ext uri="{FF2B5EF4-FFF2-40B4-BE49-F238E27FC236}">
                <a16:creationId xmlns:a16="http://schemas.microsoft.com/office/drawing/2014/main" id="{D2DEE1D7-9CAF-5F29-275F-91C8D6671194}"/>
              </a:ext>
            </a:extLst>
          </p:cNvPr>
          <p:cNvPicPr>
            <a:picLocks noChangeAspect="1"/>
          </p:cNvPicPr>
          <p:nvPr/>
        </p:nvPicPr>
        <p:blipFill>
          <a:blip r:embed="rId2"/>
          <a:stretch>
            <a:fillRect/>
          </a:stretch>
        </p:blipFill>
        <p:spPr>
          <a:xfrm>
            <a:off x="6054307" y="621662"/>
            <a:ext cx="2800741" cy="733527"/>
          </a:xfrm>
          <a:prstGeom prst="rect">
            <a:avLst/>
          </a:prstGeom>
        </p:spPr>
      </p:pic>
      <p:pic>
        <p:nvPicPr>
          <p:cNvPr id="9" name="Picture 8">
            <a:extLst>
              <a:ext uri="{FF2B5EF4-FFF2-40B4-BE49-F238E27FC236}">
                <a16:creationId xmlns:a16="http://schemas.microsoft.com/office/drawing/2014/main" id="{B621CFBA-87A8-C34D-A111-26D0233D223C}"/>
              </a:ext>
            </a:extLst>
          </p:cNvPr>
          <p:cNvPicPr>
            <a:picLocks noChangeAspect="1"/>
          </p:cNvPicPr>
          <p:nvPr/>
        </p:nvPicPr>
        <p:blipFill>
          <a:blip r:embed="rId3"/>
          <a:stretch>
            <a:fillRect/>
          </a:stretch>
        </p:blipFill>
        <p:spPr>
          <a:xfrm>
            <a:off x="6054307" y="1528198"/>
            <a:ext cx="5959651" cy="4615427"/>
          </a:xfrm>
          <a:prstGeom prst="rect">
            <a:avLst/>
          </a:prstGeom>
        </p:spPr>
      </p:pic>
    </p:spTree>
    <p:extLst>
      <p:ext uri="{BB962C8B-B14F-4D97-AF65-F5344CB8AC3E}">
        <p14:creationId xmlns:p14="http://schemas.microsoft.com/office/powerpoint/2010/main" val="2003371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828C-FE0B-195C-354C-826B59D86D82}"/>
              </a:ext>
            </a:extLst>
          </p:cNvPr>
          <p:cNvSpPr>
            <a:spLocks noGrp="1"/>
          </p:cNvSpPr>
          <p:nvPr>
            <p:ph type="title"/>
          </p:nvPr>
        </p:nvSpPr>
        <p:spPr>
          <a:xfrm>
            <a:off x="181155" y="365125"/>
            <a:ext cx="11913079" cy="678671"/>
          </a:xfrm>
        </p:spPr>
        <p:txBody>
          <a:bodyPr>
            <a:normAutofit fontScale="90000"/>
          </a:bodyPr>
          <a:lstStyle/>
          <a:p>
            <a:r>
              <a:rPr lang="en-US" dirty="0"/>
              <a:t>Cleaning Data: (pg. 62)  </a:t>
            </a:r>
            <a:br>
              <a:rPr lang="en-US" dirty="0"/>
            </a:br>
            <a:r>
              <a:rPr lang="en-US" dirty="0"/>
              <a:t>Mission Accomplished!</a:t>
            </a:r>
          </a:p>
        </p:txBody>
      </p:sp>
      <p:sp>
        <p:nvSpPr>
          <p:cNvPr id="3" name="Content Placeholder 2">
            <a:extLst>
              <a:ext uri="{FF2B5EF4-FFF2-40B4-BE49-F238E27FC236}">
                <a16:creationId xmlns:a16="http://schemas.microsoft.com/office/drawing/2014/main" id="{8F2B8885-85F1-0839-5C20-5D4E994F13F0}"/>
              </a:ext>
            </a:extLst>
          </p:cNvPr>
          <p:cNvSpPr>
            <a:spLocks noGrp="1"/>
          </p:cNvSpPr>
          <p:nvPr>
            <p:ph idx="1"/>
          </p:nvPr>
        </p:nvSpPr>
        <p:spPr>
          <a:xfrm>
            <a:off x="69011" y="1180366"/>
            <a:ext cx="5985296" cy="5544284"/>
          </a:xfrm>
        </p:spPr>
        <p:txBody>
          <a:bodyPr>
            <a:noAutofit/>
          </a:bodyPr>
          <a:lstStyle/>
          <a:p>
            <a:pPr marL="0" indent="0" algn="l">
              <a:buNone/>
            </a:pPr>
            <a:endParaRPr lang="en-US" sz="2000" dirty="0"/>
          </a:p>
          <a:p>
            <a:pPr marL="0" indent="0" algn="l">
              <a:buNone/>
            </a:pPr>
            <a:r>
              <a:rPr lang="en-US" sz="2000" dirty="0"/>
              <a:t>Well done for completing your second data workflow! </a:t>
            </a:r>
          </a:p>
          <a:p>
            <a:pPr marL="0" indent="0" algn="l">
              <a:buNone/>
            </a:pPr>
            <a:r>
              <a:rPr lang="en-US" sz="2000" dirty="0"/>
              <a:t>The routine required for building a clean mailing list out of a messy raw dataset required a dozen nodes and some of our time, but the effort was certainly worth it. </a:t>
            </a:r>
          </a:p>
          <a:p>
            <a:pPr marL="0" indent="0" algn="l">
              <a:buNone/>
            </a:pPr>
            <a:r>
              <a:rPr lang="en-US" sz="2000" dirty="0"/>
              <a:t>Now we can clean up any number of records whenever we like by just re-running the same workflow, making sure that the name of the input file and its path stay the same. </a:t>
            </a:r>
          </a:p>
          <a:p>
            <a:pPr marL="0" indent="0" algn="l">
              <a:buNone/>
            </a:pPr>
            <a:r>
              <a:rPr lang="en-US" sz="2000" dirty="0"/>
              <a:t>To do so, you will need to: reset the workflow (right-click on the name of the workflow in the Explorer on the left and then click on Reset or just reset the first node pressing F8 after having selected it) and execute it again (the simplest way is to just press Shift + F7 on your keyboard or execute the last node with a right-click and select Execute).</a:t>
            </a:r>
          </a:p>
        </p:txBody>
      </p:sp>
      <p:pic>
        <p:nvPicPr>
          <p:cNvPr id="1026" name="Picture 2" descr="Pull Request - Mission Accomplished | Mohammad S Anwar [blogs.perl.org]">
            <a:extLst>
              <a:ext uri="{FF2B5EF4-FFF2-40B4-BE49-F238E27FC236}">
                <a16:creationId xmlns:a16="http://schemas.microsoft.com/office/drawing/2014/main" id="{3C2B8608-2045-63CC-E794-F85E4F521D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5063" y="146049"/>
            <a:ext cx="5654782" cy="24542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107F09B-7EA0-6F1E-44EC-75ABB241214C}"/>
              </a:ext>
            </a:extLst>
          </p:cNvPr>
          <p:cNvPicPr>
            <a:picLocks noChangeAspect="1"/>
          </p:cNvPicPr>
          <p:nvPr/>
        </p:nvPicPr>
        <p:blipFill>
          <a:blip r:embed="rId3"/>
          <a:stretch>
            <a:fillRect/>
          </a:stretch>
        </p:blipFill>
        <p:spPr>
          <a:xfrm>
            <a:off x="6054307" y="2952752"/>
            <a:ext cx="6068497" cy="2609850"/>
          </a:xfrm>
          <a:prstGeom prst="rect">
            <a:avLst/>
          </a:prstGeom>
        </p:spPr>
      </p:pic>
    </p:spTree>
    <p:extLst>
      <p:ext uri="{BB962C8B-B14F-4D97-AF65-F5344CB8AC3E}">
        <p14:creationId xmlns:p14="http://schemas.microsoft.com/office/powerpoint/2010/main" val="146316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5775</Words>
  <Application>Microsoft Office PowerPoint</Application>
  <PresentationFormat>Widescreen</PresentationFormat>
  <Paragraphs>173</Paragraphs>
  <Slides>35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Aptos</vt:lpstr>
      <vt:lpstr>Aptos Display</vt:lpstr>
      <vt:lpstr>Arial</vt:lpstr>
      <vt:lpstr>BookAntiqua</vt:lpstr>
      <vt:lpstr>BookAntiqua-Bold</vt:lpstr>
      <vt:lpstr>BookAntiqua-Italic</vt:lpstr>
      <vt:lpstr>Consolas</vt:lpstr>
      <vt:lpstr>Courier New</vt:lpstr>
      <vt:lpstr>Office Theme</vt:lpstr>
      <vt:lpstr> Intro to Data Analytics      Working Connections 2024  Instructor:  Chris Santo   Lab #2  Cleaning Data Walkthrough</vt:lpstr>
      <vt:lpstr>Lab #2 (Cleaning Data) Assignment in KNIME</vt:lpstr>
      <vt:lpstr>Lab #2 (Cleaning Data) Assignment in KNIME</vt:lpstr>
      <vt:lpstr>Lab #2 (Cleaning Data) Assignment in KNIME</vt:lpstr>
      <vt:lpstr>Cleaning Data – An Overview of the ETL Process</vt:lpstr>
      <vt:lpstr>Cleaning Data: (pg. 45 of text)  Steps 1&amp;2 (of 17)</vt:lpstr>
      <vt:lpstr>Cleaning Data: (pg. 46-47)   Step 3 – Excel Reader</vt:lpstr>
      <vt:lpstr>Cleaning Data: (pg. 46-47)   Step 3 – Excel Reader</vt:lpstr>
      <vt:lpstr>Cleaning Data: (pg. 46-47)   Step 4 – Duplicate Row Filter</vt:lpstr>
      <vt:lpstr>Cleaning Data: (pg. 46-47)   Step 4 – Duplicate Row Filter</vt:lpstr>
      <vt:lpstr>Cleaning Data: (pg. 46-47)   Step 5-6 – Duplicate Row Filter</vt:lpstr>
      <vt:lpstr>Cleaning Data: (pg. 46-51)   Step 7 – String Manipulation</vt:lpstr>
      <vt:lpstr>Cleaning Data: (pg. 46-51)   Step 7 – String Manipulation</vt:lpstr>
      <vt:lpstr>Cleaning Data: (pg. 46-51)   Step 7 – String Manipulation</vt:lpstr>
      <vt:lpstr>Cleaning Data: (pg. 46-51)   Step 7 – String Manipulation</vt:lpstr>
      <vt:lpstr>Cleaning Data: (pg. 46-51)   Step 7 – String Manipulation</vt:lpstr>
      <vt:lpstr>Cleaning Data: (pg. 46-51)   Step 7 – String Manipulation</vt:lpstr>
      <vt:lpstr>Cleaning Data: (pg. 51)   Step 8 – String Manipulation</vt:lpstr>
      <vt:lpstr>Cleaning Data: (pg. 51)   Step 9 – String Manipulation</vt:lpstr>
      <vt:lpstr>Cleaning Data: (pg. 52-55)   Steps 10-11 – Row Filter</vt:lpstr>
      <vt:lpstr>Cleaning Data: (pg. 52-55)   Steps 10-11 – Row Filter</vt:lpstr>
      <vt:lpstr>Cleaning Data: (pg. 52-55)   Steps 10-11 – Row Filter</vt:lpstr>
      <vt:lpstr>Cleaning Data: (pg. 52-55)   Steps 10-11 – Row Filter</vt:lpstr>
      <vt:lpstr>Cleaning Data: (pg. 52-55)   Steps 10-11 – Row Filter</vt:lpstr>
      <vt:lpstr>Cleaning Data: (pg. 52-55)   Steps 10-11 – Row Filter</vt:lpstr>
      <vt:lpstr>Cleaning Data: (pg. 55-57)   Steps 12-13 – Missing Value</vt:lpstr>
      <vt:lpstr>Cleaning Data: (pg. 55-57)   Steps 12-13 – Missing Value</vt:lpstr>
      <vt:lpstr>Cleaning Data: (pg. 55-57)   Steps 12-13 – Missing Value</vt:lpstr>
      <vt:lpstr>Cleaning Data: (pg. 55-57)   Steps 12-13 – Missing Value</vt:lpstr>
      <vt:lpstr>Cleaning Data: (pg. 55-57)   Steps 12-13 – Missing Value</vt:lpstr>
      <vt:lpstr>Cleaning Data: (pg. 58)   Steps 14 – Column Filter</vt:lpstr>
      <vt:lpstr>Cleaning Data: (pg. 59)   Steps 15 – Column Rename</vt:lpstr>
      <vt:lpstr>Cleaning Data: (pg. 60)   Steps 16 – Column Resorter</vt:lpstr>
      <vt:lpstr>Cleaning Data: (pg. 61)   Steps 17 – CSV Writer</vt:lpstr>
      <vt:lpstr>Cleaning Data: (pg. 62)   Mission Accomplished!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World – An Overview of the ETL Process</dc:title>
  <dc:creator>Chris Santo</dc:creator>
  <cp:lastModifiedBy>Chris Santo</cp:lastModifiedBy>
  <cp:revision>9</cp:revision>
  <dcterms:created xsi:type="dcterms:W3CDTF">2024-01-22T01:15:35Z</dcterms:created>
  <dcterms:modified xsi:type="dcterms:W3CDTF">2024-07-07T19:26:48Z</dcterms:modified>
</cp:coreProperties>
</file>