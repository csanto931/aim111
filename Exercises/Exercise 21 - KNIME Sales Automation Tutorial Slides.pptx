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258" r:id="rId3"/>
    <p:sldId id="310" r:id="rId4"/>
    <p:sldId id="311" r:id="rId5"/>
    <p:sldId id="312" r:id="rId6"/>
    <p:sldId id="313" r:id="rId7"/>
    <p:sldId id="314" r:id="rId8"/>
    <p:sldId id="317" r:id="rId9"/>
    <p:sldId id="315" r:id="rId10"/>
    <p:sldId id="316" r:id="rId11"/>
    <p:sldId id="318" r:id="rId12"/>
    <p:sldId id="319" r:id="rId13"/>
    <p:sldId id="257" r:id="rId14"/>
    <p:sldId id="320" r:id="rId15"/>
    <p:sldId id="321" r:id="rId16"/>
    <p:sldId id="322" r:id="rId17"/>
    <p:sldId id="323" r:id="rId18"/>
    <p:sldId id="324" r:id="rId19"/>
    <p:sldId id="325" r:id="rId20"/>
    <p:sldId id="326" r:id="rId21"/>
    <p:sldId id="328" r:id="rId22"/>
    <p:sldId id="32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DC9FD-E3B8-212A-BDB0-273D0356A4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24F6FD-64F1-634D-94BF-357DA27208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9A6D35-D60B-13B9-BB84-C262825D886B}"/>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5" name="Footer Placeholder 4">
            <a:extLst>
              <a:ext uri="{FF2B5EF4-FFF2-40B4-BE49-F238E27FC236}">
                <a16:creationId xmlns:a16="http://schemas.microsoft.com/office/drawing/2014/main" id="{EA954EE2-9952-A148-9E9E-AD0BA03234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3F291F-DB48-0F34-D84C-7AD4EBB30234}"/>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233369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2C735-779F-C757-F774-855FED5270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38C84-1DAF-F7E9-0A5A-294A5D6014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9E8461-36A7-1E94-F809-07AD0D84C704}"/>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5" name="Footer Placeholder 4">
            <a:extLst>
              <a:ext uri="{FF2B5EF4-FFF2-40B4-BE49-F238E27FC236}">
                <a16:creationId xmlns:a16="http://schemas.microsoft.com/office/drawing/2014/main" id="{278DE4FF-ACA8-8AA4-3E49-84B3F2C0C3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9AB5A-7DF1-F212-C1F2-43F1F7B2E114}"/>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104398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4341-D5C9-E033-66FB-77F08F15DA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D941C3-9570-0A85-FDBC-20D8BE22A6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2059B-D474-7B99-4D12-87AAFEB9DDD9}"/>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5" name="Footer Placeholder 4">
            <a:extLst>
              <a:ext uri="{FF2B5EF4-FFF2-40B4-BE49-F238E27FC236}">
                <a16:creationId xmlns:a16="http://schemas.microsoft.com/office/drawing/2014/main" id="{4E67481D-6C92-BF07-32EA-EB68068479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1AD186-8D2F-9115-8872-7850FED92CFC}"/>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893179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4C481-80A3-972A-500F-9453DD8337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56019-55AE-831D-2EE2-D5A8759230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35599D-C0D6-E642-67EF-31EC984CEA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025033-B440-E621-E395-EE82C52D11A6}"/>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6" name="Footer Placeholder 5">
            <a:extLst>
              <a:ext uri="{FF2B5EF4-FFF2-40B4-BE49-F238E27FC236}">
                <a16:creationId xmlns:a16="http://schemas.microsoft.com/office/drawing/2014/main" id="{B6CBC36A-2637-7090-257A-F3851CB061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71F7EF-9CA4-6038-7DEA-604810A8856C}"/>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885845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F49E5-09FD-F56F-A4AA-2DED9B7FE2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6239B2-139F-616E-E7D3-5F9D388E25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B7AF94-CA4F-DC99-2B34-D53BE4B46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155B7-950F-67A9-DFA8-2BBBEB6EAE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F30D30-FDFE-5CD2-BFFB-709A807599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3615E9-2BEE-67D0-3425-5B8A12E92ADA}"/>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8" name="Footer Placeholder 7">
            <a:extLst>
              <a:ext uri="{FF2B5EF4-FFF2-40B4-BE49-F238E27FC236}">
                <a16:creationId xmlns:a16="http://schemas.microsoft.com/office/drawing/2014/main" id="{AE17D5A5-D2B3-8820-2E1C-8832789198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48A4E-F611-2729-904F-701D0F016E93}"/>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205621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FB271-BA21-C458-C84B-ABC51B6AA2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DAD841-18E9-A579-DBC9-88FDCEC24A5C}"/>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4" name="Footer Placeholder 3">
            <a:extLst>
              <a:ext uri="{FF2B5EF4-FFF2-40B4-BE49-F238E27FC236}">
                <a16:creationId xmlns:a16="http://schemas.microsoft.com/office/drawing/2014/main" id="{4C352AC2-D92A-6B51-C3A2-5148239BD9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AE40B-2BB8-D754-C22A-B276CD95F408}"/>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337750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70B851-C0CD-8081-7F05-8BBCD533E756}"/>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3" name="Footer Placeholder 2">
            <a:extLst>
              <a:ext uri="{FF2B5EF4-FFF2-40B4-BE49-F238E27FC236}">
                <a16:creationId xmlns:a16="http://schemas.microsoft.com/office/drawing/2014/main" id="{78FA55F1-D9E0-C598-B56C-AAAF3B39D4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425BD6-C706-FFEC-EDD3-1FC5E5DFC150}"/>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533046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A170-E7EF-C57B-50A9-66CF14AAE7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1571D2-A59D-EC89-E66D-9CA7D007FB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66F628-CA58-7290-3CEA-5AF3C1CAF1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656E4F-FAF1-1314-E813-8DD762AC5341}"/>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6" name="Footer Placeholder 5">
            <a:extLst>
              <a:ext uri="{FF2B5EF4-FFF2-40B4-BE49-F238E27FC236}">
                <a16:creationId xmlns:a16="http://schemas.microsoft.com/office/drawing/2014/main" id="{B4CBAC08-31B6-33AD-63B0-4D368EAF64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9413B7-DC01-1696-C6F9-C291973652C0}"/>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481382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0D6E3-3E56-627F-415E-B4509CAC4C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F568D5-CEDC-C147-DBAF-ADE9E137AF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6136B5-8221-5378-A21D-28C916058F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B659EB-19C9-B77B-FC92-9DA20DF5C47C}"/>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6" name="Footer Placeholder 5">
            <a:extLst>
              <a:ext uri="{FF2B5EF4-FFF2-40B4-BE49-F238E27FC236}">
                <a16:creationId xmlns:a16="http://schemas.microsoft.com/office/drawing/2014/main" id="{F8870438-E152-2FE8-93F5-5DC3E56174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DEDAF4-AA61-A60C-DF2A-57FC28D38E14}"/>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74820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9D34A-13DE-5EB1-B5CD-D9E45D5C64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FE28C1-A2B8-BB84-13A5-121BF7BFAB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AB042F-4C06-3D08-0DFE-792E151134E2}"/>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5" name="Footer Placeholder 4">
            <a:extLst>
              <a:ext uri="{FF2B5EF4-FFF2-40B4-BE49-F238E27FC236}">
                <a16:creationId xmlns:a16="http://schemas.microsoft.com/office/drawing/2014/main" id="{FC08FC7A-87D3-EFB7-EDDF-4420131A8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C2BE9-8577-17CE-675C-D35045D58387}"/>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165935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24A8DE-F49C-1A4E-FA36-C7D9DF1C1E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C56811-E407-77CD-52B0-4E0668B60E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CD37D6-4E4F-3E31-4311-084B118394C3}"/>
              </a:ext>
            </a:extLst>
          </p:cNvPr>
          <p:cNvSpPr>
            <a:spLocks noGrp="1"/>
          </p:cNvSpPr>
          <p:nvPr>
            <p:ph type="dt" sz="half" idx="10"/>
          </p:nvPr>
        </p:nvSpPr>
        <p:spPr/>
        <p:txBody>
          <a:bodyPr/>
          <a:lstStyle/>
          <a:p>
            <a:fld id="{C7DB579E-1A88-429C-AB76-003AB8900BC5}" type="datetimeFigureOut">
              <a:rPr lang="en-US" smtClean="0"/>
              <a:t>1/27/2024</a:t>
            </a:fld>
            <a:endParaRPr lang="en-US"/>
          </a:p>
        </p:txBody>
      </p:sp>
      <p:sp>
        <p:nvSpPr>
          <p:cNvPr id="5" name="Footer Placeholder 4">
            <a:extLst>
              <a:ext uri="{FF2B5EF4-FFF2-40B4-BE49-F238E27FC236}">
                <a16:creationId xmlns:a16="http://schemas.microsoft.com/office/drawing/2014/main" id="{29628165-A1F8-5BE3-330B-AFE474D69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4DA54-7235-E818-079B-DB443DD44FFD}"/>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1571237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0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F4E9FE9-6A07-4A56-9C75-EDF2AEA0D093}"/>
              </a:ext>
            </a:extLst>
          </p:cNvPr>
          <p:cNvSpPr>
            <a:spLocks noGrp="1"/>
          </p:cNvSpPr>
          <p:nvPr>
            <p:ph type="pic" sz="quarter" idx="20" hasCustomPrompt="1"/>
          </p:nvPr>
        </p:nvSpPr>
        <p:spPr>
          <a:xfrm>
            <a:off x="6096002" y="441325"/>
            <a:ext cx="6095999" cy="5062828"/>
          </a:xfrm>
          <a:custGeom>
            <a:avLst/>
            <a:gdLst>
              <a:gd name="connsiteX0" fmla="*/ 0 w 6095999"/>
              <a:gd name="connsiteY0" fmla="*/ 0 h 5062828"/>
              <a:gd name="connsiteX1" fmla="*/ 6095999 w 6095999"/>
              <a:gd name="connsiteY1" fmla="*/ 0 h 5062828"/>
              <a:gd name="connsiteX2" fmla="*/ 6095999 w 6095999"/>
              <a:gd name="connsiteY2" fmla="*/ 5062828 h 5062828"/>
              <a:gd name="connsiteX3" fmla="*/ 0 w 6095999"/>
              <a:gd name="connsiteY3" fmla="*/ 5062828 h 5062828"/>
            </a:gdLst>
            <a:ahLst/>
            <a:cxnLst>
              <a:cxn ang="0">
                <a:pos x="connsiteX0" y="connsiteY0"/>
              </a:cxn>
              <a:cxn ang="0">
                <a:pos x="connsiteX1" y="connsiteY1"/>
              </a:cxn>
              <a:cxn ang="0">
                <a:pos x="connsiteX2" y="connsiteY2"/>
              </a:cxn>
              <a:cxn ang="0">
                <a:pos x="connsiteX3" y="connsiteY3"/>
              </a:cxn>
            </a:cxnLst>
            <a:rect l="l" t="t" r="r" b="b"/>
            <a:pathLst>
              <a:path w="6095999" h="5062828">
                <a:moveTo>
                  <a:pt x="0" y="0"/>
                </a:moveTo>
                <a:lnTo>
                  <a:pt x="6095999" y="0"/>
                </a:lnTo>
                <a:lnTo>
                  <a:pt x="6095999" y="5062828"/>
                </a:lnTo>
                <a:lnTo>
                  <a:pt x="0" y="5062828"/>
                </a:lnTo>
                <a:close/>
              </a:path>
            </a:pathLst>
          </a:custGeom>
          <a:solidFill>
            <a:schemeClr val="tx2"/>
          </a:solidFill>
        </p:spPr>
        <p:txBody>
          <a:bodyPr wrap="square">
            <a:noAutofit/>
          </a:bodyPr>
          <a:lstStyle/>
          <a:p>
            <a:r>
              <a:rPr lang="en-US" dirty="0"/>
              <a:t>Photo Placeholders. Click icon to add picture</a:t>
            </a:r>
          </a:p>
        </p:txBody>
      </p:sp>
      <p:sp>
        <p:nvSpPr>
          <p:cNvPr id="7" name="Title 1">
            <a:extLst>
              <a:ext uri="{FF2B5EF4-FFF2-40B4-BE49-F238E27FC236}">
                <a16:creationId xmlns:a16="http://schemas.microsoft.com/office/drawing/2014/main" id="{C7FE5080-4CBF-4E22-BC00-52B66CC3E7C9}"/>
              </a:ext>
            </a:extLst>
          </p:cNvPr>
          <p:cNvSpPr>
            <a:spLocks noGrp="1"/>
          </p:cNvSpPr>
          <p:nvPr>
            <p:ph type="title"/>
          </p:nvPr>
        </p:nvSpPr>
        <p:spPr>
          <a:xfrm>
            <a:off x="673534" y="1274596"/>
            <a:ext cx="4745736" cy="2587752"/>
          </a:xfrm>
        </p:spPr>
        <p:txBody>
          <a:bodyPr anchor="t"/>
          <a:lstStyle>
            <a:lvl1pPr>
              <a:defRPr sz="5400" b="0" i="0">
                <a:solidFill>
                  <a:schemeClr val="accent5"/>
                </a:solidFill>
              </a:defRPr>
            </a:lvl1pPr>
          </a:lstStyle>
          <a:p>
            <a:r>
              <a:rPr lang="en-US" dirty="0"/>
              <a:t>Click to edit Master title style</a:t>
            </a:r>
            <a:endParaRPr lang="en-ID" dirty="0"/>
          </a:p>
        </p:txBody>
      </p:sp>
      <p:sp>
        <p:nvSpPr>
          <p:cNvPr id="8" name="Text Placeholder 9">
            <a:extLst>
              <a:ext uri="{FF2B5EF4-FFF2-40B4-BE49-F238E27FC236}">
                <a16:creationId xmlns:a16="http://schemas.microsoft.com/office/drawing/2014/main" id="{571609DA-66ED-4C86-872A-61E196B38594}"/>
              </a:ext>
            </a:extLst>
          </p:cNvPr>
          <p:cNvSpPr>
            <a:spLocks noGrp="1"/>
          </p:cNvSpPr>
          <p:nvPr>
            <p:ph type="body" sz="quarter" idx="19"/>
          </p:nvPr>
        </p:nvSpPr>
        <p:spPr>
          <a:xfrm>
            <a:off x="6437387" y="5818272"/>
            <a:ext cx="5413248" cy="274320"/>
          </a:xfrm>
        </p:spPr>
        <p:txBody>
          <a:bodyPr/>
          <a:lstStyle>
            <a:lvl1pPr algn="l">
              <a:defRPr sz="1200" b="0">
                <a:solidFill>
                  <a:schemeClr val="tx1"/>
                </a:solidFill>
                <a:latin typeface="+mj-lt"/>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9" name="Text Placeholder 9">
            <a:extLst>
              <a:ext uri="{FF2B5EF4-FFF2-40B4-BE49-F238E27FC236}">
                <a16:creationId xmlns:a16="http://schemas.microsoft.com/office/drawing/2014/main" id="{2FB15010-F25A-4BF8-B8E2-5AF627C382F4}"/>
              </a:ext>
            </a:extLst>
          </p:cNvPr>
          <p:cNvSpPr>
            <a:spLocks noGrp="1"/>
          </p:cNvSpPr>
          <p:nvPr>
            <p:ph type="body" sz="quarter" idx="21"/>
          </p:nvPr>
        </p:nvSpPr>
        <p:spPr>
          <a:xfrm>
            <a:off x="6437387" y="6116794"/>
            <a:ext cx="5413248" cy="429768"/>
          </a:xfrm>
        </p:spPr>
        <p:txBody>
          <a:bodyPr/>
          <a:lstStyle>
            <a:lvl1pPr algn="l">
              <a:defRPr sz="1100" b="0">
                <a:solidFill>
                  <a:schemeClr val="tx1"/>
                </a:solidFill>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12" name="Text Placeholder 9">
            <a:extLst>
              <a:ext uri="{FF2B5EF4-FFF2-40B4-BE49-F238E27FC236}">
                <a16:creationId xmlns:a16="http://schemas.microsoft.com/office/drawing/2014/main" id="{10E7DD5E-B87C-401E-A519-F54908646751}"/>
              </a:ext>
            </a:extLst>
          </p:cNvPr>
          <p:cNvSpPr>
            <a:spLocks noGrp="1"/>
          </p:cNvSpPr>
          <p:nvPr>
            <p:ph type="body" sz="quarter" idx="22"/>
          </p:nvPr>
        </p:nvSpPr>
        <p:spPr>
          <a:xfrm>
            <a:off x="2755466" y="4812879"/>
            <a:ext cx="2670048" cy="768096"/>
          </a:xfrm>
        </p:spPr>
        <p:txBody>
          <a:bodyPr/>
          <a:lstStyle>
            <a:lvl1pPr algn="l">
              <a:defRPr sz="1100" b="0">
                <a:solidFill>
                  <a:schemeClr val="tx1"/>
                </a:solidFill>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Tree>
    <p:extLst>
      <p:ext uri="{BB962C8B-B14F-4D97-AF65-F5344CB8AC3E}">
        <p14:creationId xmlns:p14="http://schemas.microsoft.com/office/powerpoint/2010/main" val="147916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85FE1F-0EB5-FB27-D8A2-B72BA27CB7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25D2FC-D485-963D-1C9F-F0148A862E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4B699-CD63-C147-6023-44E1629E7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DB579E-1A88-429C-AB76-003AB8900BC5}" type="datetimeFigureOut">
              <a:rPr lang="en-US" smtClean="0"/>
              <a:t>1/27/2024</a:t>
            </a:fld>
            <a:endParaRPr lang="en-US"/>
          </a:p>
        </p:txBody>
      </p:sp>
      <p:sp>
        <p:nvSpPr>
          <p:cNvPr id="5" name="Footer Placeholder 4">
            <a:extLst>
              <a:ext uri="{FF2B5EF4-FFF2-40B4-BE49-F238E27FC236}">
                <a16:creationId xmlns:a16="http://schemas.microsoft.com/office/drawing/2014/main" id="{85FE528B-810B-0C3B-AC81-229D514CE3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9FC8D6-DE69-E919-8AE5-7C3B316846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336F93-8E0C-4AEA-B888-672BED38A984}" type="slidenum">
              <a:rPr lang="en-US" smtClean="0"/>
              <a:t>‹#›</a:t>
            </a:fld>
            <a:endParaRPr lang="en-US"/>
          </a:p>
        </p:txBody>
      </p:sp>
    </p:spTree>
    <p:extLst>
      <p:ext uri="{BB962C8B-B14F-4D97-AF65-F5344CB8AC3E}">
        <p14:creationId xmlns:p14="http://schemas.microsoft.com/office/powerpoint/2010/main" val="3260927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86B6488-1CC9-7F40-82C6-F909C530C29A}"/>
              </a:ext>
            </a:extLst>
          </p:cNvPr>
          <p:cNvGrpSpPr/>
          <p:nvPr/>
        </p:nvGrpSpPr>
        <p:grpSpPr>
          <a:xfrm>
            <a:off x="-1" y="6022608"/>
            <a:ext cx="12192000" cy="847493"/>
            <a:chOff x="-1" y="0"/>
            <a:chExt cx="12192000" cy="847493"/>
          </a:xfrm>
        </p:grpSpPr>
        <p:sp>
          <p:nvSpPr>
            <p:cNvPr id="39" name="Rectangle 38">
              <a:extLst>
                <a:ext uri="{FF2B5EF4-FFF2-40B4-BE49-F238E27FC236}">
                  <a16:creationId xmlns:a16="http://schemas.microsoft.com/office/drawing/2014/main" id="{F5FFB2B3-4333-BA42-AEBD-E7148E7E68DA}"/>
                </a:ext>
              </a:extLst>
            </p:cNvPr>
            <p:cNvSpPr/>
            <p:nvPr/>
          </p:nvSpPr>
          <p:spPr>
            <a:xfrm>
              <a:off x="-1" y="0"/>
              <a:ext cx="12192000" cy="847493"/>
            </a:xfrm>
            <a:prstGeom prst="rect">
              <a:avLst/>
            </a:prstGeom>
            <a:solidFill>
              <a:srgbClr val="004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7" name="Picture 4" descr="DO-white_H.eps">
              <a:extLst>
                <a:ext uri="{FF2B5EF4-FFF2-40B4-BE49-F238E27FC236}">
                  <a16:creationId xmlns:a16="http://schemas.microsoft.com/office/drawing/2014/main" id="{CD194316-BFB1-3B44-8C9C-C22D48FD7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3374" y="232193"/>
              <a:ext cx="21240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5">
              <a:extLst>
                <a:ext uri="{FF2B5EF4-FFF2-40B4-BE49-F238E27FC236}">
                  <a16:creationId xmlns:a16="http://schemas.microsoft.com/office/drawing/2014/main" id="{2E6F5819-6105-2748-BD8B-F8502F108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07" y="201824"/>
              <a:ext cx="2577215" cy="498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Title 9">
            <a:extLst>
              <a:ext uri="{FF2B5EF4-FFF2-40B4-BE49-F238E27FC236}">
                <a16:creationId xmlns:a16="http://schemas.microsoft.com/office/drawing/2014/main" id="{208786AD-4912-4815-ADE4-F0D99F14C52E}"/>
              </a:ext>
            </a:extLst>
          </p:cNvPr>
          <p:cNvSpPr>
            <a:spLocks noGrp="1"/>
          </p:cNvSpPr>
          <p:nvPr>
            <p:ph type="title"/>
          </p:nvPr>
        </p:nvSpPr>
        <p:spPr>
          <a:xfrm>
            <a:off x="159391" y="427106"/>
            <a:ext cx="3092767" cy="5448513"/>
          </a:xfrm>
        </p:spPr>
        <p:txBody>
          <a:bodyPr>
            <a:normAutofit/>
          </a:bodyPr>
          <a:lstStyle/>
          <a:p>
            <a:br>
              <a:rPr lang="en-US" dirty="0">
                <a:solidFill>
                  <a:srgbClr val="004C97"/>
                </a:solidFill>
              </a:rPr>
            </a:br>
            <a:r>
              <a:rPr lang="en-US" sz="5300" dirty="0">
                <a:solidFill>
                  <a:srgbClr val="004C97"/>
                </a:solidFill>
              </a:rPr>
              <a:t>CIS215 </a:t>
            </a:r>
            <a:br>
              <a:rPr lang="en-US" sz="1800" dirty="0">
                <a:solidFill>
                  <a:srgbClr val="004C97"/>
                </a:solidFill>
              </a:rPr>
            </a:br>
            <a:br>
              <a:rPr lang="en-US" sz="1800" dirty="0">
                <a:solidFill>
                  <a:srgbClr val="004C97"/>
                </a:solidFill>
              </a:rPr>
            </a:br>
            <a:br>
              <a:rPr lang="en-US" sz="1800" dirty="0">
                <a:solidFill>
                  <a:srgbClr val="004C97"/>
                </a:solidFill>
              </a:rPr>
            </a:br>
            <a:br>
              <a:rPr lang="en-US" sz="1800" dirty="0">
                <a:solidFill>
                  <a:srgbClr val="004C97"/>
                </a:solidFill>
              </a:rPr>
            </a:br>
            <a:br>
              <a:rPr lang="en-US" sz="1800" dirty="0">
                <a:solidFill>
                  <a:srgbClr val="004C97"/>
                </a:solidFill>
              </a:rPr>
            </a:br>
            <a:r>
              <a:rPr lang="en-US" sz="1800" dirty="0">
                <a:solidFill>
                  <a:srgbClr val="004C97"/>
                </a:solidFill>
              </a:rPr>
              <a:t>Foundations of Data Analytics and Programming</a:t>
            </a:r>
            <a:br>
              <a:rPr lang="en-US" sz="1800" dirty="0">
                <a:solidFill>
                  <a:srgbClr val="004C97"/>
                </a:solidFill>
              </a:rPr>
            </a:br>
            <a:br>
              <a:rPr lang="en-US" sz="1800" dirty="0">
                <a:solidFill>
                  <a:srgbClr val="004C97"/>
                </a:solidFill>
              </a:rPr>
            </a:br>
            <a:r>
              <a:rPr lang="en-US" sz="1800" dirty="0">
                <a:solidFill>
                  <a:srgbClr val="004C97"/>
                </a:solidFill>
              </a:rPr>
              <a:t>Instructor:  Chris Santo</a:t>
            </a:r>
            <a:br>
              <a:rPr lang="en-US" sz="1800" dirty="0">
                <a:solidFill>
                  <a:srgbClr val="004C97"/>
                </a:solidFill>
              </a:rPr>
            </a:br>
            <a:br>
              <a:rPr lang="en-US" sz="1800" dirty="0">
                <a:solidFill>
                  <a:srgbClr val="004C97"/>
                </a:solidFill>
              </a:rPr>
            </a:br>
            <a:br>
              <a:rPr lang="en-US" sz="1800" dirty="0">
                <a:solidFill>
                  <a:srgbClr val="004C97"/>
                </a:solidFill>
              </a:rPr>
            </a:br>
            <a:r>
              <a:rPr lang="en-US" sz="1800" dirty="0">
                <a:solidFill>
                  <a:srgbClr val="004C97"/>
                </a:solidFill>
              </a:rPr>
              <a:t>Module #3</a:t>
            </a:r>
            <a:br>
              <a:rPr lang="en-US" sz="1800" dirty="0">
                <a:solidFill>
                  <a:srgbClr val="004C97"/>
                </a:solidFill>
              </a:rPr>
            </a:br>
            <a:r>
              <a:rPr lang="en-US" sz="1800" dirty="0">
                <a:solidFill>
                  <a:srgbClr val="004C97"/>
                </a:solidFill>
              </a:rPr>
              <a:t>Data Transformation Tutorial</a:t>
            </a:r>
            <a:br>
              <a:rPr lang="en-US" sz="1800" dirty="0">
                <a:solidFill>
                  <a:srgbClr val="004C97"/>
                </a:solidFill>
              </a:rPr>
            </a:br>
            <a:r>
              <a:rPr lang="en-US" sz="1800" dirty="0">
                <a:solidFill>
                  <a:srgbClr val="004C97"/>
                </a:solidFill>
              </a:rPr>
              <a:t>Sales Report Automation</a:t>
            </a:r>
            <a:br>
              <a:rPr lang="en-US" sz="1800" dirty="0">
                <a:solidFill>
                  <a:srgbClr val="004C97"/>
                </a:solidFill>
              </a:rPr>
            </a:br>
            <a:r>
              <a:rPr lang="en-US" sz="1800" dirty="0">
                <a:solidFill>
                  <a:srgbClr val="004C97"/>
                </a:solidFill>
              </a:rPr>
              <a:t>(Textbook pg. 82-113) </a:t>
            </a:r>
            <a:br>
              <a:rPr lang="en-US" sz="1800" dirty="0">
                <a:solidFill>
                  <a:srgbClr val="004C97"/>
                </a:solidFill>
              </a:rPr>
            </a:br>
            <a:r>
              <a:rPr lang="en-US" sz="1800" dirty="0">
                <a:solidFill>
                  <a:srgbClr val="004C97"/>
                </a:solidFill>
              </a:rPr>
              <a:t>Assignment Walkthrough</a:t>
            </a:r>
            <a:endParaRPr lang="en-US" sz="5400" dirty="0">
              <a:solidFill>
                <a:srgbClr val="004C97"/>
              </a:solidFill>
              <a:latin typeface="+mj-lt"/>
            </a:endParaRPr>
          </a:p>
        </p:txBody>
      </p:sp>
      <p:pic>
        <p:nvPicPr>
          <p:cNvPr id="1026" name="Picture 2" descr="Automate Reporting with CRE Software">
            <a:extLst>
              <a:ext uri="{FF2B5EF4-FFF2-40B4-BE49-F238E27FC236}">
                <a16:creationId xmlns:a16="http://schemas.microsoft.com/office/drawing/2014/main" id="{BD638FF0-27EB-A7A8-9BE7-3EDAF80C1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6292" y="427106"/>
            <a:ext cx="7493950" cy="5352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9400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lnSpcReduction="10000"/>
          </a:bodyPr>
          <a:lstStyle/>
          <a:p>
            <a:pPr marL="0" indent="0" algn="l">
              <a:buNone/>
            </a:pPr>
            <a:r>
              <a:rPr lang="en-US" sz="3200" dirty="0"/>
              <a:t>In this tutorial, you will impersonate the role of a business analyst working for a UK-based online retailer, selling all-occasion gifts. </a:t>
            </a:r>
          </a:p>
          <a:p>
            <a:pPr marL="0" indent="0" algn="l">
              <a:buNone/>
            </a:pPr>
            <a:r>
              <a:rPr lang="en-US" sz="3200" dirty="0"/>
              <a:t>You are intrigued by data analytics and are reading a few (good) books about its potential. </a:t>
            </a:r>
          </a:p>
          <a:p>
            <a:pPr marL="0" indent="0" algn="l">
              <a:buNone/>
            </a:pPr>
            <a:r>
              <a:rPr lang="en-US" sz="3200" dirty="0"/>
              <a:t>You have set for yourself the ambition of progressively amplifying the role of data analytics in the company by leveraging your new skills. </a:t>
            </a:r>
          </a:p>
          <a:p>
            <a:pPr marL="0" indent="0" algn="l">
              <a:buNone/>
            </a:pPr>
            <a:r>
              <a:rPr lang="en-US" sz="3200" dirty="0"/>
              <a:t>You decide to start from something relatively simple: </a:t>
            </a:r>
            <a:br>
              <a:rPr lang="en-US" sz="3200" dirty="0"/>
            </a:br>
            <a:r>
              <a:rPr lang="en-US" sz="3200" dirty="0"/>
              <a:t>	</a:t>
            </a:r>
            <a:r>
              <a:rPr lang="en-US" sz="3200" b="1" dirty="0"/>
              <a:t>Automate and improve the reporting of sales data. </a:t>
            </a:r>
          </a:p>
          <a:p>
            <a:pPr marL="0" indent="0" algn="l">
              <a:buNone/>
            </a:pPr>
            <a:r>
              <a:rPr lang="en-US" sz="3200" dirty="0"/>
              <a:t>By doing so, you want to make a quick and visible impact and instill an appetite for more advanced analytics in your colleagues and managers, unlocking interest and investments.</a:t>
            </a:r>
          </a:p>
        </p:txBody>
      </p:sp>
    </p:spTree>
    <p:extLst>
      <p:ext uri="{BB962C8B-B14F-4D97-AF65-F5344CB8AC3E}">
        <p14:creationId xmlns:p14="http://schemas.microsoft.com/office/powerpoint/2010/main" val="2019618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l">
              <a:buNone/>
            </a:pPr>
            <a:r>
              <a:rPr lang="en-US" sz="3200" dirty="0"/>
              <a:t>The company you work for has grown quickly and didn't have the opportunity to adopt a sustainable business intelligence solution. </a:t>
            </a:r>
          </a:p>
          <a:p>
            <a:pPr marL="0" indent="0" algn="l">
              <a:buNone/>
            </a:pPr>
            <a:r>
              <a:rPr lang="en-US" sz="3200" dirty="0"/>
              <a:t>The regular reporting is managed manually using Excel. The poor finance analyst responsible for it pulls data from the company website every Friday and, after a couple of hours of boring manual steps, sends an email with the latest status. </a:t>
            </a:r>
          </a:p>
          <a:p>
            <a:pPr marL="0" indent="0" algn="l">
              <a:buNone/>
            </a:pPr>
            <a:r>
              <a:rPr lang="en-US" sz="3200" dirty="0"/>
              <a:t>Due to the manual nature of the activity, the reports are prone to human error, and almost every week this causes several back-and-forth emails, which leave no time for identifying business-meaningful patterns in the data and creating real value. </a:t>
            </a:r>
          </a:p>
          <a:p>
            <a:pPr marL="0" indent="0" algn="l">
              <a:buNone/>
            </a:pPr>
            <a:r>
              <a:rPr lang="en-US" sz="3200" dirty="0"/>
              <a:t>You empathize with the finance analyst and decide to set aside a few hours to automate the full reporting process in KNIME.</a:t>
            </a:r>
          </a:p>
        </p:txBody>
      </p:sp>
    </p:spTree>
    <p:extLst>
      <p:ext uri="{BB962C8B-B14F-4D97-AF65-F5344CB8AC3E}">
        <p14:creationId xmlns:p14="http://schemas.microsoft.com/office/powerpoint/2010/main" val="1812951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fontScale="92500" lnSpcReduction="20000"/>
          </a:bodyPr>
          <a:lstStyle/>
          <a:p>
            <a:pPr marL="0" indent="0" algn="l">
              <a:buNone/>
            </a:pPr>
            <a:r>
              <a:rPr lang="en-US" sz="3200" dirty="0"/>
              <a:t>First of all, you manage to retrieve a list of the most important business questions people ask about sales evolution.</a:t>
            </a:r>
          </a:p>
          <a:p>
            <a:pPr marL="0" indent="0" algn="l">
              <a:buNone/>
            </a:pPr>
            <a:r>
              <a:rPr lang="en-US" sz="3200" dirty="0"/>
              <a:t>This initial list will be a good base for your initial endeavor:</a:t>
            </a:r>
          </a:p>
          <a:p>
            <a:pPr marL="0" indent="0" algn="l">
              <a:buNone/>
            </a:pPr>
            <a:endParaRPr lang="en-US" sz="3200" dirty="0"/>
          </a:p>
          <a:p>
            <a:pPr marL="514350" indent="-514350" algn="l">
              <a:buFont typeface="+mj-lt"/>
              <a:buAutoNum type="arabicPeriod"/>
            </a:pPr>
            <a:r>
              <a:rPr lang="en-US" sz="3200" dirty="0"/>
              <a:t>What are the top ten products in our assortment, meaning the ones that generate the most significant number of sales?</a:t>
            </a:r>
          </a:p>
          <a:p>
            <a:pPr marL="514350" indent="-514350" algn="l">
              <a:buFont typeface="+mj-lt"/>
              <a:buAutoNum type="arabicPeriod"/>
            </a:pPr>
            <a:r>
              <a:rPr lang="en-US" sz="3200" dirty="0"/>
              <a:t>What are the top three products within each subcategory?</a:t>
            </a:r>
          </a:p>
          <a:p>
            <a:pPr marL="514350" indent="-514350" algn="l">
              <a:buFont typeface="+mj-lt"/>
              <a:buAutoNum type="arabicPeriod"/>
            </a:pPr>
            <a:r>
              <a:rPr lang="en-US" sz="3200" dirty="0"/>
              <a:t>To which country do we sell the most?</a:t>
            </a:r>
          </a:p>
          <a:p>
            <a:pPr marL="514350" indent="-514350" algn="l">
              <a:buFont typeface="+mj-lt"/>
              <a:buAutoNum type="arabicPeriod"/>
            </a:pPr>
            <a:r>
              <a:rPr lang="en-US" sz="3200" dirty="0"/>
              <a:t>During the current calendar year to date, how much revenue was generated within each product category?</a:t>
            </a:r>
          </a:p>
          <a:p>
            <a:pPr marL="514350" indent="-514350" algn="l">
              <a:buFont typeface="+mj-lt"/>
              <a:buAutoNum type="arabicPeriod"/>
            </a:pPr>
            <a:r>
              <a:rPr lang="en-US" sz="3200" dirty="0"/>
              <a:t>What's the relative footprint of each category out of the total portfolio of products for the current year?</a:t>
            </a:r>
          </a:p>
          <a:p>
            <a:pPr marL="514350" indent="-514350" algn="l">
              <a:buFont typeface="+mj-lt"/>
              <a:buAutoNum type="arabicPeriod"/>
            </a:pPr>
            <a:r>
              <a:rPr lang="en-US" sz="3200" dirty="0"/>
              <a:t>In which months should we expect a peak in sales for our seasonal categories?</a:t>
            </a:r>
          </a:p>
        </p:txBody>
      </p:sp>
    </p:spTree>
    <p:extLst>
      <p:ext uri="{BB962C8B-B14F-4D97-AF65-F5344CB8AC3E}">
        <p14:creationId xmlns:p14="http://schemas.microsoft.com/office/powerpoint/2010/main" val="4118645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l">
              <a:buNone/>
            </a:pPr>
            <a:r>
              <a:rPr lang="en-US" sz="3200" dirty="0"/>
              <a:t>You decide that your first automated report shall include a tabular view answering the first five business questions appearing on the prior slide. </a:t>
            </a:r>
          </a:p>
          <a:p>
            <a:pPr marL="0" indent="0" algn="l">
              <a:buNone/>
            </a:pPr>
            <a:r>
              <a:rPr lang="en-US" sz="3200" dirty="0"/>
              <a:t>For the last one, since the seasonal behavior of the business is not going to change significantly on a weekly basis, it will be enough to build a chart that depicts the patterns of sales by month as a one-off exercise. </a:t>
            </a:r>
          </a:p>
          <a:p>
            <a:pPr marL="0" indent="0" algn="l">
              <a:buNone/>
            </a:pPr>
            <a:r>
              <a:rPr lang="en-US" sz="3200" dirty="0"/>
              <a:t>Having defined the minimum set of deliverables that your work should cover, you are ready to go to the next step and assess what data is required to make it happen.</a:t>
            </a:r>
          </a:p>
        </p:txBody>
      </p:sp>
    </p:spTree>
    <p:extLst>
      <p:ext uri="{BB962C8B-B14F-4D97-AF65-F5344CB8AC3E}">
        <p14:creationId xmlns:p14="http://schemas.microsoft.com/office/powerpoint/2010/main" val="284130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l">
              <a:buNone/>
            </a:pPr>
            <a:r>
              <a:rPr lang="en-US" sz="3200" dirty="0"/>
              <a:t>With the help of the finance analyst, who is already getting very excited about your initiative, you retrieve the latest data required for the regular sales reporting and discover that it is scattered across three different tables and four different files:</a:t>
            </a:r>
          </a:p>
          <a:p>
            <a:pPr marL="0" indent="0" algn="l">
              <a:buNone/>
            </a:pPr>
            <a:endParaRPr lang="en-US" sz="3200" dirty="0"/>
          </a:p>
          <a:p>
            <a:pPr marL="0" indent="0" algn="l">
              <a:buNone/>
            </a:pPr>
            <a:r>
              <a:rPr lang="en-US" sz="3200" b="1" dirty="0"/>
              <a:t>Product Master Data</a:t>
            </a:r>
            <a:r>
              <a:rPr lang="en-US" sz="3200" dirty="0"/>
              <a:t> 	(in CSV file productMD.csv)</a:t>
            </a:r>
          </a:p>
          <a:p>
            <a:pPr marL="0" indent="0" algn="l">
              <a:buNone/>
            </a:pPr>
            <a:endParaRPr lang="en-US" sz="3200" dirty="0"/>
          </a:p>
          <a:p>
            <a:pPr marL="0" indent="0" algn="l">
              <a:buNone/>
            </a:pPr>
            <a:r>
              <a:rPr lang="en-US" sz="3200" b="1" dirty="0"/>
              <a:t>Customer Master Data</a:t>
            </a:r>
            <a:r>
              <a:rPr lang="en-US" sz="3200" dirty="0"/>
              <a:t>	(in CSV file customerMD.csv)</a:t>
            </a:r>
          </a:p>
          <a:p>
            <a:pPr marL="0" indent="0" algn="l">
              <a:buNone/>
            </a:pPr>
            <a:endParaRPr lang="en-US" sz="3200" dirty="0"/>
          </a:p>
          <a:p>
            <a:pPr marL="0" indent="0" algn="l">
              <a:buNone/>
            </a:pPr>
            <a:r>
              <a:rPr lang="en-US" sz="3200" b="1" dirty="0"/>
              <a:t>Sales Transactions</a:t>
            </a:r>
            <a:r>
              <a:rPr lang="en-US" sz="3200" dirty="0"/>
              <a:t>		(in Excel file TransactionL3M.xlsx)</a:t>
            </a:r>
            <a:br>
              <a:rPr lang="en-US" sz="3200" dirty="0"/>
            </a:br>
            <a:r>
              <a:rPr lang="en-US" sz="3200" dirty="0"/>
              <a:t>					(in Excel file TransactionsHistory.xlsx)</a:t>
            </a:r>
          </a:p>
        </p:txBody>
      </p:sp>
    </p:spTree>
    <p:extLst>
      <p:ext uri="{BB962C8B-B14F-4D97-AF65-F5344CB8AC3E}">
        <p14:creationId xmlns:p14="http://schemas.microsoft.com/office/powerpoint/2010/main" val="3958461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l">
              <a:buNone/>
            </a:pPr>
            <a:r>
              <a:rPr lang="en-US" sz="3200" b="1" dirty="0"/>
              <a:t>Product Master Data</a:t>
            </a:r>
            <a:r>
              <a:rPr lang="en-US" sz="3200" dirty="0"/>
              <a:t> 	(in CSV file productMD.csv)</a:t>
            </a:r>
          </a:p>
          <a:p>
            <a:pPr marL="0" indent="0" algn="l">
              <a:buNone/>
            </a:pPr>
            <a:endParaRPr lang="en-US" sz="3200" dirty="0"/>
          </a:p>
          <a:p>
            <a:pPr marL="0" indent="0" algn="l">
              <a:buNone/>
            </a:pPr>
            <a:r>
              <a:rPr lang="en-US" sz="3200" dirty="0"/>
              <a:t>This includes a unique alphanumeric code (column </a:t>
            </a:r>
            <a:r>
              <a:rPr lang="en-US" sz="3200" b="1" i="1" u="sng" dirty="0" err="1"/>
              <a:t>StockCode</a:t>
            </a:r>
            <a:r>
              <a:rPr lang="en-US" sz="3200" dirty="0"/>
              <a:t>), which serves as a product ID, a short </a:t>
            </a:r>
            <a:r>
              <a:rPr lang="en-US" sz="3200" b="1" i="1" u="sng" dirty="0"/>
              <a:t>Description</a:t>
            </a:r>
            <a:r>
              <a:rPr lang="en-US" sz="3200" dirty="0"/>
              <a:t>, and two columns to locate each item within the two-level product hierarchy used in the company, namely </a:t>
            </a:r>
            <a:r>
              <a:rPr lang="en-US" sz="3200" b="1" i="1" u="sng" dirty="0"/>
              <a:t>Category</a:t>
            </a:r>
            <a:r>
              <a:rPr lang="en-US" sz="3200" dirty="0"/>
              <a:t> and </a:t>
            </a:r>
            <a:r>
              <a:rPr lang="en-US" sz="3200" b="1" i="1" u="sng" dirty="0"/>
              <a:t>Subcategory</a:t>
            </a:r>
            <a:r>
              <a:rPr lang="en-US" sz="3200" dirty="0"/>
              <a:t>. </a:t>
            </a:r>
          </a:p>
          <a:p>
            <a:pPr marL="0" indent="0" algn="l">
              <a:buNone/>
            </a:pPr>
            <a:r>
              <a:rPr lang="en-US" sz="3200" dirty="0"/>
              <a:t>For example, within the category "Stationery," we find the subcategories "Notebooks" and "Stickers," while within "Home," we have "Clocks" and "Furniture."</a:t>
            </a:r>
          </a:p>
        </p:txBody>
      </p:sp>
    </p:spTree>
    <p:extLst>
      <p:ext uri="{BB962C8B-B14F-4D97-AF65-F5344CB8AC3E}">
        <p14:creationId xmlns:p14="http://schemas.microsoft.com/office/powerpoint/2010/main" val="1769230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0" y="120769"/>
            <a:ext cx="12076981" cy="5814204"/>
          </a:xfrm>
        </p:spPr>
        <p:txBody>
          <a:bodyPr>
            <a:normAutofit/>
          </a:bodyPr>
          <a:lstStyle/>
          <a:p>
            <a:pPr marL="0" indent="0" algn="l">
              <a:buNone/>
            </a:pPr>
            <a:r>
              <a:rPr lang="en-US" sz="3200" b="1" dirty="0"/>
              <a:t>Product Master Data</a:t>
            </a:r>
            <a:r>
              <a:rPr lang="en-US" sz="3200" dirty="0"/>
              <a:t> (in CSV file productMD.csv)</a:t>
            </a:r>
          </a:p>
          <a:p>
            <a:pPr marL="0" indent="0" algn="l">
              <a:buNone/>
            </a:pPr>
            <a:endParaRPr lang="en-US" sz="3200" dirty="0"/>
          </a:p>
        </p:txBody>
      </p:sp>
      <p:pic>
        <p:nvPicPr>
          <p:cNvPr id="5" name="Picture 4">
            <a:extLst>
              <a:ext uri="{FF2B5EF4-FFF2-40B4-BE49-F238E27FC236}">
                <a16:creationId xmlns:a16="http://schemas.microsoft.com/office/drawing/2014/main" id="{C0F20083-2384-2325-153A-07FE72A4238E}"/>
              </a:ext>
            </a:extLst>
          </p:cNvPr>
          <p:cNvPicPr>
            <a:picLocks noChangeAspect="1"/>
          </p:cNvPicPr>
          <p:nvPr/>
        </p:nvPicPr>
        <p:blipFill>
          <a:blip r:embed="rId2"/>
          <a:stretch>
            <a:fillRect/>
          </a:stretch>
        </p:blipFill>
        <p:spPr>
          <a:xfrm>
            <a:off x="0" y="698079"/>
            <a:ext cx="5256361" cy="6159921"/>
          </a:xfrm>
          <a:prstGeom prst="rect">
            <a:avLst/>
          </a:prstGeom>
        </p:spPr>
      </p:pic>
      <p:pic>
        <p:nvPicPr>
          <p:cNvPr id="9" name="Picture 8">
            <a:extLst>
              <a:ext uri="{FF2B5EF4-FFF2-40B4-BE49-F238E27FC236}">
                <a16:creationId xmlns:a16="http://schemas.microsoft.com/office/drawing/2014/main" id="{4433661B-40E5-2573-D4BE-FB609627289D}"/>
              </a:ext>
            </a:extLst>
          </p:cNvPr>
          <p:cNvPicPr>
            <a:picLocks noChangeAspect="1"/>
          </p:cNvPicPr>
          <p:nvPr/>
        </p:nvPicPr>
        <p:blipFill>
          <a:blip r:embed="rId3"/>
          <a:stretch>
            <a:fillRect/>
          </a:stretch>
        </p:blipFill>
        <p:spPr>
          <a:xfrm>
            <a:off x="5686885" y="3027871"/>
            <a:ext cx="6287377" cy="3486637"/>
          </a:xfrm>
          <a:prstGeom prst="rect">
            <a:avLst/>
          </a:prstGeom>
        </p:spPr>
      </p:pic>
      <p:sp>
        <p:nvSpPr>
          <p:cNvPr id="10" name="TextBox 9">
            <a:extLst>
              <a:ext uri="{FF2B5EF4-FFF2-40B4-BE49-F238E27FC236}">
                <a16:creationId xmlns:a16="http://schemas.microsoft.com/office/drawing/2014/main" id="{F16CC87E-53BD-E973-9BC8-E91740220254}"/>
              </a:ext>
            </a:extLst>
          </p:cNvPr>
          <p:cNvSpPr txBox="1"/>
          <p:nvPr/>
        </p:nvSpPr>
        <p:spPr>
          <a:xfrm>
            <a:off x="5348377" y="810883"/>
            <a:ext cx="6843623" cy="2031325"/>
          </a:xfrm>
          <a:prstGeom prst="rect">
            <a:avLst/>
          </a:prstGeom>
          <a:noFill/>
        </p:spPr>
        <p:txBody>
          <a:bodyPr wrap="square" rtlCol="0">
            <a:spAutoFit/>
          </a:bodyPr>
          <a:lstStyle/>
          <a:p>
            <a:r>
              <a:rPr lang="en-US" dirty="0"/>
              <a:t>A quick glance at the file in Excel reveals the following:</a:t>
            </a:r>
          </a:p>
          <a:p>
            <a:r>
              <a:rPr lang="en-US" dirty="0"/>
              <a:t>This file has 3,812 rows and 4 columns or fields.</a:t>
            </a:r>
          </a:p>
          <a:p>
            <a:endParaRPr lang="en-US" dirty="0"/>
          </a:p>
          <a:p>
            <a:endParaRPr lang="en-US" dirty="0"/>
          </a:p>
          <a:p>
            <a:r>
              <a:rPr lang="en-US" dirty="0"/>
              <a:t>In case you’re wondering why the last row is numbered 3,813 and we’re saying there are 3,812 rows:  </a:t>
            </a:r>
            <a:br>
              <a:rPr lang="en-US" dirty="0"/>
            </a:br>
            <a:r>
              <a:rPr lang="en-US" dirty="0"/>
              <a:t>We don’t count the header row when we count the number of rows.</a:t>
            </a:r>
          </a:p>
        </p:txBody>
      </p:sp>
    </p:spTree>
    <p:extLst>
      <p:ext uri="{BB962C8B-B14F-4D97-AF65-F5344CB8AC3E}">
        <p14:creationId xmlns:p14="http://schemas.microsoft.com/office/powerpoint/2010/main" val="1122775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043796"/>
            <a:ext cx="5598544" cy="5814204"/>
          </a:xfrm>
        </p:spPr>
        <p:txBody>
          <a:bodyPr>
            <a:normAutofit/>
          </a:bodyPr>
          <a:lstStyle/>
          <a:p>
            <a:pPr marL="0" indent="0" algn="l">
              <a:buNone/>
            </a:pPr>
            <a:r>
              <a:rPr lang="en-US" sz="3200" b="1" dirty="0"/>
              <a:t>Customer Master Data</a:t>
            </a:r>
            <a:r>
              <a:rPr lang="en-US" sz="3200" dirty="0"/>
              <a:t>	</a:t>
            </a:r>
            <a:br>
              <a:rPr lang="en-US" sz="3200" dirty="0"/>
            </a:br>
            <a:r>
              <a:rPr lang="en-US" sz="3200" dirty="0"/>
              <a:t>(in CSV file customerMD.csv)</a:t>
            </a:r>
          </a:p>
          <a:p>
            <a:pPr marL="0" indent="0" algn="l">
              <a:buNone/>
            </a:pPr>
            <a:r>
              <a:rPr lang="en-US" sz="3200" dirty="0"/>
              <a:t>For each customer who has signed up to the website, it includes an identifier (</a:t>
            </a:r>
            <a:r>
              <a:rPr lang="en-US" sz="3200" b="1" i="1" u="sng" dirty="0" err="1"/>
              <a:t>Customer_ID</a:t>
            </a:r>
            <a:r>
              <a:rPr lang="en-US" sz="3200" dirty="0"/>
              <a:t>) and the </a:t>
            </a:r>
            <a:r>
              <a:rPr lang="en-US" sz="3200" b="1" i="1" u="sng" dirty="0"/>
              <a:t>Country</a:t>
            </a:r>
            <a:r>
              <a:rPr lang="en-US" sz="3200" dirty="0"/>
              <a:t> of residence.</a:t>
            </a:r>
          </a:p>
        </p:txBody>
      </p:sp>
      <p:pic>
        <p:nvPicPr>
          <p:cNvPr id="7" name="Picture 6">
            <a:extLst>
              <a:ext uri="{FF2B5EF4-FFF2-40B4-BE49-F238E27FC236}">
                <a16:creationId xmlns:a16="http://schemas.microsoft.com/office/drawing/2014/main" id="{1C779043-78B1-A80D-236F-5ABE63C78ED8}"/>
              </a:ext>
            </a:extLst>
          </p:cNvPr>
          <p:cNvPicPr>
            <a:picLocks noChangeAspect="1"/>
          </p:cNvPicPr>
          <p:nvPr/>
        </p:nvPicPr>
        <p:blipFill>
          <a:blip r:embed="rId2"/>
          <a:stretch>
            <a:fillRect/>
          </a:stretch>
        </p:blipFill>
        <p:spPr>
          <a:xfrm>
            <a:off x="5398933" y="1043796"/>
            <a:ext cx="1790950" cy="5630061"/>
          </a:xfrm>
          <a:prstGeom prst="rect">
            <a:avLst/>
          </a:prstGeom>
        </p:spPr>
      </p:pic>
      <p:pic>
        <p:nvPicPr>
          <p:cNvPr id="9" name="Picture 8">
            <a:extLst>
              <a:ext uri="{FF2B5EF4-FFF2-40B4-BE49-F238E27FC236}">
                <a16:creationId xmlns:a16="http://schemas.microsoft.com/office/drawing/2014/main" id="{82EC9206-9D76-9DFC-31CD-0F6FDA4092F9}"/>
              </a:ext>
            </a:extLst>
          </p:cNvPr>
          <p:cNvPicPr>
            <a:picLocks noChangeAspect="1"/>
          </p:cNvPicPr>
          <p:nvPr/>
        </p:nvPicPr>
        <p:blipFill>
          <a:blip r:embed="rId3"/>
          <a:stretch>
            <a:fillRect/>
          </a:stretch>
        </p:blipFill>
        <p:spPr>
          <a:xfrm>
            <a:off x="7430267" y="3072904"/>
            <a:ext cx="1886213" cy="3600953"/>
          </a:xfrm>
          <a:prstGeom prst="rect">
            <a:avLst/>
          </a:prstGeom>
        </p:spPr>
      </p:pic>
      <p:sp>
        <p:nvSpPr>
          <p:cNvPr id="10" name="TextBox 9">
            <a:extLst>
              <a:ext uri="{FF2B5EF4-FFF2-40B4-BE49-F238E27FC236}">
                <a16:creationId xmlns:a16="http://schemas.microsoft.com/office/drawing/2014/main" id="{EBE03710-4973-AFCA-9003-06C05D9C0B53}"/>
              </a:ext>
            </a:extLst>
          </p:cNvPr>
          <p:cNvSpPr txBox="1"/>
          <p:nvPr/>
        </p:nvSpPr>
        <p:spPr>
          <a:xfrm>
            <a:off x="7280694" y="897143"/>
            <a:ext cx="4911306" cy="2031325"/>
          </a:xfrm>
          <a:prstGeom prst="rect">
            <a:avLst/>
          </a:prstGeom>
          <a:noFill/>
        </p:spPr>
        <p:txBody>
          <a:bodyPr wrap="square" rtlCol="0">
            <a:spAutoFit/>
          </a:bodyPr>
          <a:lstStyle/>
          <a:p>
            <a:r>
              <a:rPr lang="en-US" dirty="0"/>
              <a:t>A quick glance at the file in Excel reveals the following:</a:t>
            </a:r>
          </a:p>
          <a:p>
            <a:r>
              <a:rPr lang="en-US" dirty="0"/>
              <a:t>This file has 5,856 rows and 2 columns/fields.</a:t>
            </a:r>
          </a:p>
          <a:p>
            <a:endParaRPr lang="en-US" dirty="0"/>
          </a:p>
          <a:p>
            <a:r>
              <a:rPr lang="en-US" dirty="0"/>
              <a:t>The file appears to be a semicolon-separated file.  Note the semicolons that separate the data for the two fields in each row.</a:t>
            </a:r>
          </a:p>
        </p:txBody>
      </p:sp>
    </p:spTree>
    <p:extLst>
      <p:ext uri="{BB962C8B-B14F-4D97-AF65-F5344CB8AC3E}">
        <p14:creationId xmlns:p14="http://schemas.microsoft.com/office/powerpoint/2010/main" val="132258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l">
              <a:buNone/>
            </a:pPr>
            <a:r>
              <a:rPr lang="en-US" sz="3200" b="1" dirty="0"/>
              <a:t>Sales Transactions</a:t>
            </a:r>
            <a:r>
              <a:rPr lang="en-US" sz="3200" dirty="0"/>
              <a:t>		(in Excel file TransactionL3M.xlsx)</a:t>
            </a:r>
          </a:p>
          <a:p>
            <a:pPr marL="0" indent="0" algn="l">
              <a:buNone/>
            </a:pPr>
            <a:r>
              <a:rPr lang="en-US" sz="3200" dirty="0"/>
              <a:t>This is the biggest table as it records all sales. For every invoice (identified with column </a:t>
            </a:r>
            <a:r>
              <a:rPr lang="en-US" sz="3200" b="1" i="1" u="sng" dirty="0" err="1"/>
              <a:t>Invoice_ID</a:t>
            </a:r>
            <a:r>
              <a:rPr lang="en-US" sz="3200" dirty="0"/>
              <a:t>), this table can host multiple rows, one for each product (described through its </a:t>
            </a:r>
            <a:r>
              <a:rPr lang="en-US" sz="3200" b="1" i="1" u="sng" dirty="0" err="1"/>
              <a:t>StockCode</a:t>
            </a:r>
            <a:r>
              <a:rPr lang="en-US" sz="3200" dirty="0"/>
              <a:t>) included within the transaction. </a:t>
            </a:r>
          </a:p>
          <a:p>
            <a:pPr marL="0" indent="0" algn="l">
              <a:buNone/>
            </a:pPr>
            <a:r>
              <a:rPr lang="en-US" sz="3200" dirty="0"/>
              <a:t>For each row, we also have the number of purchased items (</a:t>
            </a:r>
            <a:r>
              <a:rPr lang="en-US" sz="3200" b="1" i="1" u="sng" dirty="0"/>
              <a:t>Quantity</a:t>
            </a:r>
            <a:r>
              <a:rPr lang="en-US" sz="3200" dirty="0"/>
              <a:t>), the unit </a:t>
            </a:r>
            <a:r>
              <a:rPr lang="en-US" sz="3200" b="1" i="1" u="sng" dirty="0"/>
              <a:t>Price</a:t>
            </a:r>
            <a:r>
              <a:rPr lang="en-US" sz="3200" dirty="0"/>
              <a:t>, the </a:t>
            </a:r>
            <a:r>
              <a:rPr lang="en-US" sz="3200" b="1" i="1" u="sng" dirty="0" err="1"/>
              <a:t>Customer_ID</a:t>
            </a:r>
            <a:r>
              <a:rPr lang="en-US" sz="3200" dirty="0"/>
              <a:t> (which can be empty, if the customer hasn't signed up), and a string describing the date and time of the purchase (</a:t>
            </a:r>
            <a:r>
              <a:rPr lang="en-US" sz="3200" b="1" i="1" u="sng" dirty="0" err="1"/>
              <a:t>Invoice_time</a:t>
            </a:r>
            <a:r>
              <a:rPr lang="en-US" sz="3200" dirty="0"/>
              <a:t>).</a:t>
            </a:r>
          </a:p>
        </p:txBody>
      </p:sp>
    </p:spTree>
    <p:extLst>
      <p:ext uri="{BB962C8B-B14F-4D97-AF65-F5344CB8AC3E}">
        <p14:creationId xmlns:p14="http://schemas.microsoft.com/office/powerpoint/2010/main" val="4083108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l">
              <a:buNone/>
            </a:pPr>
            <a:r>
              <a:rPr lang="en-US" sz="3200" b="1" dirty="0"/>
              <a:t>Sales Transactions</a:t>
            </a:r>
            <a:r>
              <a:rPr lang="en-US" sz="3200" dirty="0"/>
              <a:t>		(in Excel file TransactionL3M.xlsx)</a:t>
            </a:r>
            <a:br>
              <a:rPr lang="en-US" sz="3200" dirty="0"/>
            </a:br>
            <a:r>
              <a:rPr lang="en-US" sz="3200" dirty="0"/>
              <a:t>					(in Excel file TransactionsHistory.xlsx)</a:t>
            </a:r>
          </a:p>
          <a:p>
            <a:pPr marL="0" indent="0" algn="l">
              <a:buNone/>
            </a:pPr>
            <a:r>
              <a:rPr lang="en-US" sz="3200" dirty="0"/>
              <a:t>The product and customer master data tables are available in two text files (named </a:t>
            </a:r>
            <a:r>
              <a:rPr lang="en-US" sz="3200" dirty="0">
                <a:latin typeface="Courier New" panose="02070309020205020404" pitchFamily="49" charset="0"/>
                <a:cs typeface="Courier New" panose="02070309020205020404" pitchFamily="49" charset="0"/>
              </a:rPr>
              <a:t>productMD.csv</a:t>
            </a:r>
            <a:r>
              <a:rPr lang="en-US" sz="3200" dirty="0"/>
              <a:t> and </a:t>
            </a:r>
            <a:r>
              <a:rPr lang="en-US" sz="3200" dirty="0">
                <a:latin typeface="Courier New" panose="02070309020205020404" pitchFamily="49" charset="0"/>
                <a:cs typeface="Courier New" panose="02070309020205020404" pitchFamily="49" charset="0"/>
              </a:rPr>
              <a:t>customerMD.csv</a:t>
            </a:r>
            <a:r>
              <a:rPr lang="en-US" sz="3200" dirty="0"/>
              <a:t>) extracted from the order management system. </a:t>
            </a:r>
          </a:p>
          <a:p>
            <a:pPr marL="0" indent="0" algn="l">
              <a:buNone/>
            </a:pPr>
            <a:r>
              <a:rPr lang="en-US" sz="3200" dirty="0"/>
              <a:t>Transactions are stored, instead, in two separate Excel files (</a:t>
            </a:r>
            <a:r>
              <a:rPr lang="en-US" sz="3200" dirty="0">
                <a:latin typeface="Courier New" panose="02070309020205020404" pitchFamily="49" charset="0"/>
                <a:cs typeface="Courier New" panose="02070309020205020404" pitchFamily="49" charset="0"/>
              </a:rPr>
              <a:t>TransactionL3M.xlsx</a:t>
            </a:r>
            <a:r>
              <a:rPr lang="en-US" sz="3200" dirty="0"/>
              <a:t> and </a:t>
            </a:r>
            <a:r>
              <a:rPr lang="en-US" sz="3200" dirty="0">
                <a:latin typeface="Courier New" panose="02070309020205020404" pitchFamily="49" charset="0"/>
                <a:cs typeface="Courier New" panose="02070309020205020404" pitchFamily="49" charset="0"/>
              </a:rPr>
              <a:t>TransactionsHistory.xlsx</a:t>
            </a:r>
            <a:r>
              <a:rPr lang="en-US" sz="3200" dirty="0"/>
              <a:t>): the first one contains only the most recent sales, covering the latest three months of transactions, while the second one has the remainder of the transactions' history.</a:t>
            </a:r>
          </a:p>
        </p:txBody>
      </p:sp>
    </p:spTree>
    <p:extLst>
      <p:ext uri="{BB962C8B-B14F-4D97-AF65-F5344CB8AC3E}">
        <p14:creationId xmlns:p14="http://schemas.microsoft.com/office/powerpoint/2010/main" val="3454273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ctr">
              <a:buNone/>
            </a:pPr>
            <a:r>
              <a:rPr lang="en-US" sz="2400" i="1" dirty="0"/>
              <a:t>Figure 3.11 (pg. 84):  An Entity-Relationship diagram of the online retailer database</a:t>
            </a:r>
          </a:p>
        </p:txBody>
      </p:sp>
      <p:pic>
        <p:nvPicPr>
          <p:cNvPr id="5" name="Picture 4">
            <a:extLst>
              <a:ext uri="{FF2B5EF4-FFF2-40B4-BE49-F238E27FC236}">
                <a16:creationId xmlns:a16="http://schemas.microsoft.com/office/drawing/2014/main" id="{A410F53E-E03F-197B-6A6D-5FEF7806EA32}"/>
              </a:ext>
            </a:extLst>
          </p:cNvPr>
          <p:cNvPicPr>
            <a:picLocks noChangeAspect="1"/>
          </p:cNvPicPr>
          <p:nvPr/>
        </p:nvPicPr>
        <p:blipFill>
          <a:blip r:embed="rId2"/>
          <a:stretch>
            <a:fillRect/>
          </a:stretch>
        </p:blipFill>
        <p:spPr>
          <a:xfrm>
            <a:off x="974178" y="1553491"/>
            <a:ext cx="10243642" cy="5166488"/>
          </a:xfrm>
          <a:prstGeom prst="rect">
            <a:avLst/>
          </a:prstGeom>
        </p:spPr>
      </p:pic>
    </p:spTree>
    <p:extLst>
      <p:ext uri="{BB962C8B-B14F-4D97-AF65-F5344CB8AC3E}">
        <p14:creationId xmlns:p14="http://schemas.microsoft.com/office/powerpoint/2010/main" val="805709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D5BD8-867F-DD6F-933D-4A682189DE33}"/>
              </a:ext>
            </a:extLst>
          </p:cNvPr>
          <p:cNvSpPr>
            <a:spLocks noGrp="1"/>
          </p:cNvSpPr>
          <p:nvPr>
            <p:ph type="title"/>
          </p:nvPr>
        </p:nvSpPr>
        <p:spPr>
          <a:xfrm>
            <a:off x="810491" y="346653"/>
            <a:ext cx="10515600" cy="646332"/>
          </a:xfrm>
        </p:spPr>
        <p:txBody>
          <a:bodyPr>
            <a:normAutofit fontScale="90000"/>
          </a:bodyPr>
          <a:lstStyle/>
          <a:p>
            <a:pPr algn="ctr"/>
            <a:r>
              <a:rPr lang="en-US" dirty="0"/>
              <a:t>Sales Automation – ETL Process</a:t>
            </a:r>
          </a:p>
        </p:txBody>
      </p:sp>
      <p:pic>
        <p:nvPicPr>
          <p:cNvPr id="9" name="Picture 8">
            <a:extLst>
              <a:ext uri="{FF2B5EF4-FFF2-40B4-BE49-F238E27FC236}">
                <a16:creationId xmlns:a16="http://schemas.microsoft.com/office/drawing/2014/main" id="{4F7A03D3-D311-021F-9E35-AFFCAFD95C25}"/>
              </a:ext>
            </a:extLst>
          </p:cNvPr>
          <p:cNvPicPr>
            <a:picLocks noChangeAspect="1"/>
          </p:cNvPicPr>
          <p:nvPr/>
        </p:nvPicPr>
        <p:blipFill>
          <a:blip r:embed="rId2"/>
          <a:stretch>
            <a:fillRect/>
          </a:stretch>
        </p:blipFill>
        <p:spPr>
          <a:xfrm>
            <a:off x="4114840" y="3465004"/>
            <a:ext cx="1536183" cy="1366052"/>
          </a:xfrm>
          <a:prstGeom prst="rect">
            <a:avLst/>
          </a:prstGeom>
        </p:spPr>
      </p:pic>
      <p:sp>
        <p:nvSpPr>
          <p:cNvPr id="12" name="TextBox 11">
            <a:extLst>
              <a:ext uri="{FF2B5EF4-FFF2-40B4-BE49-F238E27FC236}">
                <a16:creationId xmlns:a16="http://schemas.microsoft.com/office/drawing/2014/main" id="{E90FE2AF-AD92-8FAC-D366-A6073294841E}"/>
              </a:ext>
            </a:extLst>
          </p:cNvPr>
          <p:cNvSpPr txBox="1"/>
          <p:nvPr/>
        </p:nvSpPr>
        <p:spPr>
          <a:xfrm>
            <a:off x="141685" y="1459434"/>
            <a:ext cx="4350327" cy="1477328"/>
          </a:xfrm>
          <a:prstGeom prst="rect">
            <a:avLst/>
          </a:prstGeom>
          <a:noFill/>
        </p:spPr>
        <p:txBody>
          <a:bodyPr wrap="square" rtlCol="0">
            <a:spAutoFit/>
          </a:bodyPr>
          <a:lstStyle/>
          <a:p>
            <a:r>
              <a:rPr lang="en-US" b="1" dirty="0">
                <a:solidFill>
                  <a:schemeClr val="tx2">
                    <a:lumMod val="75000"/>
                    <a:lumOff val="25000"/>
                  </a:schemeClr>
                </a:solidFill>
                <a:latin typeface="Courier New" panose="02070309020205020404" pitchFamily="49" charset="0"/>
                <a:cs typeface="Courier New" panose="02070309020205020404" pitchFamily="49" charset="0"/>
              </a:rPr>
              <a:t>Comma Separated Files:</a:t>
            </a:r>
          </a:p>
          <a:p>
            <a:r>
              <a:rPr lang="en-US" b="1" dirty="0">
                <a:solidFill>
                  <a:schemeClr val="tx2">
                    <a:lumMod val="75000"/>
                    <a:lumOff val="25000"/>
                  </a:schemeClr>
                </a:solidFill>
                <a:latin typeface="Courier New" panose="02070309020205020404" pitchFamily="49" charset="0"/>
                <a:cs typeface="Courier New" panose="02070309020205020404" pitchFamily="49" charset="0"/>
              </a:rPr>
              <a:t>productMD.csv, customerMD.csv</a:t>
            </a:r>
            <a:br>
              <a:rPr lang="en-US" b="1" dirty="0">
                <a:solidFill>
                  <a:schemeClr val="tx2">
                    <a:lumMod val="75000"/>
                    <a:lumOff val="25000"/>
                  </a:schemeClr>
                </a:solidFill>
                <a:latin typeface="Courier New" panose="02070309020205020404" pitchFamily="49" charset="0"/>
                <a:cs typeface="Courier New" panose="02070309020205020404" pitchFamily="49" charset="0"/>
              </a:rPr>
            </a:br>
            <a:r>
              <a:rPr lang="en-US" b="1" dirty="0">
                <a:solidFill>
                  <a:schemeClr val="tx2">
                    <a:lumMod val="75000"/>
                    <a:lumOff val="25000"/>
                  </a:schemeClr>
                </a:solidFill>
                <a:latin typeface="Courier New" panose="02070309020205020404" pitchFamily="49" charset="0"/>
                <a:cs typeface="Courier New" panose="02070309020205020404" pitchFamily="49" charset="0"/>
              </a:rPr>
              <a:t>Excel Files:</a:t>
            </a:r>
            <a:br>
              <a:rPr lang="en-US" b="1" dirty="0">
                <a:solidFill>
                  <a:schemeClr val="tx2">
                    <a:lumMod val="75000"/>
                    <a:lumOff val="25000"/>
                  </a:schemeClr>
                </a:solidFill>
                <a:latin typeface="Courier New" panose="02070309020205020404" pitchFamily="49" charset="0"/>
                <a:cs typeface="Courier New" panose="02070309020205020404" pitchFamily="49" charset="0"/>
              </a:rPr>
            </a:br>
            <a:r>
              <a:rPr lang="en-US" b="1" dirty="0">
                <a:solidFill>
                  <a:schemeClr val="tx2">
                    <a:lumMod val="75000"/>
                    <a:lumOff val="25000"/>
                  </a:schemeClr>
                </a:solidFill>
                <a:latin typeface="Courier New" panose="02070309020205020404" pitchFamily="49" charset="0"/>
                <a:cs typeface="Courier New" panose="02070309020205020404" pitchFamily="49" charset="0"/>
              </a:rPr>
              <a:t>TransactionL3M.xlsx,</a:t>
            </a:r>
            <a:br>
              <a:rPr lang="en-US" b="1" dirty="0">
                <a:solidFill>
                  <a:schemeClr val="tx2">
                    <a:lumMod val="75000"/>
                    <a:lumOff val="25000"/>
                  </a:schemeClr>
                </a:solidFill>
                <a:latin typeface="Courier New" panose="02070309020205020404" pitchFamily="49" charset="0"/>
                <a:cs typeface="Courier New" panose="02070309020205020404" pitchFamily="49" charset="0"/>
              </a:rPr>
            </a:br>
            <a:r>
              <a:rPr lang="en-US" b="1" dirty="0">
                <a:solidFill>
                  <a:schemeClr val="tx2">
                    <a:lumMod val="75000"/>
                    <a:lumOff val="25000"/>
                  </a:schemeClr>
                </a:solidFill>
                <a:latin typeface="Courier New" panose="02070309020205020404" pitchFamily="49" charset="0"/>
                <a:cs typeface="Courier New" panose="02070309020205020404" pitchFamily="49" charset="0"/>
              </a:rPr>
              <a:t>TransactionHistory.xlsx</a:t>
            </a:r>
          </a:p>
        </p:txBody>
      </p:sp>
      <p:sp>
        <p:nvSpPr>
          <p:cNvPr id="15" name="TextBox 14">
            <a:extLst>
              <a:ext uri="{FF2B5EF4-FFF2-40B4-BE49-F238E27FC236}">
                <a16:creationId xmlns:a16="http://schemas.microsoft.com/office/drawing/2014/main" id="{7C17D09F-59AA-570C-E880-F5A92A08D2E8}"/>
              </a:ext>
            </a:extLst>
          </p:cNvPr>
          <p:cNvSpPr txBox="1"/>
          <p:nvPr/>
        </p:nvSpPr>
        <p:spPr>
          <a:xfrm>
            <a:off x="7272329" y="1205977"/>
            <a:ext cx="4350327" cy="1477328"/>
          </a:xfrm>
          <a:prstGeom prst="rect">
            <a:avLst/>
          </a:prstGeom>
          <a:noFill/>
        </p:spPr>
        <p:txBody>
          <a:bodyPr wrap="square" rtlCol="0">
            <a:spAutoFit/>
          </a:bodyPr>
          <a:lstStyle/>
          <a:p>
            <a:r>
              <a:rPr lang="en-US" b="1" dirty="0">
                <a:solidFill>
                  <a:schemeClr val="tx2">
                    <a:lumMod val="75000"/>
                    <a:lumOff val="25000"/>
                  </a:schemeClr>
                </a:solidFill>
                <a:latin typeface="Courier New" panose="02070309020205020404" pitchFamily="49" charset="0"/>
                <a:cs typeface="Courier New" panose="02070309020205020404" pitchFamily="49" charset="0"/>
              </a:rPr>
              <a:t>Image Writer:</a:t>
            </a:r>
          </a:p>
          <a:p>
            <a:r>
              <a:rPr lang="en-US" b="1" dirty="0">
                <a:solidFill>
                  <a:schemeClr val="tx2">
                    <a:lumMod val="75000"/>
                    <a:lumOff val="25000"/>
                  </a:schemeClr>
                </a:solidFill>
                <a:latin typeface="Courier New" panose="02070309020205020404" pitchFamily="49" charset="0"/>
                <a:cs typeface="Courier New" panose="02070309020205020404" pitchFamily="49" charset="0"/>
              </a:rPr>
              <a:t>Seasonality Chart (.</a:t>
            </a:r>
            <a:r>
              <a:rPr lang="en-US" b="1" dirty="0" err="1">
                <a:solidFill>
                  <a:schemeClr val="tx2">
                    <a:lumMod val="75000"/>
                    <a:lumOff val="25000"/>
                  </a:schemeClr>
                </a:solidFill>
                <a:latin typeface="Courier New" panose="02070309020205020404" pitchFamily="49" charset="0"/>
                <a:cs typeface="Courier New" panose="02070309020205020404" pitchFamily="49" charset="0"/>
              </a:rPr>
              <a:t>svg</a:t>
            </a:r>
            <a:r>
              <a:rPr lang="en-US" b="1" dirty="0">
                <a:solidFill>
                  <a:schemeClr val="tx2">
                    <a:lumMod val="75000"/>
                    <a:lumOff val="25000"/>
                  </a:schemeClr>
                </a:solidFill>
                <a:latin typeface="Courier New" panose="02070309020205020404" pitchFamily="49" charset="0"/>
                <a:cs typeface="Courier New" panose="02070309020205020404" pitchFamily="49" charset="0"/>
              </a:rPr>
              <a:t>)</a:t>
            </a:r>
          </a:p>
          <a:p>
            <a:endParaRPr lang="en-US"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b="1" dirty="0">
                <a:solidFill>
                  <a:schemeClr val="tx2">
                    <a:lumMod val="75000"/>
                    <a:lumOff val="25000"/>
                  </a:schemeClr>
                </a:solidFill>
                <a:latin typeface="Courier New" panose="02070309020205020404" pitchFamily="49" charset="0"/>
                <a:cs typeface="Courier New" panose="02070309020205020404" pitchFamily="49" charset="0"/>
              </a:rPr>
              <a:t>Excel File:</a:t>
            </a:r>
            <a:br>
              <a:rPr lang="en-US" b="1" dirty="0">
                <a:solidFill>
                  <a:schemeClr val="tx2">
                    <a:lumMod val="75000"/>
                    <a:lumOff val="25000"/>
                  </a:schemeClr>
                </a:solidFill>
                <a:latin typeface="Courier New" panose="02070309020205020404" pitchFamily="49" charset="0"/>
                <a:cs typeface="Courier New" panose="02070309020205020404" pitchFamily="49" charset="0"/>
              </a:rPr>
            </a:br>
            <a:r>
              <a:rPr lang="en-US" b="1" dirty="0">
                <a:solidFill>
                  <a:schemeClr val="tx2">
                    <a:lumMod val="75000"/>
                    <a:lumOff val="25000"/>
                  </a:schemeClr>
                </a:solidFill>
                <a:latin typeface="Courier New" panose="02070309020205020404" pitchFamily="49" charset="0"/>
                <a:cs typeface="Courier New" panose="02070309020205020404" pitchFamily="49" charset="0"/>
              </a:rPr>
              <a:t>Four-Tab Output Report</a:t>
            </a:r>
          </a:p>
        </p:txBody>
      </p:sp>
      <p:cxnSp>
        <p:nvCxnSpPr>
          <p:cNvPr id="17" name="Straight Arrow Connector 16">
            <a:extLst>
              <a:ext uri="{FF2B5EF4-FFF2-40B4-BE49-F238E27FC236}">
                <a16:creationId xmlns:a16="http://schemas.microsoft.com/office/drawing/2014/main" id="{9E08C9E5-E5EC-8FCF-2773-CC361419C26F}"/>
              </a:ext>
            </a:extLst>
          </p:cNvPr>
          <p:cNvCxnSpPr>
            <a:cxnSpLocks/>
          </p:cNvCxnSpPr>
          <p:nvPr/>
        </p:nvCxnSpPr>
        <p:spPr>
          <a:xfrm>
            <a:off x="2398191" y="3403211"/>
            <a:ext cx="1570007" cy="134535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7AC05AF8-09CF-439C-FD2D-58F9B367BA7C}"/>
              </a:ext>
            </a:extLst>
          </p:cNvPr>
          <p:cNvCxnSpPr>
            <a:cxnSpLocks/>
          </p:cNvCxnSpPr>
          <p:nvPr/>
        </p:nvCxnSpPr>
        <p:spPr>
          <a:xfrm flipV="1">
            <a:off x="5905635" y="3845811"/>
            <a:ext cx="1193905" cy="782946"/>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FE943D39-EC3F-D162-7D3A-C0E5BD3005BB}"/>
              </a:ext>
            </a:extLst>
          </p:cNvPr>
          <p:cNvSpPr txBox="1"/>
          <p:nvPr/>
        </p:nvSpPr>
        <p:spPr>
          <a:xfrm>
            <a:off x="4034702" y="3100694"/>
            <a:ext cx="1964555" cy="338554"/>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KNIME Workflow</a:t>
            </a:r>
          </a:p>
        </p:txBody>
      </p:sp>
      <p:sp>
        <p:nvSpPr>
          <p:cNvPr id="22" name="TextBox 21">
            <a:extLst>
              <a:ext uri="{FF2B5EF4-FFF2-40B4-BE49-F238E27FC236}">
                <a16:creationId xmlns:a16="http://schemas.microsoft.com/office/drawing/2014/main" id="{2C496DEB-B31D-9D20-90CD-CDBDC3808F05}"/>
              </a:ext>
            </a:extLst>
          </p:cNvPr>
          <p:cNvSpPr txBox="1"/>
          <p:nvPr/>
        </p:nvSpPr>
        <p:spPr>
          <a:xfrm>
            <a:off x="651642" y="4305592"/>
            <a:ext cx="2730386" cy="646331"/>
          </a:xfrm>
          <a:prstGeom prst="rect">
            <a:avLst/>
          </a:prstGeom>
          <a:noFill/>
        </p:spPr>
        <p:txBody>
          <a:bodyPr wrap="square" rtlCol="0">
            <a:spAutoFit/>
          </a:bodyPr>
          <a:lstStyle/>
          <a:p>
            <a:r>
              <a:rPr lang="en-US" dirty="0"/>
              <a:t>1. Extract Data from the four files</a:t>
            </a:r>
          </a:p>
        </p:txBody>
      </p:sp>
      <p:sp>
        <p:nvSpPr>
          <p:cNvPr id="24" name="TextBox 23">
            <a:extLst>
              <a:ext uri="{FF2B5EF4-FFF2-40B4-BE49-F238E27FC236}">
                <a16:creationId xmlns:a16="http://schemas.microsoft.com/office/drawing/2014/main" id="{AF04B953-B9E9-F5DA-6443-C56AAC548FE5}"/>
              </a:ext>
            </a:extLst>
          </p:cNvPr>
          <p:cNvSpPr txBox="1"/>
          <p:nvPr/>
        </p:nvSpPr>
        <p:spPr>
          <a:xfrm>
            <a:off x="3651786" y="5140976"/>
            <a:ext cx="2730386" cy="923330"/>
          </a:xfrm>
          <a:prstGeom prst="rect">
            <a:avLst/>
          </a:prstGeom>
          <a:noFill/>
        </p:spPr>
        <p:txBody>
          <a:bodyPr wrap="square" rtlCol="0">
            <a:spAutoFit/>
          </a:bodyPr>
          <a:lstStyle/>
          <a:p>
            <a:r>
              <a:rPr lang="en-US" dirty="0"/>
              <a:t>2. Transform Data various ways as described in the instructions.</a:t>
            </a:r>
          </a:p>
        </p:txBody>
      </p:sp>
      <p:sp>
        <p:nvSpPr>
          <p:cNvPr id="26" name="TextBox 25">
            <a:extLst>
              <a:ext uri="{FF2B5EF4-FFF2-40B4-BE49-F238E27FC236}">
                <a16:creationId xmlns:a16="http://schemas.microsoft.com/office/drawing/2014/main" id="{A9BAE44D-26F6-2F53-B693-CDDFF29ACB0B}"/>
              </a:ext>
            </a:extLst>
          </p:cNvPr>
          <p:cNvSpPr txBox="1"/>
          <p:nvPr/>
        </p:nvSpPr>
        <p:spPr>
          <a:xfrm>
            <a:off x="7907666" y="5935695"/>
            <a:ext cx="2730386" cy="923330"/>
          </a:xfrm>
          <a:prstGeom prst="rect">
            <a:avLst/>
          </a:prstGeom>
          <a:noFill/>
        </p:spPr>
        <p:txBody>
          <a:bodyPr wrap="square" rtlCol="0">
            <a:spAutoFit/>
          </a:bodyPr>
          <a:lstStyle/>
          <a:p>
            <a:r>
              <a:rPr lang="en-US" dirty="0"/>
              <a:t>3. Load Data to </a:t>
            </a:r>
            <a:br>
              <a:rPr lang="en-US" dirty="0"/>
            </a:br>
            <a:r>
              <a:rPr lang="en-US" dirty="0" err="1"/>
              <a:t>Seasonality.svg</a:t>
            </a:r>
            <a:r>
              <a:rPr lang="en-US" dirty="0"/>
              <a:t>   and</a:t>
            </a:r>
            <a:br>
              <a:rPr lang="en-US" dirty="0"/>
            </a:br>
            <a:r>
              <a:rPr lang="en-US" dirty="0"/>
              <a:t>MyReports.xlsx</a:t>
            </a:r>
          </a:p>
        </p:txBody>
      </p:sp>
      <p:pic>
        <p:nvPicPr>
          <p:cNvPr id="6" name="Picture 5">
            <a:extLst>
              <a:ext uri="{FF2B5EF4-FFF2-40B4-BE49-F238E27FC236}">
                <a16:creationId xmlns:a16="http://schemas.microsoft.com/office/drawing/2014/main" id="{8C801201-94A7-A778-4B1E-92B7D6DE08F2}"/>
              </a:ext>
            </a:extLst>
          </p:cNvPr>
          <p:cNvPicPr>
            <a:picLocks noChangeAspect="1"/>
          </p:cNvPicPr>
          <p:nvPr/>
        </p:nvPicPr>
        <p:blipFill>
          <a:blip r:embed="rId3"/>
          <a:stretch>
            <a:fillRect/>
          </a:stretch>
        </p:blipFill>
        <p:spPr>
          <a:xfrm>
            <a:off x="7343747" y="2753670"/>
            <a:ext cx="2266308" cy="1214481"/>
          </a:xfrm>
          <a:prstGeom prst="rect">
            <a:avLst/>
          </a:prstGeom>
        </p:spPr>
      </p:pic>
      <p:pic>
        <p:nvPicPr>
          <p:cNvPr id="16" name="Picture 15">
            <a:extLst>
              <a:ext uri="{FF2B5EF4-FFF2-40B4-BE49-F238E27FC236}">
                <a16:creationId xmlns:a16="http://schemas.microsoft.com/office/drawing/2014/main" id="{E43BB2B5-93F0-67EC-9BAA-E75A74D45631}"/>
              </a:ext>
            </a:extLst>
          </p:cNvPr>
          <p:cNvPicPr>
            <a:picLocks noChangeAspect="1"/>
          </p:cNvPicPr>
          <p:nvPr/>
        </p:nvPicPr>
        <p:blipFill>
          <a:blip r:embed="rId4"/>
          <a:stretch>
            <a:fillRect/>
          </a:stretch>
        </p:blipFill>
        <p:spPr>
          <a:xfrm>
            <a:off x="7719891" y="4029007"/>
            <a:ext cx="4147835" cy="1845832"/>
          </a:xfrm>
          <a:prstGeom prst="rect">
            <a:avLst/>
          </a:prstGeom>
        </p:spPr>
      </p:pic>
      <p:cxnSp>
        <p:nvCxnSpPr>
          <p:cNvPr id="19" name="Straight Arrow Connector 18">
            <a:extLst>
              <a:ext uri="{FF2B5EF4-FFF2-40B4-BE49-F238E27FC236}">
                <a16:creationId xmlns:a16="http://schemas.microsoft.com/office/drawing/2014/main" id="{89B38817-42F2-9003-8E8E-CEEB9747969E}"/>
              </a:ext>
            </a:extLst>
          </p:cNvPr>
          <p:cNvCxnSpPr>
            <a:cxnSpLocks/>
          </p:cNvCxnSpPr>
          <p:nvPr/>
        </p:nvCxnSpPr>
        <p:spPr>
          <a:xfrm>
            <a:off x="5905635" y="4748561"/>
            <a:ext cx="1582093"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117898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ctr">
              <a:buNone/>
            </a:pPr>
            <a:r>
              <a:rPr lang="en-US" sz="2400" i="1" dirty="0"/>
              <a:t>“Begin with the end in mind.  Start with a clear understanding of your destination”  </a:t>
            </a:r>
            <a:br>
              <a:rPr lang="en-US" sz="2400" i="1" dirty="0"/>
            </a:br>
            <a:r>
              <a:rPr lang="en-US" sz="2400" i="1" dirty="0"/>
              <a:t>-- Stephen R. Covey</a:t>
            </a:r>
          </a:p>
          <a:p>
            <a:pPr marL="0" indent="0" algn="ctr">
              <a:buNone/>
            </a:pPr>
            <a:r>
              <a:rPr lang="en-US" sz="2400" i="1" dirty="0"/>
              <a:t>Below is the final KNIME workflow, Figure 3.34 on pg. 113 of the text</a:t>
            </a:r>
          </a:p>
        </p:txBody>
      </p:sp>
      <p:pic>
        <p:nvPicPr>
          <p:cNvPr id="8" name="Picture 7">
            <a:extLst>
              <a:ext uri="{FF2B5EF4-FFF2-40B4-BE49-F238E27FC236}">
                <a16:creationId xmlns:a16="http://schemas.microsoft.com/office/drawing/2014/main" id="{95B3E731-C265-07E3-629E-672D84E458B7}"/>
              </a:ext>
            </a:extLst>
          </p:cNvPr>
          <p:cNvPicPr>
            <a:picLocks noChangeAspect="1"/>
          </p:cNvPicPr>
          <p:nvPr/>
        </p:nvPicPr>
        <p:blipFill>
          <a:blip r:embed="rId2"/>
          <a:stretch>
            <a:fillRect/>
          </a:stretch>
        </p:blipFill>
        <p:spPr>
          <a:xfrm>
            <a:off x="1604512" y="2293851"/>
            <a:ext cx="8954219" cy="4480361"/>
          </a:xfrm>
          <a:prstGeom prst="rect">
            <a:avLst/>
          </a:prstGeom>
        </p:spPr>
      </p:pic>
    </p:spTree>
    <p:extLst>
      <p:ext uri="{BB962C8B-B14F-4D97-AF65-F5344CB8AC3E}">
        <p14:creationId xmlns:p14="http://schemas.microsoft.com/office/powerpoint/2010/main" val="2551449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ctr">
              <a:buNone/>
            </a:pPr>
            <a:endParaRPr lang="en-US" sz="2400" i="1" dirty="0"/>
          </a:p>
          <a:p>
            <a:pPr marL="0" indent="0" algn="ctr">
              <a:buNone/>
            </a:pPr>
            <a:endParaRPr lang="en-US" sz="2400" i="1" dirty="0"/>
          </a:p>
          <a:p>
            <a:pPr marL="0" indent="0" algn="ctr">
              <a:buNone/>
            </a:pPr>
            <a:endParaRPr lang="en-US" sz="2400" i="1" dirty="0"/>
          </a:p>
          <a:p>
            <a:pPr marL="0" indent="0" algn="ctr">
              <a:buNone/>
            </a:pPr>
            <a:r>
              <a:rPr lang="en-US" sz="2400" i="1" dirty="0"/>
              <a:t>There are 29 steps to build the workflow.  Ready to begin?</a:t>
            </a:r>
          </a:p>
          <a:p>
            <a:pPr marL="0" indent="0" algn="ctr">
              <a:buNone/>
            </a:pPr>
            <a:endParaRPr lang="en-US" sz="2400" i="1" dirty="0"/>
          </a:p>
          <a:p>
            <a:pPr marL="0" indent="0" algn="ctr">
              <a:buNone/>
            </a:pPr>
            <a:endParaRPr lang="en-US" sz="2400" i="1" dirty="0"/>
          </a:p>
          <a:p>
            <a:pPr marL="0" indent="0" algn="ctr">
              <a:buNone/>
            </a:pPr>
            <a:r>
              <a:rPr lang="en-US" sz="2400" i="1" dirty="0"/>
              <a:t>Switch to PDF of textbook starting on textbook pg. 84.</a:t>
            </a:r>
          </a:p>
          <a:p>
            <a:pPr marL="0" indent="0" algn="ctr">
              <a:buNone/>
            </a:pPr>
            <a:r>
              <a:rPr lang="en-US" sz="2400" i="1" dirty="0"/>
              <a:t>(PDF pg. 109)</a:t>
            </a:r>
          </a:p>
        </p:txBody>
      </p:sp>
    </p:spTree>
    <p:extLst>
      <p:ext uri="{BB962C8B-B14F-4D97-AF65-F5344CB8AC3E}">
        <p14:creationId xmlns:p14="http://schemas.microsoft.com/office/powerpoint/2010/main" val="152857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ctr">
              <a:buNone/>
            </a:pPr>
            <a:r>
              <a:rPr lang="en-US" sz="2400" i="1" dirty="0"/>
              <a:t>These are the nodes we will build in the next video.</a:t>
            </a:r>
            <a:br>
              <a:rPr lang="en-US" sz="2400" i="1" dirty="0"/>
            </a:br>
            <a:r>
              <a:rPr lang="en-US" sz="2400" i="1" dirty="0"/>
              <a:t>Video #2 – Clean and Prepare the Data (Steps 1-10, pgs. 84-90)</a:t>
            </a:r>
          </a:p>
        </p:txBody>
      </p:sp>
      <p:pic>
        <p:nvPicPr>
          <p:cNvPr id="7" name="Picture 6">
            <a:extLst>
              <a:ext uri="{FF2B5EF4-FFF2-40B4-BE49-F238E27FC236}">
                <a16:creationId xmlns:a16="http://schemas.microsoft.com/office/drawing/2014/main" id="{500A8583-232F-99CB-E09C-46568681A2F0}"/>
              </a:ext>
            </a:extLst>
          </p:cNvPr>
          <p:cNvPicPr>
            <a:picLocks noChangeAspect="1"/>
          </p:cNvPicPr>
          <p:nvPr/>
        </p:nvPicPr>
        <p:blipFill>
          <a:blip r:embed="rId2"/>
          <a:stretch>
            <a:fillRect/>
          </a:stretch>
        </p:blipFill>
        <p:spPr>
          <a:xfrm>
            <a:off x="1079003" y="1722467"/>
            <a:ext cx="10033993" cy="5030252"/>
          </a:xfrm>
          <a:prstGeom prst="rect">
            <a:avLst/>
          </a:prstGeom>
        </p:spPr>
      </p:pic>
    </p:spTree>
    <p:extLst>
      <p:ext uri="{BB962C8B-B14F-4D97-AF65-F5344CB8AC3E}">
        <p14:creationId xmlns:p14="http://schemas.microsoft.com/office/powerpoint/2010/main" val="1057143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ctr">
              <a:buNone/>
            </a:pPr>
            <a:br>
              <a:rPr lang="en-US" sz="2400" i="1" dirty="0"/>
            </a:br>
            <a:r>
              <a:rPr lang="en-US" sz="2400" i="1" dirty="0"/>
              <a:t>Video #3 – Excel Tab 1 of 4:  Sales Generated per Product (Steps 11-13, pg. 91 only)</a:t>
            </a:r>
          </a:p>
        </p:txBody>
      </p:sp>
      <p:pic>
        <p:nvPicPr>
          <p:cNvPr id="6" name="Picture 5">
            <a:extLst>
              <a:ext uri="{FF2B5EF4-FFF2-40B4-BE49-F238E27FC236}">
                <a16:creationId xmlns:a16="http://schemas.microsoft.com/office/drawing/2014/main" id="{B95F981C-DE25-4F48-FADE-A23D4EB3D745}"/>
              </a:ext>
            </a:extLst>
          </p:cNvPr>
          <p:cNvPicPr>
            <a:picLocks noChangeAspect="1"/>
          </p:cNvPicPr>
          <p:nvPr/>
        </p:nvPicPr>
        <p:blipFill>
          <a:blip r:embed="rId2"/>
          <a:stretch>
            <a:fillRect/>
          </a:stretch>
        </p:blipFill>
        <p:spPr>
          <a:xfrm>
            <a:off x="1235219" y="1842589"/>
            <a:ext cx="9721562" cy="4834256"/>
          </a:xfrm>
          <a:prstGeom prst="rect">
            <a:avLst/>
          </a:prstGeom>
        </p:spPr>
      </p:pic>
    </p:spTree>
    <p:extLst>
      <p:ext uri="{BB962C8B-B14F-4D97-AF65-F5344CB8AC3E}">
        <p14:creationId xmlns:p14="http://schemas.microsoft.com/office/powerpoint/2010/main" val="1586473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ctr">
              <a:buNone/>
            </a:pPr>
            <a:r>
              <a:rPr lang="en-US" sz="2400" i="1" dirty="0"/>
              <a:t>Video #4 – Excel Tab 2 of 4:  Top Selling Products in each Subcategory</a:t>
            </a:r>
            <a:br>
              <a:rPr lang="en-US" sz="2400" i="1" dirty="0"/>
            </a:br>
            <a:r>
              <a:rPr lang="en-US" sz="2400" i="1" dirty="0"/>
              <a:t>(Steps 14-16, pgs. 92-96)</a:t>
            </a:r>
          </a:p>
        </p:txBody>
      </p:sp>
      <p:pic>
        <p:nvPicPr>
          <p:cNvPr id="5" name="Picture 4">
            <a:extLst>
              <a:ext uri="{FF2B5EF4-FFF2-40B4-BE49-F238E27FC236}">
                <a16:creationId xmlns:a16="http://schemas.microsoft.com/office/drawing/2014/main" id="{A649252F-112C-F939-3EDF-748A2E081E97}"/>
              </a:ext>
            </a:extLst>
          </p:cNvPr>
          <p:cNvPicPr>
            <a:picLocks noChangeAspect="1"/>
          </p:cNvPicPr>
          <p:nvPr/>
        </p:nvPicPr>
        <p:blipFill>
          <a:blip r:embed="rId2"/>
          <a:stretch>
            <a:fillRect/>
          </a:stretch>
        </p:blipFill>
        <p:spPr>
          <a:xfrm>
            <a:off x="958969" y="1727912"/>
            <a:ext cx="10274060" cy="5130088"/>
          </a:xfrm>
          <a:prstGeom prst="rect">
            <a:avLst/>
          </a:prstGeom>
        </p:spPr>
      </p:pic>
    </p:spTree>
    <p:extLst>
      <p:ext uri="{BB962C8B-B14F-4D97-AF65-F5344CB8AC3E}">
        <p14:creationId xmlns:p14="http://schemas.microsoft.com/office/powerpoint/2010/main" val="2353312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ctr">
              <a:buNone/>
            </a:pPr>
            <a:r>
              <a:rPr lang="en-US" sz="2400" i="1" dirty="0"/>
              <a:t>Video #5 – Excel Tab 3 of 4:  Sales by Country, Sorted</a:t>
            </a:r>
            <a:br>
              <a:rPr lang="en-US" sz="2400" i="1" dirty="0"/>
            </a:br>
            <a:r>
              <a:rPr lang="en-US" sz="2400" i="1" dirty="0"/>
              <a:t>(Steps 17-18, pgs. 96-97)</a:t>
            </a:r>
          </a:p>
          <a:p>
            <a:pPr marL="0" indent="0" algn="ctr">
              <a:buNone/>
            </a:pPr>
            <a:endParaRPr lang="en-US" sz="2400" i="1" dirty="0"/>
          </a:p>
        </p:txBody>
      </p:sp>
      <p:pic>
        <p:nvPicPr>
          <p:cNvPr id="6" name="Picture 5">
            <a:extLst>
              <a:ext uri="{FF2B5EF4-FFF2-40B4-BE49-F238E27FC236}">
                <a16:creationId xmlns:a16="http://schemas.microsoft.com/office/drawing/2014/main" id="{FC71FC31-C8E7-028D-C17E-A9B2FA28C715}"/>
              </a:ext>
            </a:extLst>
          </p:cNvPr>
          <p:cNvPicPr>
            <a:picLocks noChangeAspect="1"/>
          </p:cNvPicPr>
          <p:nvPr/>
        </p:nvPicPr>
        <p:blipFill>
          <a:blip r:embed="rId2"/>
          <a:stretch>
            <a:fillRect/>
          </a:stretch>
        </p:blipFill>
        <p:spPr>
          <a:xfrm>
            <a:off x="980535" y="1765925"/>
            <a:ext cx="10230928" cy="5092075"/>
          </a:xfrm>
          <a:prstGeom prst="rect">
            <a:avLst/>
          </a:prstGeom>
        </p:spPr>
      </p:pic>
    </p:spTree>
    <p:extLst>
      <p:ext uri="{BB962C8B-B14F-4D97-AF65-F5344CB8AC3E}">
        <p14:creationId xmlns:p14="http://schemas.microsoft.com/office/powerpoint/2010/main" val="4164706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ctr">
              <a:buNone/>
            </a:pPr>
            <a:r>
              <a:rPr lang="en-US" sz="2400" i="1" dirty="0"/>
              <a:t>Video #6 – Excel Tab 4 of 4:  Sales by Category w/Footprint</a:t>
            </a:r>
            <a:br>
              <a:rPr lang="en-US" sz="2400" i="1" dirty="0"/>
            </a:br>
            <a:r>
              <a:rPr lang="en-US" sz="2400" i="1" dirty="0"/>
              <a:t>(Steps 19-24, pgs. 98-105)</a:t>
            </a:r>
          </a:p>
        </p:txBody>
      </p:sp>
      <p:pic>
        <p:nvPicPr>
          <p:cNvPr id="5" name="Picture 4">
            <a:extLst>
              <a:ext uri="{FF2B5EF4-FFF2-40B4-BE49-F238E27FC236}">
                <a16:creationId xmlns:a16="http://schemas.microsoft.com/office/drawing/2014/main" id="{F0F34345-2F4D-E531-B255-9555872CC80A}"/>
              </a:ext>
            </a:extLst>
          </p:cNvPr>
          <p:cNvPicPr>
            <a:picLocks noChangeAspect="1"/>
          </p:cNvPicPr>
          <p:nvPr/>
        </p:nvPicPr>
        <p:blipFill>
          <a:blip r:embed="rId2"/>
          <a:stretch>
            <a:fillRect/>
          </a:stretch>
        </p:blipFill>
        <p:spPr>
          <a:xfrm>
            <a:off x="1084052" y="1722467"/>
            <a:ext cx="10023894" cy="4982485"/>
          </a:xfrm>
          <a:prstGeom prst="rect">
            <a:avLst/>
          </a:prstGeom>
        </p:spPr>
      </p:pic>
    </p:spTree>
    <p:extLst>
      <p:ext uri="{BB962C8B-B14F-4D97-AF65-F5344CB8AC3E}">
        <p14:creationId xmlns:p14="http://schemas.microsoft.com/office/powerpoint/2010/main" val="3804223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ctr">
              <a:buNone/>
            </a:pPr>
            <a:r>
              <a:rPr lang="en-US" sz="2400" i="1" dirty="0"/>
              <a:t>Video #7 – The Excel Writer Node</a:t>
            </a:r>
            <a:br>
              <a:rPr lang="en-US" sz="2400" i="1" dirty="0"/>
            </a:br>
            <a:r>
              <a:rPr lang="en-US" sz="2400" i="1" dirty="0"/>
              <a:t>(Step 25, pgs. 106-107)</a:t>
            </a:r>
          </a:p>
        </p:txBody>
      </p:sp>
      <p:pic>
        <p:nvPicPr>
          <p:cNvPr id="6" name="Picture 5">
            <a:extLst>
              <a:ext uri="{FF2B5EF4-FFF2-40B4-BE49-F238E27FC236}">
                <a16:creationId xmlns:a16="http://schemas.microsoft.com/office/drawing/2014/main" id="{32FD2C72-6B6E-6214-CF56-33B8E2711496}"/>
              </a:ext>
            </a:extLst>
          </p:cNvPr>
          <p:cNvPicPr>
            <a:picLocks noChangeAspect="1"/>
          </p:cNvPicPr>
          <p:nvPr/>
        </p:nvPicPr>
        <p:blipFill>
          <a:blip r:embed="rId2"/>
          <a:stretch>
            <a:fillRect/>
          </a:stretch>
        </p:blipFill>
        <p:spPr>
          <a:xfrm>
            <a:off x="1242203" y="1950445"/>
            <a:ext cx="9678838" cy="4826616"/>
          </a:xfrm>
          <a:prstGeom prst="rect">
            <a:avLst/>
          </a:prstGeom>
        </p:spPr>
      </p:pic>
    </p:spTree>
    <p:extLst>
      <p:ext uri="{BB962C8B-B14F-4D97-AF65-F5344CB8AC3E}">
        <p14:creationId xmlns:p14="http://schemas.microsoft.com/office/powerpoint/2010/main" val="1703130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0" y="365125"/>
            <a:ext cx="12191999" cy="678671"/>
          </a:xfrm>
        </p:spPr>
        <p:txBody>
          <a:bodyPr>
            <a:noAutofit/>
          </a:bodyPr>
          <a:lstStyle/>
          <a:p>
            <a:pPr algn="ctr"/>
            <a:r>
              <a:rPr lang="en-US" sz="2800" b="1" u="sng" dirty="0"/>
              <a:t>M3: Data Transformation (Sales Report Automation) KNIME Assignment</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ctr">
              <a:buNone/>
            </a:pPr>
            <a:r>
              <a:rPr lang="en-US" sz="2400" i="1" dirty="0"/>
              <a:t>Video #8 – Line Plot for Seasonality</a:t>
            </a:r>
            <a:br>
              <a:rPr lang="en-US" sz="2400" i="1" dirty="0"/>
            </a:br>
            <a:r>
              <a:rPr lang="en-US" sz="2400" i="1" dirty="0"/>
              <a:t>(Steps 26-29, pgs. 108-112)</a:t>
            </a:r>
          </a:p>
        </p:txBody>
      </p:sp>
      <p:pic>
        <p:nvPicPr>
          <p:cNvPr id="6" name="Picture 5">
            <a:extLst>
              <a:ext uri="{FF2B5EF4-FFF2-40B4-BE49-F238E27FC236}">
                <a16:creationId xmlns:a16="http://schemas.microsoft.com/office/drawing/2014/main" id="{37311295-7411-3253-3614-FA4D8F7EE870}"/>
              </a:ext>
            </a:extLst>
          </p:cNvPr>
          <p:cNvPicPr>
            <a:picLocks noChangeAspect="1"/>
          </p:cNvPicPr>
          <p:nvPr/>
        </p:nvPicPr>
        <p:blipFill>
          <a:blip r:embed="rId2"/>
          <a:stretch>
            <a:fillRect/>
          </a:stretch>
        </p:blipFill>
        <p:spPr>
          <a:xfrm>
            <a:off x="1138686" y="1840297"/>
            <a:ext cx="9885872" cy="4926623"/>
          </a:xfrm>
          <a:prstGeom prst="rect">
            <a:avLst/>
          </a:prstGeom>
        </p:spPr>
      </p:pic>
    </p:spTree>
    <p:extLst>
      <p:ext uri="{BB962C8B-B14F-4D97-AF65-F5344CB8AC3E}">
        <p14:creationId xmlns:p14="http://schemas.microsoft.com/office/powerpoint/2010/main" val="1160405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TotalTime>
  <Words>1610</Words>
  <Application>Microsoft Office PowerPoint</Application>
  <PresentationFormat>Widescreen</PresentationFormat>
  <Paragraphs>99</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Courier New</vt:lpstr>
      <vt:lpstr>Office Theme</vt:lpstr>
      <vt:lpstr> CIS215      Foundations of Data Analytics and Programming  Instructor:  Chris Santo   Module #3 Data Transformation Tutorial Sales Report Automation (Textbook pg. 82-113)  Assignment Walkthrough</vt:lpstr>
      <vt:lpstr>M3: Data Transformation (Sales Report Automation) KNIME Assignment</vt:lpstr>
      <vt:lpstr>M3: Data Transformation (Sales Report Automation) KNIME Assignment</vt:lpstr>
      <vt:lpstr>M3: Data Transformation (Sales Report Automation) KNIME Assignment</vt:lpstr>
      <vt:lpstr>M3: Data Transformation (Sales Report Automation) KNIME Assignment</vt:lpstr>
      <vt:lpstr>M3: Data Transformation (Sales Report Automation) KNIME Assignment</vt:lpstr>
      <vt:lpstr>M3: Data Transformation (Sales Report Automation) KNIME Assignment</vt:lpstr>
      <vt:lpstr>PowerPoint Presentation</vt:lpstr>
      <vt:lpstr>M3: Data Transformation (Sales Report Automation) KNIME Assignment</vt:lpstr>
      <vt:lpstr>M3: Data Transformation (Sales Report Automation) KNIME Assignment</vt:lpstr>
      <vt:lpstr>M3: Data Transformation (Sales Report Automation) KNIME Assignment</vt:lpstr>
      <vt:lpstr>M3: Data Transformation (Sales Report Automation) KNIME Assignment</vt:lpstr>
      <vt:lpstr>Sales Automation – ETL Process</vt:lpstr>
      <vt:lpstr>M3: Data Transformation (Sales Report Automation) KNIME Assignment</vt:lpstr>
      <vt:lpstr>M3: Data Transformation (Sales Report Automation) KNIME Assignment</vt:lpstr>
      <vt:lpstr>M3: Data Transformation (Sales Report Automation) KNIME Assignment</vt:lpstr>
      <vt:lpstr>M3: Data Transformation (Sales Report Automation) KNIME Assignment</vt:lpstr>
      <vt:lpstr>M3: Data Transformation (Sales Report Automation) KNIME Assignment</vt:lpstr>
      <vt:lpstr>M3: Data Transformation (Sales Report Automation) KNIME Assignment</vt:lpstr>
      <vt:lpstr>M3: Data Transformation (Sales Report Automation) KNIME Assignment</vt:lpstr>
      <vt:lpstr>M3: Data Transformation (Sales Report Automation) KNIME Assignment</vt:lpstr>
      <vt:lpstr>M3: Data Transformation (Sales Report Automation) KNIME 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World – An Overview of the ETL Process</dc:title>
  <dc:creator>Chris Santo</dc:creator>
  <cp:lastModifiedBy>Chris Santo</cp:lastModifiedBy>
  <cp:revision>8</cp:revision>
  <dcterms:created xsi:type="dcterms:W3CDTF">2024-01-22T01:15:35Z</dcterms:created>
  <dcterms:modified xsi:type="dcterms:W3CDTF">2024-01-28T01:29:47Z</dcterms:modified>
</cp:coreProperties>
</file>