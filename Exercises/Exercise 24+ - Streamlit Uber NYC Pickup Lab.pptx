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sldIdLst>
    <p:sldId id="256" r:id="rId5"/>
    <p:sldId id="354" r:id="rId6"/>
    <p:sldId id="388" r:id="rId7"/>
    <p:sldId id="391" r:id="rId8"/>
    <p:sldId id="390" r:id="rId9"/>
    <p:sldId id="392" r:id="rId10"/>
    <p:sldId id="393" r:id="rId11"/>
    <p:sldId id="395" r:id="rId12"/>
    <p:sldId id="396" r:id="rId13"/>
    <p:sldId id="398" r:id="rId14"/>
    <p:sldId id="399" r:id="rId15"/>
    <p:sldId id="400" r:id="rId16"/>
    <p:sldId id="401" r:id="rId17"/>
    <p:sldId id="402" r:id="rId18"/>
    <p:sldId id="403" r:id="rId19"/>
    <p:sldId id="404" r:id="rId20"/>
    <p:sldId id="405" r:id="rId21"/>
    <p:sldId id="406" r:id="rId22"/>
    <p:sldId id="407" r:id="rId23"/>
    <p:sldId id="408" r:id="rId24"/>
    <p:sldId id="409" r:id="rId25"/>
    <p:sldId id="410" r:id="rId26"/>
    <p:sldId id="411" r:id="rId27"/>
    <p:sldId id="412" r:id="rId28"/>
    <p:sldId id="413" r:id="rId29"/>
    <p:sldId id="414" r:id="rId30"/>
    <p:sldId id="415" r:id="rId31"/>
    <p:sldId id="416" r:id="rId32"/>
    <p:sldId id="417" r:id="rId33"/>
    <p:sldId id="418" r:id="rId34"/>
    <p:sldId id="419" r:id="rId35"/>
    <p:sldId id="420" r:id="rId36"/>
    <p:sldId id="421" r:id="rId37"/>
    <p:sldId id="422" r:id="rId38"/>
    <p:sldId id="375" r:id="rId39"/>
    <p:sldId id="423" r:id="rId40"/>
    <p:sldId id="424" r:id="rId41"/>
    <p:sldId id="425" r:id="rId42"/>
    <p:sldId id="426" r:id="rId43"/>
    <p:sldId id="427" r:id="rId44"/>
    <p:sldId id="428" r:id="rId45"/>
    <p:sldId id="429" r:id="rId46"/>
    <p:sldId id="32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59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712" autoAdjust="0"/>
  </p:normalViewPr>
  <p:slideViewPr>
    <p:cSldViewPr snapToGrid="0">
      <p:cViewPr varScale="1">
        <p:scale>
          <a:sx n="85" d="100"/>
          <a:sy n="85" d="100"/>
        </p:scale>
        <p:origin x="1044" y="78"/>
      </p:cViewPr>
      <p:guideLst/>
    </p:cSldViewPr>
  </p:slideViewPr>
  <p:notesTextViewPr>
    <p:cViewPr>
      <p:scale>
        <a:sx n="1" d="1"/>
        <a:sy n="1" d="1"/>
      </p:scale>
      <p:origin x="0" y="0"/>
    </p:cViewPr>
  </p:notesTextViewPr>
  <p:sorterViewPr>
    <p:cViewPr>
      <p:scale>
        <a:sx n="100" d="100"/>
        <a:sy n="100" d="100"/>
      </p:scale>
      <p:origin x="0" y="-139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98B7E-6604-4F74-86DB-B30627D56244}" type="datetimeFigureOut">
              <a:rPr lang="en-US" smtClean="0"/>
              <a:t>5/9/2026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28A1F-3E69-47E5-AE93-E7F2155A242D}" type="slidenum">
              <a:rPr lang="en-US" smtClean="0"/>
              <a:t>‹#›</a:t>
            </a:fld>
            <a:endParaRPr lang="en-US" dirty="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F28A1F-3E69-47E5-AE93-E7F2155A242D}" type="slidenum">
              <a:rPr lang="en-US" smtClean="0"/>
              <a:t>1</a:t>
            </a:fld>
            <a:endParaRPr lang="en-US" dirty="0"/>
          </a:p>
        </p:txBody>
      </p:sp>
    </p:spTree>
    <p:extLst>
      <p:ext uri="{BB962C8B-B14F-4D97-AF65-F5344CB8AC3E}">
        <p14:creationId xmlns:p14="http://schemas.microsoft.com/office/powerpoint/2010/main" val="241518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a:spAutoFit/>
          </a:bodyPr>
          <a:lstStyle>
            <a:lvl1pPr>
              <a:lnSpc>
                <a:spcPct val="100000"/>
              </a:lnSpc>
              <a:defRPr sz="4000"/>
            </a:lvl1pPr>
          </a:lstStyle>
          <a:p>
            <a:r>
              <a:rPr lang="en-US"/>
              <a:t>Click to 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a:spAutoFit/>
          </a:bodyPr>
          <a:lstStyle>
            <a:lvl1pPr>
              <a:lnSpc>
                <a:spcPct val="100000"/>
              </a:lnSpc>
              <a:defRPr sz="4000"/>
            </a:lvl1pPr>
          </a:lstStyle>
          <a:p>
            <a:r>
              <a:rPr lang="en-US" dirty="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a:normAutofit/>
          </a:bodyPr>
          <a:lstStyle>
            <a:lvl1pPr>
              <a:lnSpc>
                <a:spcPct val="70000"/>
              </a:lnSpc>
              <a:defRPr sz="5200" spc="-15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a:lstStyle>
            <a:lvl1pPr>
              <a:defRPr>
                <a:solidFill>
                  <a:schemeClr val="tx1">
                    <a:lumMod val="85000"/>
                    <a:lumOff val="15000"/>
                  </a:schemeClr>
                </a:solidFill>
              </a:defRPr>
            </a:lvl1p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anchor="t">
            <a:spAutoFit/>
          </a:bodyPr>
          <a:lstStyle>
            <a:lvl1pPr>
              <a:lnSpc>
                <a:spcPct val="100000"/>
              </a:lnSpc>
              <a:defRPr sz="4000"/>
            </a:lvl1pPr>
          </a:lstStyle>
          <a:p>
            <a:r>
              <a:rPr lang="en-US"/>
              <a:t>Click to edit Master title style</a:t>
            </a:r>
            <a:endParaRPr lang="en-US" dirty="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98533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06">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A5851185-BC8F-4E3A-8DDD-F9AC47525882}"/>
              </a:ext>
            </a:extLst>
          </p:cNvPr>
          <p:cNvSpPr>
            <a:spLocks noGrp="1"/>
          </p:cNvSpPr>
          <p:nvPr>
            <p:ph type="pic" sz="quarter" idx="20" hasCustomPrompt="1"/>
          </p:nvPr>
        </p:nvSpPr>
        <p:spPr>
          <a:xfrm>
            <a:off x="6199981" y="778850"/>
            <a:ext cx="5688013" cy="3506561"/>
          </a:xfrm>
          <a:custGeom>
            <a:avLst/>
            <a:gdLst>
              <a:gd name="connsiteX0" fmla="*/ 0 w 5688013"/>
              <a:gd name="connsiteY0" fmla="*/ 0 h 3506561"/>
              <a:gd name="connsiteX1" fmla="*/ 5688013 w 5688013"/>
              <a:gd name="connsiteY1" fmla="*/ 0 h 3506561"/>
              <a:gd name="connsiteX2" fmla="*/ 5688013 w 5688013"/>
              <a:gd name="connsiteY2" fmla="*/ 3506561 h 3506561"/>
              <a:gd name="connsiteX3" fmla="*/ 0 w 5688013"/>
              <a:gd name="connsiteY3" fmla="*/ 3506561 h 3506561"/>
            </a:gdLst>
            <a:ahLst/>
            <a:cxnLst>
              <a:cxn ang="0">
                <a:pos x="connsiteX0" y="connsiteY0"/>
              </a:cxn>
              <a:cxn ang="0">
                <a:pos x="connsiteX1" y="connsiteY1"/>
              </a:cxn>
              <a:cxn ang="0">
                <a:pos x="connsiteX2" y="connsiteY2"/>
              </a:cxn>
              <a:cxn ang="0">
                <a:pos x="connsiteX3" y="connsiteY3"/>
              </a:cxn>
            </a:cxnLst>
            <a:rect l="l" t="t" r="r" b="b"/>
            <a:pathLst>
              <a:path w="5688013" h="3506561">
                <a:moveTo>
                  <a:pt x="0" y="0"/>
                </a:moveTo>
                <a:lnTo>
                  <a:pt x="5688013" y="0"/>
                </a:lnTo>
                <a:lnTo>
                  <a:pt x="5688013" y="3506561"/>
                </a:lnTo>
                <a:lnTo>
                  <a:pt x="0" y="3506561"/>
                </a:lnTo>
                <a:close/>
              </a:path>
            </a:pathLst>
          </a:custGeom>
          <a:solidFill>
            <a:schemeClr val="tx2"/>
          </a:solidFill>
        </p:spPr>
        <p:txBody>
          <a:bodyPr wrap="square">
            <a:noAutofit/>
          </a:bodyPr>
          <a:lstStyle/>
          <a:p>
            <a:r>
              <a:rPr lang="en-US" dirty="0"/>
              <a:t>Photo Placeholders. Click icon to add picture</a:t>
            </a:r>
          </a:p>
        </p:txBody>
      </p:sp>
      <p:sp>
        <p:nvSpPr>
          <p:cNvPr id="14" name="Title 1">
            <a:extLst>
              <a:ext uri="{FF2B5EF4-FFF2-40B4-BE49-F238E27FC236}">
                <a16:creationId xmlns:a16="http://schemas.microsoft.com/office/drawing/2014/main" id="{20F0FE11-6E2B-408B-B478-B89A9280A3F1}"/>
              </a:ext>
            </a:extLst>
          </p:cNvPr>
          <p:cNvSpPr>
            <a:spLocks noGrp="1"/>
          </p:cNvSpPr>
          <p:nvPr userDrawn="1">
            <p:ph type="title"/>
          </p:nvPr>
        </p:nvSpPr>
        <p:spPr>
          <a:xfrm>
            <a:off x="673534" y="1104518"/>
            <a:ext cx="5221224" cy="2587752"/>
          </a:xfrm>
        </p:spPr>
        <p:txBody>
          <a:bodyPr anchor="t"/>
          <a:lstStyle>
            <a:lvl1pPr>
              <a:defRPr sz="5400" b="0" i="0">
                <a:solidFill>
                  <a:schemeClr val="accent5"/>
                </a:solidFill>
              </a:defRPr>
            </a:lvl1pPr>
          </a:lstStyle>
          <a:p>
            <a:r>
              <a:rPr lang="en-US" dirty="0"/>
              <a:t>Click to edit Master title style</a:t>
            </a:r>
            <a:endParaRPr lang="en-ID" dirty="0"/>
          </a:p>
        </p:txBody>
      </p:sp>
      <p:sp>
        <p:nvSpPr>
          <p:cNvPr id="15" name="Text Placeholder 9">
            <a:extLst>
              <a:ext uri="{FF2B5EF4-FFF2-40B4-BE49-F238E27FC236}">
                <a16:creationId xmlns:a16="http://schemas.microsoft.com/office/drawing/2014/main" id="{68010824-0DBB-43F2-A9A7-1358D92209EB}"/>
              </a:ext>
            </a:extLst>
          </p:cNvPr>
          <p:cNvSpPr>
            <a:spLocks noGrp="1"/>
          </p:cNvSpPr>
          <p:nvPr userDrawn="1">
            <p:ph type="body" sz="quarter" idx="19"/>
          </p:nvPr>
        </p:nvSpPr>
        <p:spPr>
          <a:xfrm>
            <a:off x="6697270" y="4618487"/>
            <a:ext cx="4690872" cy="274320"/>
          </a:xfrm>
        </p:spPr>
        <p:txBody>
          <a:bodyPr/>
          <a:lstStyle>
            <a:lvl1pPr algn="l">
              <a:defRPr sz="1200" b="0">
                <a:solidFill>
                  <a:schemeClr val="tx1"/>
                </a:solidFill>
                <a:latin typeface="+mj-lt"/>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16" name="Text Placeholder 9">
            <a:extLst>
              <a:ext uri="{FF2B5EF4-FFF2-40B4-BE49-F238E27FC236}">
                <a16:creationId xmlns:a16="http://schemas.microsoft.com/office/drawing/2014/main" id="{17DF0A48-F214-4A96-B060-2BCB622DA46C}"/>
              </a:ext>
            </a:extLst>
          </p:cNvPr>
          <p:cNvSpPr>
            <a:spLocks noGrp="1"/>
          </p:cNvSpPr>
          <p:nvPr userDrawn="1">
            <p:ph type="body" sz="quarter" idx="21"/>
          </p:nvPr>
        </p:nvSpPr>
        <p:spPr>
          <a:xfrm>
            <a:off x="6697270" y="4911443"/>
            <a:ext cx="4690872" cy="1280160"/>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18" name="Text Placeholder 9">
            <a:extLst>
              <a:ext uri="{FF2B5EF4-FFF2-40B4-BE49-F238E27FC236}">
                <a16:creationId xmlns:a16="http://schemas.microsoft.com/office/drawing/2014/main" id="{68F17923-A5DA-4F59-AAE9-2AB2C70BFE57}"/>
              </a:ext>
            </a:extLst>
          </p:cNvPr>
          <p:cNvSpPr>
            <a:spLocks noGrp="1"/>
          </p:cNvSpPr>
          <p:nvPr>
            <p:ph type="body" sz="quarter" idx="22"/>
          </p:nvPr>
        </p:nvSpPr>
        <p:spPr>
          <a:xfrm>
            <a:off x="673534" y="4045150"/>
            <a:ext cx="5221224" cy="274320"/>
          </a:xfrm>
        </p:spPr>
        <p:txBody>
          <a:bodyPr/>
          <a:lstStyle>
            <a:lvl1pPr algn="l">
              <a:defRPr sz="1200" b="0">
                <a:solidFill>
                  <a:schemeClr val="tx1"/>
                </a:solidFill>
                <a:latin typeface="+mj-lt"/>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19" name="Text Placeholder 9">
            <a:extLst>
              <a:ext uri="{FF2B5EF4-FFF2-40B4-BE49-F238E27FC236}">
                <a16:creationId xmlns:a16="http://schemas.microsoft.com/office/drawing/2014/main" id="{C1E3980B-FDCC-42C2-8314-F77E7054CD05}"/>
              </a:ext>
            </a:extLst>
          </p:cNvPr>
          <p:cNvSpPr>
            <a:spLocks noGrp="1"/>
          </p:cNvSpPr>
          <p:nvPr>
            <p:ph type="body" sz="quarter" idx="23"/>
          </p:nvPr>
        </p:nvSpPr>
        <p:spPr>
          <a:xfrm>
            <a:off x="673534" y="4339213"/>
            <a:ext cx="5221224" cy="603504"/>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20" name="Text Placeholder 9">
            <a:extLst>
              <a:ext uri="{FF2B5EF4-FFF2-40B4-BE49-F238E27FC236}">
                <a16:creationId xmlns:a16="http://schemas.microsoft.com/office/drawing/2014/main" id="{290E82F9-BF9E-48C1-B2CB-7463ABBDC26B}"/>
              </a:ext>
            </a:extLst>
          </p:cNvPr>
          <p:cNvSpPr>
            <a:spLocks noGrp="1"/>
          </p:cNvSpPr>
          <p:nvPr>
            <p:ph type="body" sz="quarter" idx="24"/>
          </p:nvPr>
        </p:nvSpPr>
        <p:spPr>
          <a:xfrm>
            <a:off x="673534" y="5295596"/>
            <a:ext cx="5221224" cy="274320"/>
          </a:xfrm>
        </p:spPr>
        <p:txBody>
          <a:bodyPr/>
          <a:lstStyle>
            <a:lvl1pPr algn="l">
              <a:defRPr sz="1200" b="0">
                <a:solidFill>
                  <a:schemeClr val="tx1"/>
                </a:solidFill>
                <a:latin typeface="+mj-lt"/>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21" name="Text Placeholder 9">
            <a:extLst>
              <a:ext uri="{FF2B5EF4-FFF2-40B4-BE49-F238E27FC236}">
                <a16:creationId xmlns:a16="http://schemas.microsoft.com/office/drawing/2014/main" id="{5C3C59AB-D0EC-46D7-B5C4-B1BF8449C8C0}"/>
              </a:ext>
            </a:extLst>
          </p:cNvPr>
          <p:cNvSpPr>
            <a:spLocks noGrp="1"/>
          </p:cNvSpPr>
          <p:nvPr>
            <p:ph type="body" sz="quarter" idx="25"/>
          </p:nvPr>
        </p:nvSpPr>
        <p:spPr>
          <a:xfrm>
            <a:off x="673534" y="5589659"/>
            <a:ext cx="5221224" cy="603504"/>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Tree>
    <p:extLst>
      <p:ext uri="{BB962C8B-B14F-4D97-AF65-F5344CB8AC3E}">
        <p14:creationId xmlns:p14="http://schemas.microsoft.com/office/powerpoint/2010/main" val="504978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C5968"/>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r>
              <a:rPr lang="en-US" dirty="0"/>
              <a:t>PAGE </a:t>
            </a:r>
            <a:fld id="{4A9B5881-4007-4345-955A-79C2656F0C49}" type="slidenum">
              <a:rPr lang="en-US" smtClean="0"/>
              <a:pPr/>
              <a:t>‹#›</a:t>
            </a:fld>
            <a:endParaRPr lang="en-US" dirty="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 id="2147483668" r:id="rId15"/>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streamlit.io/develop/api-reference" TargetMode="Externa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streamlit.io/get-started/fundamentals/main-concepts#widgets" TargetMode="Externa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streamlit.io/deploy/tutorials" TargetMode="Externa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streamlit.io/get-started/tutorials/create-an-app" TargetMode="Externa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hyperlink" Target="https://share.streamlit.io/" TargetMode="Externa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a:lstStyle/>
          <a:p>
            <a:r>
              <a:rPr lang="en-US" dirty="0"/>
              <a:t>Advanced</a:t>
            </a:r>
            <a:br>
              <a:rPr lang="en-US" dirty="0"/>
            </a:br>
            <a:r>
              <a:rPr lang="en-US" dirty="0"/>
              <a:t>Data Analytics</a:t>
            </a:r>
          </a:p>
        </p:txBody>
      </p:sp>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a:xfrm>
            <a:off x="7873612" y="4611901"/>
            <a:ext cx="4097994" cy="1749574"/>
          </a:xfrm>
        </p:spPr>
        <p:txBody>
          <a:bodyPr>
            <a:normAutofit/>
          </a:bodyPr>
          <a:lstStyle/>
          <a:p>
            <a:r>
              <a:rPr lang="en-US" sz="2000" dirty="0"/>
              <a:t>Instructor: Chris Santo</a:t>
            </a:r>
          </a:p>
          <a:p>
            <a:r>
              <a:rPr lang="en-US" sz="2000" dirty="0"/>
              <a:t>Using </a:t>
            </a:r>
            <a:r>
              <a:rPr lang="en-US" sz="2000" dirty="0" err="1"/>
              <a:t>Streamlit</a:t>
            </a:r>
            <a:r>
              <a:rPr lang="en-US" sz="2000" dirty="0"/>
              <a:t> and Python for</a:t>
            </a:r>
            <a:br>
              <a:rPr lang="en-US" sz="2000" dirty="0"/>
            </a:br>
            <a:r>
              <a:rPr lang="en-US" sz="2000" dirty="0"/>
              <a:t>Advanced Data Analytics</a:t>
            </a:r>
          </a:p>
          <a:p>
            <a:r>
              <a:rPr lang="en-US" sz="2000" dirty="0"/>
              <a:t>Wednesday 6/3/2026</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a:lstStyle/>
          <a:p>
            <a:r>
              <a:rPr lang="en-US" dirty="0"/>
              <a:t>PAGE </a:t>
            </a:r>
            <a:fld id="{4A9B5881-4007-4345-955A-79C2656F0C49}" type="slidenum">
              <a:rPr lang="en-US" smtClean="0"/>
              <a:pPr/>
              <a:t>1</a:t>
            </a:fld>
            <a:endParaRPr lang="en-US" dirty="0"/>
          </a:p>
        </p:txBody>
      </p:sp>
      <p:pic>
        <p:nvPicPr>
          <p:cNvPr id="1028" name="Picture 4" descr="Why Use Python? - Full Stack Python">
            <a:extLst>
              <a:ext uri="{FF2B5EF4-FFF2-40B4-BE49-F238E27FC236}">
                <a16:creationId xmlns:a16="http://schemas.microsoft.com/office/drawing/2014/main" id="{EE4ABF62-7A77-0014-3B23-91DC27DF6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315" y="152400"/>
            <a:ext cx="6452832" cy="2108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803B98B-2CC4-C151-F85F-93C92C16AFDA}"/>
              </a:ext>
            </a:extLst>
          </p:cNvPr>
          <p:cNvPicPr>
            <a:picLocks noChangeAspect="1"/>
          </p:cNvPicPr>
          <p:nvPr/>
        </p:nvPicPr>
        <p:blipFill>
          <a:blip r:embed="rId4"/>
          <a:stretch>
            <a:fillRect/>
          </a:stretch>
        </p:blipFill>
        <p:spPr>
          <a:xfrm>
            <a:off x="573315" y="2260599"/>
            <a:ext cx="4181634" cy="4248743"/>
          </a:xfrm>
          <a:prstGeom prst="rect">
            <a:avLst/>
          </a:prstGeom>
        </p:spPr>
      </p:pic>
      <p:pic>
        <p:nvPicPr>
          <p:cNvPr id="9" name="Picture 8">
            <a:extLst>
              <a:ext uri="{FF2B5EF4-FFF2-40B4-BE49-F238E27FC236}">
                <a16:creationId xmlns:a16="http://schemas.microsoft.com/office/drawing/2014/main" id="{6FC36949-1A1E-5185-C512-B5E486C5FE5A}"/>
              </a:ext>
            </a:extLst>
          </p:cNvPr>
          <p:cNvPicPr>
            <a:picLocks noChangeAspect="1"/>
          </p:cNvPicPr>
          <p:nvPr/>
        </p:nvPicPr>
        <p:blipFill>
          <a:blip r:embed="rId5"/>
          <a:stretch>
            <a:fillRect/>
          </a:stretch>
        </p:blipFill>
        <p:spPr>
          <a:xfrm>
            <a:off x="4739828" y="2260600"/>
            <a:ext cx="2286319" cy="4248743"/>
          </a:xfrm>
          <a:prstGeom prst="rect">
            <a:avLst/>
          </a:prstGeom>
        </p:spPr>
      </p:pic>
    </p:spTree>
    <p:extLst>
      <p:ext uri="{BB962C8B-B14F-4D97-AF65-F5344CB8AC3E}">
        <p14:creationId xmlns:p14="http://schemas.microsoft.com/office/powerpoint/2010/main" val="1136250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3936C-6B04-AD77-1F1E-D8BF136A4088}"/>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073C8398-AF46-E89B-D756-2616EB4BF9EB}"/>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a:solidFill>
                  <a:schemeClr val="bg1"/>
                </a:solidFill>
              </a:rPr>
              <a:t>Warning:  Experimental</a:t>
            </a:r>
          </a:p>
        </p:txBody>
      </p:sp>
      <p:sp>
        <p:nvSpPr>
          <p:cNvPr id="10" name="TextBox 9">
            <a:extLst>
              <a:ext uri="{FF2B5EF4-FFF2-40B4-BE49-F238E27FC236}">
                <a16:creationId xmlns:a16="http://schemas.microsoft.com/office/drawing/2014/main" id="{2A123F7A-018D-DEA0-5265-BB1DFE38205C}"/>
              </a:ext>
            </a:extLst>
          </p:cNvPr>
          <p:cNvSpPr txBox="1"/>
          <p:nvPr/>
        </p:nvSpPr>
        <p:spPr>
          <a:xfrm>
            <a:off x="607040" y="1635760"/>
            <a:ext cx="2931688" cy="4401205"/>
          </a:xfrm>
          <a:prstGeom prst="rect">
            <a:avLst/>
          </a:prstGeom>
          <a:noFill/>
        </p:spPr>
        <p:txBody>
          <a:bodyPr wrap="square" rtlCol="0">
            <a:spAutoFit/>
          </a:bodyPr>
          <a:lstStyle/>
          <a:p>
            <a:r>
              <a:rPr lang="en-US" sz="2800" dirty="0">
                <a:solidFill>
                  <a:schemeClr val="bg1"/>
                </a:solidFill>
              </a:rPr>
              <a:t>I've never run these labs in a classroom.  This is an experiment, so our results may vary.</a:t>
            </a:r>
            <a:br>
              <a:rPr lang="en-US" sz="2800" dirty="0">
                <a:solidFill>
                  <a:schemeClr val="bg1"/>
                </a:solidFill>
              </a:rPr>
            </a:br>
            <a:br>
              <a:rPr lang="en-US" sz="2800" dirty="0">
                <a:solidFill>
                  <a:schemeClr val="bg1"/>
                </a:solidFill>
              </a:rPr>
            </a:br>
            <a:r>
              <a:rPr lang="en-US" sz="2800" dirty="0">
                <a:solidFill>
                  <a:schemeClr val="bg1"/>
                </a:solidFill>
              </a:rPr>
              <a:t>Please be kind on my surveys </a:t>
            </a:r>
            <a:r>
              <a:rPr lang="en-US" sz="2800" dirty="0">
                <a:solidFill>
                  <a:schemeClr val="bg1"/>
                </a:solidFill>
                <a:sym typeface="Wingdings" panose="05000000000000000000" pitchFamily="2" charset="2"/>
              </a:rPr>
              <a:t></a:t>
            </a:r>
            <a:endParaRPr lang="en-US" sz="2800" dirty="0">
              <a:solidFill>
                <a:schemeClr val="bg1"/>
              </a:solidFill>
            </a:endParaRPr>
          </a:p>
          <a:p>
            <a:endParaRPr lang="en-US" sz="2800" dirty="0">
              <a:solidFill>
                <a:schemeClr val="bg1"/>
              </a:solidFill>
            </a:endParaRPr>
          </a:p>
        </p:txBody>
      </p:sp>
      <p:pic>
        <p:nvPicPr>
          <p:cNvPr id="2050" name="Picture 2" descr="Experimental Quantum Information ...">
            <a:extLst>
              <a:ext uri="{FF2B5EF4-FFF2-40B4-BE49-F238E27FC236}">
                <a16:creationId xmlns:a16="http://schemas.microsoft.com/office/drawing/2014/main" id="{A9EF4BFF-E9DB-338A-8358-3FA9E834DE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369" y="1789423"/>
            <a:ext cx="7936591" cy="444449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arning: Exposure to RoundUp Weed ...">
            <a:extLst>
              <a:ext uri="{FF2B5EF4-FFF2-40B4-BE49-F238E27FC236}">
                <a16:creationId xmlns:a16="http://schemas.microsoft.com/office/drawing/2014/main" id="{1709D9AC-D642-8B72-9009-C7C90CDB5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3064" y="38084"/>
            <a:ext cx="3071896" cy="1720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07733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DCAF0-AF30-7DF7-3B15-0D1941C27F29}"/>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0A3899C5-4EB4-42D5-4980-3DB1DEE7C12E}"/>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endParaRPr lang="en-US" sz="4800" dirty="0">
              <a:solidFill>
                <a:schemeClr val="bg1"/>
              </a:solidFill>
            </a:endParaRPr>
          </a:p>
        </p:txBody>
      </p:sp>
      <p:sp>
        <p:nvSpPr>
          <p:cNvPr id="10" name="TextBox 9">
            <a:extLst>
              <a:ext uri="{FF2B5EF4-FFF2-40B4-BE49-F238E27FC236}">
                <a16:creationId xmlns:a16="http://schemas.microsoft.com/office/drawing/2014/main" id="{49E51581-0358-514D-5D12-4B2F9F29B287}"/>
              </a:ext>
            </a:extLst>
          </p:cNvPr>
          <p:cNvSpPr txBox="1"/>
          <p:nvPr/>
        </p:nvSpPr>
        <p:spPr>
          <a:xfrm>
            <a:off x="607039" y="1635760"/>
            <a:ext cx="11445261" cy="4832092"/>
          </a:xfrm>
          <a:prstGeom prst="rect">
            <a:avLst/>
          </a:prstGeom>
          <a:noFill/>
        </p:spPr>
        <p:txBody>
          <a:bodyPr wrap="square" rtlCol="0">
            <a:spAutoFit/>
          </a:bodyPr>
          <a:lstStyle/>
          <a:p>
            <a:r>
              <a:rPr lang="en-US" sz="2800" dirty="0" err="1">
                <a:solidFill>
                  <a:schemeClr val="bg1"/>
                </a:solidFill>
              </a:rPr>
              <a:t>Streamlit</a:t>
            </a:r>
            <a:r>
              <a:rPr lang="en-US" sz="2800" dirty="0">
                <a:solidFill>
                  <a:schemeClr val="bg1"/>
                </a:solidFill>
              </a:rPr>
              <a:t> follows a three-step process to app development/deployment:</a:t>
            </a:r>
          </a:p>
          <a:p>
            <a:endParaRPr lang="en-US" sz="2800" dirty="0">
              <a:solidFill>
                <a:schemeClr val="bg1"/>
              </a:solidFill>
            </a:endParaRPr>
          </a:p>
          <a:p>
            <a:pPr marL="800100" lvl="1" indent="-342900">
              <a:buFont typeface="Arial" panose="020B0604020202020204" pitchFamily="34" charset="0"/>
              <a:buChar char="•"/>
            </a:pPr>
            <a:r>
              <a:rPr lang="en-US" sz="2800" b="1" dirty="0">
                <a:solidFill>
                  <a:schemeClr val="accent2"/>
                </a:solidFill>
              </a:rPr>
              <a:t>#1 – Script the App</a:t>
            </a:r>
            <a:br>
              <a:rPr lang="en-US" sz="2800" dirty="0">
                <a:solidFill>
                  <a:schemeClr val="bg1"/>
                </a:solidFill>
              </a:rPr>
            </a:br>
            <a:br>
              <a:rPr lang="en-US" sz="2800" dirty="0">
                <a:solidFill>
                  <a:schemeClr val="bg1"/>
                </a:solidFill>
              </a:rPr>
            </a:br>
            <a:r>
              <a:rPr lang="en-US" sz="2800" dirty="0">
                <a:solidFill>
                  <a:schemeClr val="bg1"/>
                </a:solidFill>
              </a:rPr>
              <a:t>Build an app in a few lines of code with </a:t>
            </a:r>
            <a:r>
              <a:rPr lang="en-US" sz="2800" dirty="0" err="1">
                <a:solidFill>
                  <a:schemeClr val="bg1"/>
                </a:solidFill>
              </a:rPr>
              <a:t>Streamlit's</a:t>
            </a:r>
            <a:r>
              <a:rPr lang="en-US" sz="2800" dirty="0">
                <a:solidFill>
                  <a:schemeClr val="bg1"/>
                </a:solidFill>
              </a:rPr>
              <a:t> "magically simple" API.  In a local environment running Anaconda or similar, the app updates immediately in the browser when the code is updated.</a:t>
            </a:r>
            <a:br>
              <a:rPr lang="en-US" sz="2800" dirty="0">
                <a:solidFill>
                  <a:schemeClr val="bg1"/>
                </a:solidFill>
              </a:rPr>
            </a:br>
            <a:br>
              <a:rPr lang="en-US" sz="2800" dirty="0">
                <a:solidFill>
                  <a:schemeClr val="bg1"/>
                </a:solidFill>
              </a:rPr>
            </a:br>
            <a:r>
              <a:rPr lang="en-US" sz="2800" dirty="0">
                <a:solidFill>
                  <a:schemeClr val="bg1"/>
                </a:solidFill>
              </a:rPr>
              <a:t>The API reference is here:  </a:t>
            </a:r>
            <a:br>
              <a:rPr lang="en-US" sz="2800" dirty="0">
                <a:solidFill>
                  <a:schemeClr val="bg1"/>
                </a:solidFill>
              </a:rPr>
            </a:br>
            <a:r>
              <a:rPr lang="en-US" sz="2800" dirty="0">
                <a:solidFill>
                  <a:schemeClr val="bg1"/>
                </a:solidFill>
                <a:hlinkClick r:id="rId2"/>
              </a:rPr>
              <a:t>https://docs.streamlit.io/develop/api-reference</a:t>
            </a:r>
            <a:endParaRPr lang="en-US" sz="2800" dirty="0">
              <a:solidFill>
                <a:schemeClr val="bg1"/>
              </a:solidFill>
            </a:endParaRPr>
          </a:p>
          <a:p>
            <a:pPr marL="800100" lvl="1" indent="-342900">
              <a:buFont typeface="Arial" panose="020B0604020202020204" pitchFamily="34" charset="0"/>
              <a:buChar char="•"/>
            </a:pPr>
            <a:endParaRPr lang="en-US" sz="2800" dirty="0">
              <a:solidFill>
                <a:schemeClr val="bg1"/>
              </a:solidFill>
            </a:endParaRPr>
          </a:p>
        </p:txBody>
      </p:sp>
      <p:pic>
        <p:nvPicPr>
          <p:cNvPr id="3" name="Picture 2">
            <a:extLst>
              <a:ext uri="{FF2B5EF4-FFF2-40B4-BE49-F238E27FC236}">
                <a16:creationId xmlns:a16="http://schemas.microsoft.com/office/drawing/2014/main" id="{0B14BA72-6603-7EBD-E240-F03629322060}"/>
              </a:ext>
            </a:extLst>
          </p:cNvPr>
          <p:cNvPicPr>
            <a:picLocks noChangeAspect="1"/>
          </p:cNvPicPr>
          <p:nvPr/>
        </p:nvPicPr>
        <p:blipFill>
          <a:blip r:embed="rId3"/>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101359699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F0435-BD6D-722F-75E6-765B8C33E3D3}"/>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0ED7AE1E-5541-291F-D6C5-9B732ABE189F}"/>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endParaRPr lang="en-US" sz="4800" dirty="0">
              <a:solidFill>
                <a:schemeClr val="bg1"/>
              </a:solidFill>
            </a:endParaRPr>
          </a:p>
        </p:txBody>
      </p:sp>
      <p:sp>
        <p:nvSpPr>
          <p:cNvPr id="10" name="TextBox 9">
            <a:extLst>
              <a:ext uri="{FF2B5EF4-FFF2-40B4-BE49-F238E27FC236}">
                <a16:creationId xmlns:a16="http://schemas.microsoft.com/office/drawing/2014/main" id="{8FCA5A09-68AC-24B5-E3ED-91C458287DAB}"/>
              </a:ext>
            </a:extLst>
          </p:cNvPr>
          <p:cNvSpPr txBox="1"/>
          <p:nvPr/>
        </p:nvSpPr>
        <p:spPr>
          <a:xfrm>
            <a:off x="607039" y="1635760"/>
            <a:ext cx="11445261" cy="1384995"/>
          </a:xfrm>
          <a:prstGeom prst="rect">
            <a:avLst/>
          </a:prstGeom>
          <a:noFill/>
        </p:spPr>
        <p:txBody>
          <a:bodyPr wrap="square" rtlCol="0">
            <a:spAutoFit/>
          </a:bodyPr>
          <a:lstStyle/>
          <a:p>
            <a:pPr marL="800100" lvl="1" indent="-342900">
              <a:buFont typeface="Arial" panose="020B0604020202020204" pitchFamily="34" charset="0"/>
              <a:buChar char="•"/>
            </a:pPr>
            <a:r>
              <a:rPr lang="en-US" sz="2800" b="1" dirty="0">
                <a:solidFill>
                  <a:schemeClr val="accent2"/>
                </a:solidFill>
              </a:rPr>
              <a:t>#1 -- Embrace Scripting</a:t>
            </a:r>
            <a:br>
              <a:rPr lang="en-US" sz="2800" dirty="0">
                <a:solidFill>
                  <a:schemeClr val="bg1"/>
                </a:solidFill>
              </a:rPr>
            </a:br>
            <a:br>
              <a:rPr lang="en-US" sz="2800" dirty="0">
                <a:solidFill>
                  <a:schemeClr val="bg1"/>
                </a:solidFill>
              </a:rPr>
            </a:br>
            <a:endParaRPr lang="en-US" sz="2800" dirty="0">
              <a:solidFill>
                <a:schemeClr val="bg1"/>
              </a:solidFill>
            </a:endParaRPr>
          </a:p>
        </p:txBody>
      </p:sp>
      <p:pic>
        <p:nvPicPr>
          <p:cNvPr id="3" name="Picture 2">
            <a:extLst>
              <a:ext uri="{FF2B5EF4-FFF2-40B4-BE49-F238E27FC236}">
                <a16:creationId xmlns:a16="http://schemas.microsoft.com/office/drawing/2014/main" id="{98926E57-2320-A9F7-86ED-3716C1D1A975}"/>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4" name="Picture 3">
            <a:extLst>
              <a:ext uri="{FF2B5EF4-FFF2-40B4-BE49-F238E27FC236}">
                <a16:creationId xmlns:a16="http://schemas.microsoft.com/office/drawing/2014/main" id="{148823F1-9F2B-06C9-C3A9-305FEFF000D2}"/>
              </a:ext>
            </a:extLst>
          </p:cNvPr>
          <p:cNvPicPr>
            <a:picLocks noChangeAspect="1"/>
          </p:cNvPicPr>
          <p:nvPr/>
        </p:nvPicPr>
        <p:blipFill>
          <a:blip r:embed="rId3"/>
          <a:stretch>
            <a:fillRect/>
          </a:stretch>
        </p:blipFill>
        <p:spPr>
          <a:xfrm>
            <a:off x="2777074" y="2169473"/>
            <a:ext cx="9414926" cy="4688527"/>
          </a:xfrm>
          <a:prstGeom prst="rect">
            <a:avLst/>
          </a:prstGeom>
        </p:spPr>
      </p:pic>
    </p:spTree>
    <p:extLst>
      <p:ext uri="{BB962C8B-B14F-4D97-AF65-F5344CB8AC3E}">
        <p14:creationId xmlns:p14="http://schemas.microsoft.com/office/powerpoint/2010/main" val="251909306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9F18A-B2FA-75DF-810D-EEC5AB707720}"/>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5481689D-A380-9821-D67E-E12E2AB0C63F}"/>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endParaRPr lang="en-US" sz="4800" dirty="0">
              <a:solidFill>
                <a:schemeClr val="bg1"/>
              </a:solidFill>
            </a:endParaRPr>
          </a:p>
        </p:txBody>
      </p:sp>
      <p:sp>
        <p:nvSpPr>
          <p:cNvPr id="10" name="TextBox 9">
            <a:extLst>
              <a:ext uri="{FF2B5EF4-FFF2-40B4-BE49-F238E27FC236}">
                <a16:creationId xmlns:a16="http://schemas.microsoft.com/office/drawing/2014/main" id="{491478C5-4040-7FAE-0E3F-E95CD3D64EA3}"/>
              </a:ext>
            </a:extLst>
          </p:cNvPr>
          <p:cNvSpPr txBox="1"/>
          <p:nvPr/>
        </p:nvSpPr>
        <p:spPr>
          <a:xfrm>
            <a:off x="607039" y="1635760"/>
            <a:ext cx="11445261" cy="4770537"/>
          </a:xfrm>
          <a:prstGeom prst="rect">
            <a:avLst/>
          </a:prstGeom>
          <a:noFill/>
        </p:spPr>
        <p:txBody>
          <a:bodyPr wrap="square" rtlCol="0">
            <a:spAutoFit/>
          </a:bodyPr>
          <a:lstStyle/>
          <a:p>
            <a:r>
              <a:rPr lang="en-US" sz="2800" dirty="0" err="1">
                <a:solidFill>
                  <a:schemeClr val="bg1"/>
                </a:solidFill>
              </a:rPr>
              <a:t>Streamlit</a:t>
            </a:r>
            <a:r>
              <a:rPr lang="en-US" sz="2800" dirty="0">
                <a:solidFill>
                  <a:schemeClr val="bg1"/>
                </a:solidFill>
              </a:rPr>
              <a:t> follows a three-step process to app development/deployment:</a:t>
            </a:r>
          </a:p>
          <a:p>
            <a:endParaRPr lang="en-US" sz="2800" dirty="0">
              <a:solidFill>
                <a:schemeClr val="bg1"/>
              </a:solidFill>
            </a:endParaRPr>
          </a:p>
          <a:p>
            <a:pPr marL="800100" lvl="1" indent="-342900">
              <a:buFont typeface="Arial" panose="020B0604020202020204" pitchFamily="34" charset="0"/>
              <a:buChar char="•"/>
            </a:pPr>
            <a:r>
              <a:rPr lang="en-US" sz="2800" b="1" dirty="0">
                <a:solidFill>
                  <a:schemeClr val="accent2"/>
                </a:solidFill>
              </a:rPr>
              <a:t>#2 – Add interaction by using widgets</a:t>
            </a:r>
            <a:br>
              <a:rPr lang="en-US" sz="2800" dirty="0">
                <a:solidFill>
                  <a:schemeClr val="bg1"/>
                </a:solidFill>
              </a:rPr>
            </a:br>
            <a:br>
              <a:rPr lang="en-US" sz="2800" dirty="0">
                <a:solidFill>
                  <a:schemeClr val="bg1"/>
                </a:solidFill>
              </a:rPr>
            </a:br>
            <a:r>
              <a:rPr lang="en-US" sz="2800" dirty="0">
                <a:solidFill>
                  <a:schemeClr val="bg1"/>
                </a:solidFill>
              </a:rPr>
              <a:t>Adding a widget in a </a:t>
            </a:r>
            <a:r>
              <a:rPr lang="en-US" sz="2800" dirty="0" err="1">
                <a:solidFill>
                  <a:schemeClr val="bg1"/>
                </a:solidFill>
              </a:rPr>
              <a:t>Streamlit</a:t>
            </a:r>
            <a:r>
              <a:rPr lang="en-US" sz="2800" dirty="0">
                <a:solidFill>
                  <a:schemeClr val="bg1"/>
                </a:solidFill>
              </a:rPr>
              <a:t> app is the same as declaring a variable in Python.  The complicated backend processing is all handled for you by the </a:t>
            </a:r>
            <a:r>
              <a:rPr lang="en-US" sz="2800" dirty="0" err="1">
                <a:solidFill>
                  <a:schemeClr val="bg1"/>
                </a:solidFill>
              </a:rPr>
              <a:t>Streamlit</a:t>
            </a:r>
            <a:r>
              <a:rPr lang="en-US" sz="2800" dirty="0">
                <a:solidFill>
                  <a:schemeClr val="bg1"/>
                </a:solidFill>
              </a:rPr>
              <a:t> framework.</a:t>
            </a:r>
            <a:br>
              <a:rPr lang="en-US" sz="2800" dirty="0">
                <a:solidFill>
                  <a:schemeClr val="bg1"/>
                </a:solidFill>
              </a:rPr>
            </a:br>
            <a:br>
              <a:rPr lang="en-US" sz="2800" dirty="0">
                <a:solidFill>
                  <a:schemeClr val="bg1"/>
                </a:solidFill>
              </a:rPr>
            </a:br>
            <a:r>
              <a:rPr lang="en-US" sz="2800" dirty="0">
                <a:solidFill>
                  <a:schemeClr val="bg1"/>
                </a:solidFill>
              </a:rPr>
              <a:t>Widget reference is here:  </a:t>
            </a:r>
            <a:br>
              <a:rPr lang="en-US" sz="2800" dirty="0">
                <a:solidFill>
                  <a:schemeClr val="bg1"/>
                </a:solidFill>
              </a:rPr>
            </a:br>
            <a:r>
              <a:rPr lang="en-US" sz="2400" dirty="0">
                <a:solidFill>
                  <a:schemeClr val="bg1"/>
                </a:solidFill>
                <a:hlinkClick r:id="rId2"/>
              </a:rPr>
              <a:t>https://docs.streamlit.io/get-started/fundamentals/main-concepts#widgets</a:t>
            </a:r>
            <a:endParaRPr lang="en-US" sz="2800" dirty="0">
              <a:solidFill>
                <a:schemeClr val="bg1"/>
              </a:solidFill>
            </a:endParaRPr>
          </a:p>
          <a:p>
            <a:pPr marL="800100" lvl="1" indent="-342900">
              <a:buFont typeface="Arial" panose="020B0604020202020204" pitchFamily="34" charset="0"/>
              <a:buChar char="•"/>
            </a:pPr>
            <a:endParaRPr lang="en-US" sz="2800" dirty="0">
              <a:solidFill>
                <a:schemeClr val="bg1"/>
              </a:solidFill>
            </a:endParaRPr>
          </a:p>
        </p:txBody>
      </p:sp>
      <p:pic>
        <p:nvPicPr>
          <p:cNvPr id="3" name="Picture 2">
            <a:extLst>
              <a:ext uri="{FF2B5EF4-FFF2-40B4-BE49-F238E27FC236}">
                <a16:creationId xmlns:a16="http://schemas.microsoft.com/office/drawing/2014/main" id="{14C8DAF8-1471-67BF-BD94-DD20DB2DA69E}"/>
              </a:ext>
            </a:extLst>
          </p:cNvPr>
          <p:cNvPicPr>
            <a:picLocks noChangeAspect="1"/>
          </p:cNvPicPr>
          <p:nvPr/>
        </p:nvPicPr>
        <p:blipFill>
          <a:blip r:embed="rId3"/>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41578199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A4420-63D6-ABFD-20C8-183AC85FCC2C}"/>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3EF55FA4-ED4E-7550-E30C-C2C429554F99}"/>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endParaRPr lang="en-US" sz="4800" dirty="0">
              <a:solidFill>
                <a:schemeClr val="bg1"/>
              </a:solidFill>
            </a:endParaRPr>
          </a:p>
        </p:txBody>
      </p:sp>
      <p:sp>
        <p:nvSpPr>
          <p:cNvPr id="10" name="TextBox 9">
            <a:extLst>
              <a:ext uri="{FF2B5EF4-FFF2-40B4-BE49-F238E27FC236}">
                <a16:creationId xmlns:a16="http://schemas.microsoft.com/office/drawing/2014/main" id="{04DB9F1E-BD6A-38FD-A8D1-815B3B7D4359}"/>
              </a:ext>
            </a:extLst>
          </p:cNvPr>
          <p:cNvSpPr txBox="1"/>
          <p:nvPr/>
        </p:nvSpPr>
        <p:spPr>
          <a:xfrm>
            <a:off x="607039" y="1635760"/>
            <a:ext cx="11445261" cy="523220"/>
          </a:xfrm>
          <a:prstGeom prst="rect">
            <a:avLst/>
          </a:prstGeom>
          <a:noFill/>
        </p:spPr>
        <p:txBody>
          <a:bodyPr wrap="square" rtlCol="0">
            <a:spAutoFit/>
          </a:bodyPr>
          <a:lstStyle/>
          <a:p>
            <a:pPr marL="800100" lvl="1" indent="-342900">
              <a:buFont typeface="Arial" panose="020B0604020202020204" pitchFamily="34" charset="0"/>
              <a:buChar char="•"/>
            </a:pPr>
            <a:r>
              <a:rPr lang="en-US" sz="2800" b="1" dirty="0">
                <a:solidFill>
                  <a:schemeClr val="accent2"/>
                </a:solidFill>
              </a:rPr>
              <a:t>#2 – Add interaction by using widgets</a:t>
            </a:r>
            <a:endParaRPr lang="en-US" sz="2800" dirty="0">
              <a:solidFill>
                <a:schemeClr val="bg1"/>
              </a:solidFill>
            </a:endParaRPr>
          </a:p>
        </p:txBody>
      </p:sp>
      <p:pic>
        <p:nvPicPr>
          <p:cNvPr id="3" name="Picture 2">
            <a:extLst>
              <a:ext uri="{FF2B5EF4-FFF2-40B4-BE49-F238E27FC236}">
                <a16:creationId xmlns:a16="http://schemas.microsoft.com/office/drawing/2014/main" id="{B0D55D8E-BE26-67B5-7590-B884B3425143}"/>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4" name="Picture 3">
            <a:extLst>
              <a:ext uri="{FF2B5EF4-FFF2-40B4-BE49-F238E27FC236}">
                <a16:creationId xmlns:a16="http://schemas.microsoft.com/office/drawing/2014/main" id="{DE84578E-8EB6-C15D-8269-BF6412FCF9AA}"/>
              </a:ext>
            </a:extLst>
          </p:cNvPr>
          <p:cNvPicPr>
            <a:picLocks noChangeAspect="1"/>
          </p:cNvPicPr>
          <p:nvPr/>
        </p:nvPicPr>
        <p:blipFill>
          <a:blip r:embed="rId3"/>
          <a:stretch>
            <a:fillRect/>
          </a:stretch>
        </p:blipFill>
        <p:spPr>
          <a:xfrm>
            <a:off x="4319436" y="4293412"/>
            <a:ext cx="4242692" cy="2243630"/>
          </a:xfrm>
          <a:prstGeom prst="rect">
            <a:avLst/>
          </a:prstGeom>
        </p:spPr>
      </p:pic>
      <p:pic>
        <p:nvPicPr>
          <p:cNvPr id="6" name="Picture 5">
            <a:extLst>
              <a:ext uri="{FF2B5EF4-FFF2-40B4-BE49-F238E27FC236}">
                <a16:creationId xmlns:a16="http://schemas.microsoft.com/office/drawing/2014/main" id="{CE2342A5-6EAD-A044-9A29-BCC8CF7148AA}"/>
              </a:ext>
            </a:extLst>
          </p:cNvPr>
          <p:cNvPicPr>
            <a:picLocks noChangeAspect="1"/>
          </p:cNvPicPr>
          <p:nvPr/>
        </p:nvPicPr>
        <p:blipFill>
          <a:blip r:embed="rId4"/>
          <a:stretch>
            <a:fillRect/>
          </a:stretch>
        </p:blipFill>
        <p:spPr>
          <a:xfrm>
            <a:off x="8679911" y="4217212"/>
            <a:ext cx="2699655" cy="2577252"/>
          </a:xfrm>
          <a:prstGeom prst="rect">
            <a:avLst/>
          </a:prstGeom>
        </p:spPr>
      </p:pic>
      <p:pic>
        <p:nvPicPr>
          <p:cNvPr id="9" name="Picture 8">
            <a:extLst>
              <a:ext uri="{FF2B5EF4-FFF2-40B4-BE49-F238E27FC236}">
                <a16:creationId xmlns:a16="http://schemas.microsoft.com/office/drawing/2014/main" id="{C4A7C20D-D24F-3FC4-66BF-B29341B89CD3}"/>
              </a:ext>
            </a:extLst>
          </p:cNvPr>
          <p:cNvPicPr>
            <a:picLocks noChangeAspect="1"/>
          </p:cNvPicPr>
          <p:nvPr/>
        </p:nvPicPr>
        <p:blipFill>
          <a:blip r:embed="rId5"/>
          <a:stretch>
            <a:fillRect/>
          </a:stretch>
        </p:blipFill>
        <p:spPr>
          <a:xfrm>
            <a:off x="10098277" y="59435"/>
            <a:ext cx="1486683" cy="2128304"/>
          </a:xfrm>
          <a:prstGeom prst="rect">
            <a:avLst/>
          </a:prstGeom>
        </p:spPr>
      </p:pic>
      <p:pic>
        <p:nvPicPr>
          <p:cNvPr id="12" name="Picture 11">
            <a:extLst>
              <a:ext uri="{FF2B5EF4-FFF2-40B4-BE49-F238E27FC236}">
                <a16:creationId xmlns:a16="http://schemas.microsoft.com/office/drawing/2014/main" id="{E664415D-3E5C-A9BE-5F70-55FCFDD93483}"/>
              </a:ext>
            </a:extLst>
          </p:cNvPr>
          <p:cNvPicPr>
            <a:picLocks noChangeAspect="1"/>
          </p:cNvPicPr>
          <p:nvPr/>
        </p:nvPicPr>
        <p:blipFill>
          <a:blip r:embed="rId6"/>
          <a:stretch>
            <a:fillRect/>
          </a:stretch>
        </p:blipFill>
        <p:spPr>
          <a:xfrm>
            <a:off x="4191920" y="2187739"/>
            <a:ext cx="5753903" cy="1943371"/>
          </a:xfrm>
          <a:prstGeom prst="rect">
            <a:avLst/>
          </a:prstGeom>
        </p:spPr>
      </p:pic>
      <p:pic>
        <p:nvPicPr>
          <p:cNvPr id="14" name="Picture 13">
            <a:extLst>
              <a:ext uri="{FF2B5EF4-FFF2-40B4-BE49-F238E27FC236}">
                <a16:creationId xmlns:a16="http://schemas.microsoft.com/office/drawing/2014/main" id="{1F20610E-7C38-788A-E862-105C171F3655}"/>
              </a:ext>
            </a:extLst>
          </p:cNvPr>
          <p:cNvPicPr>
            <a:picLocks noChangeAspect="1"/>
          </p:cNvPicPr>
          <p:nvPr/>
        </p:nvPicPr>
        <p:blipFill>
          <a:blip r:embed="rId7"/>
          <a:stretch>
            <a:fillRect/>
          </a:stretch>
        </p:blipFill>
        <p:spPr>
          <a:xfrm>
            <a:off x="10098277" y="2213418"/>
            <a:ext cx="1745380" cy="1975035"/>
          </a:xfrm>
          <a:prstGeom prst="rect">
            <a:avLst/>
          </a:prstGeom>
        </p:spPr>
      </p:pic>
      <p:pic>
        <p:nvPicPr>
          <p:cNvPr id="16" name="Picture 15">
            <a:extLst>
              <a:ext uri="{FF2B5EF4-FFF2-40B4-BE49-F238E27FC236}">
                <a16:creationId xmlns:a16="http://schemas.microsoft.com/office/drawing/2014/main" id="{3636E865-CB6E-67AE-3619-C6230780C5CA}"/>
              </a:ext>
            </a:extLst>
          </p:cNvPr>
          <p:cNvPicPr>
            <a:picLocks noChangeAspect="1"/>
          </p:cNvPicPr>
          <p:nvPr/>
        </p:nvPicPr>
        <p:blipFill>
          <a:blip r:embed="rId8"/>
          <a:stretch>
            <a:fillRect/>
          </a:stretch>
        </p:blipFill>
        <p:spPr>
          <a:xfrm>
            <a:off x="0" y="2187739"/>
            <a:ext cx="4118752" cy="4273103"/>
          </a:xfrm>
          <a:prstGeom prst="rect">
            <a:avLst/>
          </a:prstGeom>
        </p:spPr>
      </p:pic>
    </p:spTree>
    <p:extLst>
      <p:ext uri="{BB962C8B-B14F-4D97-AF65-F5344CB8AC3E}">
        <p14:creationId xmlns:p14="http://schemas.microsoft.com/office/powerpoint/2010/main" val="281791060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22AC-DF73-5562-4E4C-82713471F37E}"/>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489C29BA-F9B0-D397-8C1D-8C3AA4B18C0F}"/>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endParaRPr lang="en-US" sz="4800" dirty="0">
              <a:solidFill>
                <a:schemeClr val="bg1"/>
              </a:solidFill>
            </a:endParaRPr>
          </a:p>
        </p:txBody>
      </p:sp>
      <p:sp>
        <p:nvSpPr>
          <p:cNvPr id="10" name="TextBox 9">
            <a:extLst>
              <a:ext uri="{FF2B5EF4-FFF2-40B4-BE49-F238E27FC236}">
                <a16:creationId xmlns:a16="http://schemas.microsoft.com/office/drawing/2014/main" id="{672A2954-498A-A426-81C3-B46E6C36B9C1}"/>
              </a:ext>
            </a:extLst>
          </p:cNvPr>
          <p:cNvSpPr txBox="1"/>
          <p:nvPr/>
        </p:nvSpPr>
        <p:spPr>
          <a:xfrm>
            <a:off x="607039" y="1635760"/>
            <a:ext cx="11445261" cy="4832092"/>
          </a:xfrm>
          <a:prstGeom prst="rect">
            <a:avLst/>
          </a:prstGeom>
          <a:noFill/>
        </p:spPr>
        <p:txBody>
          <a:bodyPr wrap="square" rtlCol="0">
            <a:spAutoFit/>
          </a:bodyPr>
          <a:lstStyle/>
          <a:p>
            <a:r>
              <a:rPr lang="en-US" sz="2800" dirty="0" err="1">
                <a:solidFill>
                  <a:schemeClr val="bg1"/>
                </a:solidFill>
              </a:rPr>
              <a:t>Streamlit</a:t>
            </a:r>
            <a:r>
              <a:rPr lang="en-US" sz="2800" dirty="0">
                <a:solidFill>
                  <a:schemeClr val="bg1"/>
                </a:solidFill>
              </a:rPr>
              <a:t> follows a three-step process to app development/deployment:</a:t>
            </a:r>
          </a:p>
          <a:p>
            <a:endParaRPr lang="en-US" sz="2800" dirty="0">
              <a:solidFill>
                <a:schemeClr val="bg1"/>
              </a:solidFill>
            </a:endParaRPr>
          </a:p>
          <a:p>
            <a:pPr marL="800100" lvl="1" indent="-342900">
              <a:buFont typeface="Arial" panose="020B0604020202020204" pitchFamily="34" charset="0"/>
              <a:buChar char="•"/>
            </a:pPr>
            <a:r>
              <a:rPr lang="en-US" sz="2800" b="1" dirty="0">
                <a:solidFill>
                  <a:schemeClr val="accent2"/>
                </a:solidFill>
              </a:rPr>
              <a:t>#3 – Deploy the app</a:t>
            </a:r>
            <a:br>
              <a:rPr lang="en-US" sz="2800" b="1" dirty="0">
                <a:solidFill>
                  <a:schemeClr val="accent2"/>
                </a:solidFill>
              </a:rPr>
            </a:br>
            <a:br>
              <a:rPr lang="en-US" sz="2800" dirty="0">
                <a:solidFill>
                  <a:schemeClr val="bg1"/>
                </a:solidFill>
              </a:rPr>
            </a:br>
            <a:r>
              <a:rPr lang="en-US" sz="2800" dirty="0">
                <a:solidFill>
                  <a:schemeClr val="bg1"/>
                </a:solidFill>
              </a:rPr>
              <a:t>Using one of the methods we've discussed previously, deploy your app for testing or production use.</a:t>
            </a:r>
            <a:br>
              <a:rPr lang="en-US" sz="2800" dirty="0">
                <a:solidFill>
                  <a:schemeClr val="bg1"/>
                </a:solidFill>
              </a:rPr>
            </a:br>
            <a:br>
              <a:rPr lang="en-US" sz="2800" dirty="0">
                <a:solidFill>
                  <a:schemeClr val="bg1"/>
                </a:solidFill>
              </a:rPr>
            </a:br>
            <a:r>
              <a:rPr lang="en-US" sz="2800" dirty="0" err="1">
                <a:solidFill>
                  <a:schemeClr val="bg1"/>
                </a:solidFill>
              </a:rPr>
              <a:t>Streamlit</a:t>
            </a:r>
            <a:r>
              <a:rPr lang="en-US" sz="2800" dirty="0">
                <a:solidFill>
                  <a:schemeClr val="bg1"/>
                </a:solidFill>
              </a:rPr>
              <a:t> Community Cloud, Snowflake, Local/Anaconda, Google </a:t>
            </a:r>
            <a:r>
              <a:rPr lang="en-US" sz="2800" dirty="0" err="1">
                <a:solidFill>
                  <a:schemeClr val="bg1"/>
                </a:solidFill>
              </a:rPr>
              <a:t>CoLab</a:t>
            </a:r>
            <a:br>
              <a:rPr lang="en-US" sz="2800" dirty="0">
                <a:solidFill>
                  <a:schemeClr val="bg1"/>
                </a:solidFill>
              </a:rPr>
            </a:br>
            <a:br>
              <a:rPr lang="en-US" sz="2800" dirty="0">
                <a:solidFill>
                  <a:schemeClr val="bg1"/>
                </a:solidFill>
              </a:rPr>
            </a:br>
            <a:r>
              <a:rPr lang="en-US" sz="2800" dirty="0">
                <a:solidFill>
                  <a:schemeClr val="bg1"/>
                </a:solidFill>
              </a:rPr>
              <a:t>There are many, many other deployment methods:</a:t>
            </a:r>
            <a:br>
              <a:rPr lang="en-US" sz="2800" dirty="0">
                <a:solidFill>
                  <a:schemeClr val="bg1"/>
                </a:solidFill>
              </a:rPr>
            </a:br>
            <a:r>
              <a:rPr lang="en-US" sz="2800" dirty="0">
                <a:solidFill>
                  <a:schemeClr val="bg1"/>
                </a:solidFill>
                <a:hlinkClick r:id="rId2"/>
              </a:rPr>
              <a:t>https://docs.streamlit.io/deploy/tutorials</a:t>
            </a:r>
            <a:endParaRPr lang="en-US" sz="2800" dirty="0">
              <a:solidFill>
                <a:schemeClr val="bg1"/>
              </a:solidFill>
            </a:endParaRPr>
          </a:p>
        </p:txBody>
      </p:sp>
      <p:pic>
        <p:nvPicPr>
          <p:cNvPr id="3" name="Picture 2">
            <a:extLst>
              <a:ext uri="{FF2B5EF4-FFF2-40B4-BE49-F238E27FC236}">
                <a16:creationId xmlns:a16="http://schemas.microsoft.com/office/drawing/2014/main" id="{59EBE028-5E42-7573-FEF5-E2F0D87597B1}"/>
              </a:ext>
            </a:extLst>
          </p:cNvPr>
          <p:cNvPicPr>
            <a:picLocks noChangeAspect="1"/>
          </p:cNvPicPr>
          <p:nvPr/>
        </p:nvPicPr>
        <p:blipFill>
          <a:blip r:embed="rId3"/>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265270093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8ADAD-172B-FE66-4B43-FC8C0615BCE9}"/>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E370CC9B-B7ED-77FB-6790-721F524EA8FC}"/>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Create your first app</a:t>
            </a:r>
          </a:p>
        </p:txBody>
      </p:sp>
      <p:sp>
        <p:nvSpPr>
          <p:cNvPr id="10" name="TextBox 9">
            <a:extLst>
              <a:ext uri="{FF2B5EF4-FFF2-40B4-BE49-F238E27FC236}">
                <a16:creationId xmlns:a16="http://schemas.microsoft.com/office/drawing/2014/main" id="{FBDC54B4-11C6-CF68-8FE1-D8B0FA1268C2}"/>
              </a:ext>
            </a:extLst>
          </p:cNvPr>
          <p:cNvSpPr txBox="1"/>
          <p:nvPr/>
        </p:nvSpPr>
        <p:spPr>
          <a:xfrm>
            <a:off x="607039" y="1635760"/>
            <a:ext cx="11445261" cy="4708981"/>
          </a:xfrm>
          <a:prstGeom prst="rect">
            <a:avLst/>
          </a:prstGeom>
          <a:noFill/>
        </p:spPr>
        <p:txBody>
          <a:bodyPr wrap="square" rtlCol="0">
            <a:spAutoFit/>
          </a:bodyPr>
          <a:lstStyle/>
          <a:p>
            <a:r>
              <a:rPr lang="en-US" sz="2800" dirty="0">
                <a:solidFill>
                  <a:schemeClr val="bg1"/>
                </a:solidFill>
              </a:rPr>
              <a:t>This </a:t>
            </a:r>
            <a:r>
              <a:rPr lang="en-US" sz="2800" dirty="0" err="1">
                <a:solidFill>
                  <a:schemeClr val="bg1"/>
                </a:solidFill>
              </a:rPr>
              <a:t>Streamlit</a:t>
            </a:r>
            <a:r>
              <a:rPr lang="en-US" sz="2800" dirty="0">
                <a:solidFill>
                  <a:schemeClr val="bg1"/>
                </a:solidFill>
              </a:rPr>
              <a:t> lab will be run in the Google </a:t>
            </a:r>
            <a:r>
              <a:rPr lang="en-US" sz="2800" dirty="0" err="1">
                <a:solidFill>
                  <a:schemeClr val="bg1"/>
                </a:solidFill>
              </a:rPr>
              <a:t>Colab</a:t>
            </a:r>
            <a:r>
              <a:rPr lang="en-US" sz="2800" dirty="0">
                <a:solidFill>
                  <a:schemeClr val="bg1"/>
                </a:solidFill>
              </a:rPr>
              <a:t> environment.</a:t>
            </a:r>
          </a:p>
          <a:p>
            <a:endParaRPr lang="en-US" sz="2800" dirty="0">
              <a:solidFill>
                <a:schemeClr val="bg1"/>
              </a:solidFill>
            </a:endParaRPr>
          </a:p>
          <a:p>
            <a:r>
              <a:rPr lang="en-US" sz="2800" dirty="0">
                <a:solidFill>
                  <a:schemeClr val="bg1"/>
                </a:solidFill>
              </a:rPr>
              <a:t>Goals:</a:t>
            </a:r>
          </a:p>
          <a:p>
            <a:r>
              <a:rPr lang="en-US" sz="2800" dirty="0">
                <a:solidFill>
                  <a:schemeClr val="bg1"/>
                </a:solidFill>
              </a:rPr>
              <a:t>We will build a map-based visualization from one of the </a:t>
            </a:r>
            <a:r>
              <a:rPr lang="en-US" sz="2800" dirty="0" err="1">
                <a:solidFill>
                  <a:schemeClr val="bg1"/>
                </a:solidFill>
              </a:rPr>
              <a:t>Streamlit</a:t>
            </a:r>
            <a:r>
              <a:rPr lang="en-US" sz="2800" dirty="0">
                <a:solidFill>
                  <a:schemeClr val="bg1"/>
                </a:solidFill>
              </a:rPr>
              <a:t> tutorials.</a:t>
            </a:r>
            <a:br>
              <a:rPr lang="en-US" sz="2800" dirty="0">
                <a:solidFill>
                  <a:schemeClr val="bg1"/>
                </a:solidFill>
              </a:rPr>
            </a:br>
            <a:br>
              <a:rPr lang="en-US" sz="2800" dirty="0">
                <a:solidFill>
                  <a:schemeClr val="bg1"/>
                </a:solidFill>
              </a:rPr>
            </a:br>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r>
              <a:rPr lang="en-US" sz="2800" dirty="0">
                <a:solidFill>
                  <a:schemeClr val="bg1"/>
                </a:solidFill>
              </a:rPr>
              <a:t>This tutorial follows </a:t>
            </a:r>
            <a:r>
              <a:rPr lang="en-US" sz="2800" dirty="0" err="1">
                <a:solidFill>
                  <a:schemeClr val="bg1"/>
                </a:solidFill>
              </a:rPr>
              <a:t>Streamlit's</a:t>
            </a:r>
            <a:r>
              <a:rPr lang="en-US" sz="2800" dirty="0">
                <a:solidFill>
                  <a:schemeClr val="bg1"/>
                </a:solidFill>
              </a:rPr>
              <a:t> "Create your first app" tutorial at:</a:t>
            </a:r>
            <a:br>
              <a:rPr lang="en-US" sz="2800" dirty="0">
                <a:solidFill>
                  <a:schemeClr val="bg1"/>
                </a:solidFill>
              </a:rPr>
            </a:br>
            <a:r>
              <a:rPr lang="en-US" sz="2800" dirty="0">
                <a:solidFill>
                  <a:schemeClr val="bg1"/>
                </a:solidFill>
                <a:hlinkClick r:id="rId2"/>
              </a:rPr>
              <a:t>https://docs.streamlit.io/get-started/tutorials/create-an-app</a:t>
            </a:r>
            <a:endParaRPr lang="en-US" sz="2800" dirty="0">
              <a:solidFill>
                <a:schemeClr val="bg1"/>
              </a:solidFill>
            </a:endParaRPr>
          </a:p>
          <a:p>
            <a:endParaRPr lang="en-US" sz="2000" dirty="0">
              <a:solidFill>
                <a:schemeClr val="bg1"/>
              </a:solidFill>
            </a:endParaRPr>
          </a:p>
        </p:txBody>
      </p:sp>
      <p:pic>
        <p:nvPicPr>
          <p:cNvPr id="3" name="Picture 2">
            <a:extLst>
              <a:ext uri="{FF2B5EF4-FFF2-40B4-BE49-F238E27FC236}">
                <a16:creationId xmlns:a16="http://schemas.microsoft.com/office/drawing/2014/main" id="{970BDCB6-E928-8E08-D7A0-37AF49158E4B}"/>
              </a:ext>
            </a:extLst>
          </p:cNvPr>
          <p:cNvPicPr>
            <a:picLocks noChangeAspect="1"/>
          </p:cNvPicPr>
          <p:nvPr/>
        </p:nvPicPr>
        <p:blipFill>
          <a:blip r:embed="rId3"/>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361755480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0CDA2-95A6-BBB3-2CF5-158DDB72CE8E}"/>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515DA59D-3DAC-D376-E38C-FE1E24EC3F76}"/>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6B53083F-F511-FE04-458C-22490997D50B}"/>
              </a:ext>
            </a:extLst>
          </p:cNvPr>
          <p:cNvSpPr txBox="1"/>
          <p:nvPr/>
        </p:nvSpPr>
        <p:spPr>
          <a:xfrm>
            <a:off x="607039" y="1635760"/>
            <a:ext cx="11445261" cy="4708981"/>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pPr marL="514350" indent="-514350">
              <a:buAutoNum type="arabicPeriod"/>
            </a:pPr>
            <a:r>
              <a:rPr lang="en-US" sz="2800" dirty="0">
                <a:solidFill>
                  <a:schemeClr val="bg1"/>
                </a:solidFill>
              </a:rPr>
              <a:t>If you have the previous Hello World lab, save it, and make a copy by selecting File &gt; Save a Copy in Drive</a:t>
            </a:r>
            <a:br>
              <a:rPr lang="en-US" sz="2800" dirty="0">
                <a:solidFill>
                  <a:schemeClr val="bg1"/>
                </a:solidFill>
              </a:rPr>
            </a:br>
            <a:endParaRPr lang="en-US" sz="2800" dirty="0">
              <a:solidFill>
                <a:schemeClr val="bg1"/>
              </a:solidFill>
            </a:endParaRPr>
          </a:p>
          <a:p>
            <a:pPr marL="514350" indent="-514350">
              <a:buAutoNum type="arabicPeriod"/>
            </a:pPr>
            <a:r>
              <a:rPr lang="en-US" sz="2800" dirty="0">
                <a:solidFill>
                  <a:schemeClr val="bg1"/>
                </a:solidFill>
              </a:rPr>
              <a:t>Rename this copy to "</a:t>
            </a:r>
            <a:r>
              <a:rPr lang="en-US" sz="2800" dirty="0" err="1">
                <a:solidFill>
                  <a:schemeClr val="bg1"/>
                </a:solidFill>
              </a:rPr>
              <a:t>Streamlit</a:t>
            </a:r>
            <a:r>
              <a:rPr lang="en-US" sz="2800" dirty="0">
                <a:solidFill>
                  <a:schemeClr val="bg1"/>
                </a:solidFill>
              </a:rPr>
              <a:t> NYC Uber Lab" by double-clicking at the top left and changing the name.</a:t>
            </a:r>
            <a:r>
              <a:rPr lang="en-US" dirty="0">
                <a:latin typeface="Courier New" panose="02070309020205020404" pitchFamily="49" charset="0"/>
                <a:cs typeface="Courier New" panose="02070309020205020404" pitchFamily="49" charset="0"/>
              </a:rPr>
              <a:t> *World!* :sunglasses:')</a:t>
            </a:r>
          </a:p>
          <a:p>
            <a:pPr marL="514350" indent="-514350">
              <a:buAutoNum type="arabicPeriod"/>
            </a:pPr>
            <a:endParaRPr lang="en-US" sz="2800" dirty="0">
              <a:solidFill>
                <a:schemeClr val="bg1"/>
              </a:solidFill>
              <a:latin typeface="Courier New" panose="02070309020205020404" pitchFamily="49" charset="0"/>
              <a:cs typeface="Courier New" panose="02070309020205020404" pitchFamily="49" charset="0"/>
            </a:endParaRPr>
          </a:p>
          <a:p>
            <a:pPr marL="514350" indent="-514350">
              <a:buAutoNum type="arabicPeriod"/>
            </a:pPr>
            <a:endParaRPr lang="en-US" sz="2800" dirty="0">
              <a:solidFill>
                <a:schemeClr val="bg1"/>
              </a:solidFill>
              <a:latin typeface="Courier New" panose="02070309020205020404" pitchFamily="49" charset="0"/>
              <a:cs typeface="Courier New" panose="02070309020205020404" pitchFamily="49" charset="0"/>
            </a:endParaRPr>
          </a:p>
          <a:p>
            <a:pPr marL="514350" indent="-514350">
              <a:buAutoNum type="arabicPeriod"/>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p:txBody>
      </p:sp>
      <p:pic>
        <p:nvPicPr>
          <p:cNvPr id="3" name="Picture 2">
            <a:extLst>
              <a:ext uri="{FF2B5EF4-FFF2-40B4-BE49-F238E27FC236}">
                <a16:creationId xmlns:a16="http://schemas.microsoft.com/office/drawing/2014/main" id="{3C11ED22-498C-5BDC-DB39-10785C884232}"/>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207986195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8CABD-8C92-4455-FCB7-F89AD2905CE8}"/>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55CE5720-409B-498A-80ED-6DA7633D1E0C}"/>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59FFD800-38FD-45AE-F9B2-CDBC5D04B800}"/>
              </a:ext>
            </a:extLst>
          </p:cNvPr>
          <p:cNvSpPr txBox="1"/>
          <p:nvPr/>
        </p:nvSpPr>
        <p:spPr>
          <a:xfrm>
            <a:off x="607039" y="1526903"/>
            <a:ext cx="11445261" cy="6001643"/>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pPr marL="514350" indent="-514350">
              <a:buAutoNum type="arabicPeriod" startAt="3"/>
            </a:pPr>
            <a:r>
              <a:rPr lang="en-US" sz="2800" dirty="0">
                <a:solidFill>
                  <a:schemeClr val="bg1"/>
                </a:solidFill>
              </a:rPr>
              <a:t>The </a:t>
            </a:r>
            <a:r>
              <a:rPr lang="en-US" sz="2800" dirty="0" err="1">
                <a:solidFill>
                  <a:schemeClr val="bg1"/>
                </a:solidFill>
              </a:rPr>
              <a:t>streamlit</a:t>
            </a:r>
            <a:r>
              <a:rPr lang="en-US" sz="2800" dirty="0">
                <a:solidFill>
                  <a:schemeClr val="bg1"/>
                </a:solidFill>
              </a:rPr>
              <a:t> python code for the hello world lab should be in cell #3, the cell that starts with </a:t>
            </a:r>
            <a:r>
              <a:rPr lang="en-US" sz="2800" dirty="0">
                <a:solidFill>
                  <a:schemeClr val="bg1"/>
                </a:solidFill>
                <a:latin typeface="Courier New" panose="02070309020205020404" pitchFamily="49" charset="0"/>
                <a:cs typeface="Courier New" panose="02070309020205020404" pitchFamily="49" charset="0"/>
              </a:rPr>
              <a:t>%%</a:t>
            </a:r>
            <a:r>
              <a:rPr lang="en-US" sz="2800" dirty="0" err="1">
                <a:solidFill>
                  <a:schemeClr val="bg1"/>
                </a:solidFill>
                <a:latin typeface="Courier New" panose="02070309020205020404" pitchFamily="49" charset="0"/>
                <a:cs typeface="Courier New" panose="02070309020205020404" pitchFamily="49" charset="0"/>
              </a:rPr>
              <a:t>writefile</a:t>
            </a:r>
            <a:r>
              <a:rPr lang="en-US" sz="2800" dirty="0">
                <a:solidFill>
                  <a:schemeClr val="bg1"/>
                </a:solidFill>
                <a:latin typeface="Courier New" panose="02070309020205020404" pitchFamily="49" charset="0"/>
                <a:cs typeface="Courier New" panose="02070309020205020404" pitchFamily="49" charset="0"/>
              </a:rPr>
              <a:t> app.py</a:t>
            </a:r>
            <a:br>
              <a:rPr lang="en-US" sz="2800" dirty="0">
                <a:solidFill>
                  <a:schemeClr val="bg1"/>
                </a:solidFill>
                <a:latin typeface="Courier New" panose="02070309020205020404" pitchFamily="49" charset="0"/>
                <a:cs typeface="Courier New" panose="02070309020205020404" pitchFamily="49" charset="0"/>
              </a:rPr>
            </a:br>
            <a:endParaRPr lang="en-US" sz="2800" dirty="0">
              <a:solidFill>
                <a:schemeClr val="bg1"/>
              </a:solidFill>
              <a:latin typeface="Courier New" panose="02070309020205020404" pitchFamily="49" charset="0"/>
              <a:cs typeface="Courier New" panose="02070309020205020404" pitchFamily="49" charset="0"/>
            </a:endParaRPr>
          </a:p>
          <a:p>
            <a:pPr marL="514350" indent="-514350">
              <a:buAutoNum type="arabicPeriod" startAt="3"/>
            </a:pPr>
            <a:r>
              <a:rPr lang="en-US" sz="2800" dirty="0">
                <a:solidFill>
                  <a:schemeClr val="bg1"/>
                </a:solidFill>
              </a:rPr>
              <a:t>This magic command writes a file called app.py.  </a:t>
            </a:r>
            <a:br>
              <a:rPr lang="en-US" sz="2800" dirty="0">
                <a:solidFill>
                  <a:schemeClr val="bg1"/>
                </a:solidFill>
              </a:rPr>
            </a:br>
            <a:r>
              <a:rPr lang="en-US" sz="2800" dirty="0">
                <a:solidFill>
                  <a:schemeClr val="bg1"/>
                </a:solidFill>
              </a:rPr>
              <a:t>Delete this cell from the workbook by hovering over the cell and clicking the trash can icon near the right side.</a:t>
            </a:r>
            <a:br>
              <a:rPr lang="en-US" sz="2800" dirty="0">
                <a:solidFill>
                  <a:schemeClr val="bg1"/>
                </a:solidFill>
              </a:rPr>
            </a:br>
            <a:r>
              <a:rPr lang="en-US" sz="2800" dirty="0">
                <a:solidFill>
                  <a:schemeClr val="bg1"/>
                </a:solidFill>
              </a:rPr>
              <a:t>To build our app, we are going to edit this file directly.</a:t>
            </a:r>
            <a:br>
              <a:rPr lang="en-US" sz="2800" dirty="0">
                <a:solidFill>
                  <a:schemeClr val="bg1"/>
                </a:solidFill>
              </a:rPr>
            </a:br>
            <a:endParaRPr lang="en-US" sz="2800" dirty="0">
              <a:solidFill>
                <a:schemeClr val="bg1"/>
              </a:solidFill>
            </a:endParaRPr>
          </a:p>
          <a:p>
            <a:pPr marL="514350" indent="-514350">
              <a:buAutoNum type="arabicPeriod" startAt="3"/>
            </a:pPr>
            <a:r>
              <a:rPr lang="en-US" sz="2800" dirty="0">
                <a:solidFill>
                  <a:schemeClr val="bg1"/>
                </a:solidFill>
              </a:rPr>
              <a:t>Click the file folder icon on left side of the notebook to show the file listing if it's not already shown, find the app.py file and double click.</a:t>
            </a:r>
            <a:endParaRPr lang="en-US" sz="2800" dirty="0">
              <a:solidFill>
                <a:schemeClr val="bg1"/>
              </a:solidFill>
              <a:latin typeface="Courier New" panose="02070309020205020404" pitchFamily="49" charset="0"/>
              <a:cs typeface="Courier New" panose="02070309020205020404" pitchFamily="49" charset="0"/>
            </a:endParaRPr>
          </a:p>
          <a:p>
            <a:pPr marL="514350" indent="-514350">
              <a:buAutoNum type="arabicPeriod"/>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p:txBody>
      </p:sp>
      <p:pic>
        <p:nvPicPr>
          <p:cNvPr id="3" name="Picture 2">
            <a:extLst>
              <a:ext uri="{FF2B5EF4-FFF2-40B4-BE49-F238E27FC236}">
                <a16:creationId xmlns:a16="http://schemas.microsoft.com/office/drawing/2014/main" id="{D42A9285-AF3F-8A8C-2D67-D7A939C6911C}"/>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105859360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740C7-6DBF-AFFD-EA9F-64E5ECC715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703BEB-E282-1F99-8736-91BA6E9D84F2}"/>
              </a:ext>
            </a:extLst>
          </p:cNvPr>
          <p:cNvSpPr/>
          <p:nvPr/>
        </p:nvSpPr>
        <p:spPr>
          <a:xfrm>
            <a:off x="272142" y="3145972"/>
            <a:ext cx="11647714" cy="20762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B1986D0D-7DB2-206C-BBCF-BEB015857A37}"/>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846C08FA-E832-F76B-7F72-87885FD6B72E}"/>
              </a:ext>
            </a:extLst>
          </p:cNvPr>
          <p:cNvSpPr txBox="1"/>
          <p:nvPr/>
        </p:nvSpPr>
        <p:spPr>
          <a:xfrm>
            <a:off x="607039" y="1635760"/>
            <a:ext cx="11445261" cy="4801314"/>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6.  Add the following code to the app.py file:</a:t>
            </a:r>
          </a:p>
          <a:p>
            <a:pPr marL="514350" indent="-514350">
              <a:buFont typeface="+mj-lt"/>
              <a:buAutoNum type="arabicPeriod" startAt="5"/>
            </a:pPr>
            <a:endParaRPr lang="en-US" sz="2800" dirty="0">
              <a:solidFill>
                <a:schemeClr val="bg1"/>
              </a:solidFill>
            </a:endParaRPr>
          </a:p>
          <a:p>
            <a:r>
              <a:rPr lang="en-US" b="1" dirty="0">
                <a:latin typeface="Courier New" panose="02070309020205020404" pitchFamily="49" charset="0"/>
                <a:cs typeface="Courier New" panose="02070309020205020404" pitchFamily="49" charset="0"/>
              </a:rPr>
              <a:t>import </a:t>
            </a:r>
            <a:r>
              <a:rPr lang="en-US" b="1" dirty="0" err="1">
                <a:latin typeface="Courier New" panose="02070309020205020404" pitchFamily="49" charset="0"/>
                <a:cs typeface="Courier New" panose="02070309020205020404" pitchFamily="49" charset="0"/>
              </a:rPr>
              <a:t>streamlit</a:t>
            </a:r>
            <a:r>
              <a:rPr lang="en-US" b="1" dirty="0">
                <a:latin typeface="Courier New" panose="02070309020205020404" pitchFamily="49" charset="0"/>
                <a:cs typeface="Courier New" panose="02070309020205020404" pitchFamily="49" charset="0"/>
              </a:rPr>
              <a:t> as </a:t>
            </a:r>
            <a:r>
              <a:rPr lang="en-US" b="1" dirty="0" err="1">
                <a:latin typeface="Courier New" panose="02070309020205020404" pitchFamily="49" charset="0"/>
                <a:cs typeface="Courier New" panose="02070309020205020404" pitchFamily="49" charset="0"/>
              </a:rPr>
              <a:t>st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import pandas as pd</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import </a:t>
            </a:r>
            <a:r>
              <a:rPr lang="en-US" b="1" dirty="0" err="1">
                <a:latin typeface="Courier New" panose="02070309020205020404" pitchFamily="49" charset="0"/>
                <a:cs typeface="Courier New" panose="02070309020205020404" pitchFamily="49" charset="0"/>
              </a:rPr>
              <a:t>numpy</a:t>
            </a:r>
            <a:r>
              <a:rPr lang="en-US" b="1" dirty="0">
                <a:latin typeface="Courier New" panose="02070309020205020404" pitchFamily="49" charset="0"/>
                <a:cs typeface="Courier New" panose="02070309020205020404" pitchFamily="49" charset="0"/>
              </a:rPr>
              <a:t> as np</a:t>
            </a:r>
            <a:br>
              <a:rPr lang="en-US" b="1" dirty="0">
                <a:latin typeface="Courier New" panose="02070309020205020404" pitchFamily="49" charset="0"/>
                <a:cs typeface="Courier New" panose="02070309020205020404" pitchFamily="49" charset="0"/>
              </a:rPr>
            </a:br>
            <a:br>
              <a:rPr lang="en-US" b="1" dirty="0">
                <a:latin typeface="Courier New" panose="02070309020205020404" pitchFamily="49" charset="0"/>
                <a:cs typeface="Courier New" panose="02070309020205020404" pitchFamily="49" charset="0"/>
              </a:rPr>
            </a:br>
            <a:r>
              <a:rPr lang="en-US" b="1" dirty="0" err="1">
                <a:latin typeface="Courier New" panose="02070309020205020404" pitchFamily="49" charset="0"/>
                <a:cs typeface="Courier New" panose="02070309020205020404" pitchFamily="49" charset="0"/>
              </a:rPr>
              <a:t>st.title</a:t>
            </a:r>
            <a:r>
              <a:rPr lang="en-US" b="1" dirty="0">
                <a:latin typeface="Courier New" panose="02070309020205020404" pitchFamily="49" charset="0"/>
                <a:cs typeface="Courier New" panose="02070309020205020404" pitchFamily="49" charset="0"/>
              </a:rPr>
              <a:t>('Uber pickups in NYC')</a:t>
            </a:r>
          </a:p>
          <a:p>
            <a:endParaRPr lang="en-US" sz="2800" dirty="0">
              <a:solidFill>
                <a:schemeClr val="bg1"/>
              </a:solidFill>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p:txBody>
      </p:sp>
      <p:pic>
        <p:nvPicPr>
          <p:cNvPr id="3" name="Picture 2">
            <a:extLst>
              <a:ext uri="{FF2B5EF4-FFF2-40B4-BE49-F238E27FC236}">
                <a16:creationId xmlns:a16="http://schemas.microsoft.com/office/drawing/2014/main" id="{C9AFD694-614D-BB87-9AA3-2E3033A75A8D}"/>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297334919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A250F-6F0C-B61B-A5B0-F63E3E6C92DF}"/>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0D29D830-E6AD-8AA0-4B2A-314BDE6AFF5B}"/>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55A26F58-51C2-26FE-E715-DADF7BBCFDCB}"/>
              </a:ext>
            </a:extLst>
          </p:cNvPr>
          <p:cNvSpPr txBox="1"/>
          <p:nvPr/>
        </p:nvSpPr>
        <p:spPr>
          <a:xfrm>
            <a:off x="607039" y="1635760"/>
            <a:ext cx="11445261" cy="4278094"/>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7.  Run the remaining cells.  Click the link shown in the output of the last cell, and copy/paste the IP address shown in the output of the next to last cell to be used as the password.  Click "Click to submit".  You should see your app:</a:t>
            </a:r>
          </a:p>
          <a:p>
            <a:pPr marL="514350" indent="-514350">
              <a:buFont typeface="+mj-lt"/>
              <a:buAutoNum type="arabicPeriod" startAt="5"/>
            </a:pPr>
            <a:endParaRPr lang="en-US" sz="2800" dirty="0">
              <a:solidFill>
                <a:schemeClr val="bg1"/>
              </a:solidFill>
            </a:endParaRPr>
          </a:p>
          <a:p>
            <a:endParaRPr lang="en-US" sz="2800" dirty="0">
              <a:solidFill>
                <a:schemeClr val="bg1"/>
              </a:solidFill>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p:txBody>
      </p:sp>
      <p:pic>
        <p:nvPicPr>
          <p:cNvPr id="3" name="Picture 2">
            <a:extLst>
              <a:ext uri="{FF2B5EF4-FFF2-40B4-BE49-F238E27FC236}">
                <a16:creationId xmlns:a16="http://schemas.microsoft.com/office/drawing/2014/main" id="{C2ADAAB8-C755-CC0E-829C-8703E8B25E3D}"/>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5" name="Picture 4">
            <a:extLst>
              <a:ext uri="{FF2B5EF4-FFF2-40B4-BE49-F238E27FC236}">
                <a16:creationId xmlns:a16="http://schemas.microsoft.com/office/drawing/2014/main" id="{85410533-6248-62D5-C59F-B6C98ED536B5}"/>
              </a:ext>
            </a:extLst>
          </p:cNvPr>
          <p:cNvPicPr>
            <a:picLocks noChangeAspect="1"/>
          </p:cNvPicPr>
          <p:nvPr/>
        </p:nvPicPr>
        <p:blipFill>
          <a:blip r:embed="rId3"/>
          <a:stretch>
            <a:fillRect/>
          </a:stretch>
        </p:blipFill>
        <p:spPr>
          <a:xfrm>
            <a:off x="1192004" y="4059526"/>
            <a:ext cx="10003936" cy="2656959"/>
          </a:xfrm>
          <a:prstGeom prst="rect">
            <a:avLst/>
          </a:prstGeom>
        </p:spPr>
      </p:pic>
    </p:spTree>
    <p:extLst>
      <p:ext uri="{BB962C8B-B14F-4D97-AF65-F5344CB8AC3E}">
        <p14:creationId xmlns:p14="http://schemas.microsoft.com/office/powerpoint/2010/main" val="375239343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89571-87A1-D905-3DE4-25EBCD0D574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855392B-2E55-2826-28FD-508DEC584D9F}"/>
              </a:ext>
            </a:extLst>
          </p:cNvPr>
          <p:cNvSpPr/>
          <p:nvPr/>
        </p:nvSpPr>
        <p:spPr>
          <a:xfrm>
            <a:off x="272142" y="3145972"/>
            <a:ext cx="11647714" cy="32548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19717DDB-D08A-4CF2-D91F-A43E00656712}"/>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FDD48EA2-57EC-5E24-840D-BD793B0F0858}"/>
              </a:ext>
            </a:extLst>
          </p:cNvPr>
          <p:cNvSpPr txBox="1"/>
          <p:nvPr/>
        </p:nvSpPr>
        <p:spPr>
          <a:xfrm>
            <a:off x="607039" y="1635760"/>
            <a:ext cx="11445261" cy="5755422"/>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8.  Append the following code to the app.py file:  (</a:t>
            </a:r>
            <a:r>
              <a:rPr lang="en-US" sz="2800" dirty="0" err="1">
                <a:solidFill>
                  <a:schemeClr val="bg1"/>
                </a:solidFill>
              </a:rPr>
              <a:t>load_data</a:t>
            </a:r>
            <a:r>
              <a:rPr lang="en-US" sz="2800" dirty="0">
                <a:solidFill>
                  <a:schemeClr val="bg1"/>
                </a:solidFill>
              </a:rPr>
              <a:t> function)</a:t>
            </a:r>
          </a:p>
          <a:p>
            <a:pPr marL="514350" indent="-514350">
              <a:buFont typeface="+mj-lt"/>
              <a:buAutoNum type="arabicPeriod" startAt="5"/>
            </a:pPr>
            <a:endParaRPr lang="en-US" sz="2800" dirty="0">
              <a:solidFill>
                <a:schemeClr val="bg1"/>
              </a:solidFill>
            </a:endParaRPr>
          </a:p>
          <a:p>
            <a:r>
              <a:rPr lang="en-US" b="1" dirty="0">
                <a:latin typeface="Courier New" panose="02070309020205020404" pitchFamily="49" charset="0"/>
                <a:cs typeface="Courier New" panose="02070309020205020404" pitchFamily="49" charset="0"/>
              </a:rPr>
              <a:t>DATE_COLUMN = 'date/time'</a:t>
            </a:r>
          </a:p>
          <a:p>
            <a:r>
              <a:rPr lang="en-US" b="1" dirty="0">
                <a:latin typeface="Courier New" panose="02070309020205020404" pitchFamily="49" charset="0"/>
                <a:cs typeface="Courier New" panose="02070309020205020404" pitchFamily="49" charset="0"/>
              </a:rPr>
              <a:t>DATA_URL = ('https://s3-us-west-2.amazonaws.com/'</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streamlit</a:t>
            </a:r>
            <a:r>
              <a:rPr lang="en-US" b="1" dirty="0">
                <a:latin typeface="Courier New" panose="02070309020205020404" pitchFamily="49" charset="0"/>
                <a:cs typeface="Courier New" panose="02070309020205020404" pitchFamily="49" charset="0"/>
              </a:rPr>
              <a:t>-demo-data/uber-raw-data-sep14.csv.gz')</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def </a:t>
            </a:r>
            <a:r>
              <a:rPr lang="en-US" b="1" dirty="0" err="1">
                <a:latin typeface="Courier New" panose="02070309020205020404" pitchFamily="49" charset="0"/>
                <a:cs typeface="Courier New" panose="02070309020205020404" pitchFamily="49" charset="0"/>
              </a:rPr>
              <a:t>load_data</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nrows</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    data = </a:t>
            </a:r>
            <a:r>
              <a:rPr lang="en-US" b="1" dirty="0" err="1">
                <a:latin typeface="Courier New" panose="02070309020205020404" pitchFamily="49" charset="0"/>
                <a:cs typeface="Courier New" panose="02070309020205020404" pitchFamily="49" charset="0"/>
              </a:rPr>
              <a:t>pd.read_csv</a:t>
            </a:r>
            <a:r>
              <a:rPr lang="en-US" b="1" dirty="0">
                <a:latin typeface="Courier New" panose="02070309020205020404" pitchFamily="49" charset="0"/>
                <a:cs typeface="Courier New" panose="02070309020205020404" pitchFamily="49" charset="0"/>
              </a:rPr>
              <a:t>(DATA_URL, </a:t>
            </a:r>
            <a:r>
              <a:rPr lang="en-US" b="1" dirty="0" err="1">
                <a:latin typeface="Courier New" panose="02070309020205020404" pitchFamily="49" charset="0"/>
                <a:cs typeface="Courier New" panose="02070309020205020404" pitchFamily="49" charset="0"/>
              </a:rPr>
              <a:t>nrows</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nrows</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    lowercase = lambda x: str(x).lower()</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data.rename</a:t>
            </a:r>
            <a:r>
              <a:rPr lang="en-US" b="1" dirty="0">
                <a:latin typeface="Courier New" panose="02070309020205020404" pitchFamily="49" charset="0"/>
                <a:cs typeface="Courier New" panose="02070309020205020404" pitchFamily="49" charset="0"/>
              </a:rPr>
              <a:t>(lowercase, axis='columns', </a:t>
            </a:r>
            <a:r>
              <a:rPr lang="en-US" b="1" dirty="0" err="1">
                <a:latin typeface="Courier New" panose="02070309020205020404" pitchFamily="49" charset="0"/>
                <a:cs typeface="Courier New" panose="02070309020205020404" pitchFamily="49" charset="0"/>
              </a:rPr>
              <a:t>inplace</a:t>
            </a:r>
            <a:r>
              <a:rPr lang="en-US" b="1" dirty="0">
                <a:latin typeface="Courier New" panose="02070309020205020404" pitchFamily="49" charset="0"/>
                <a:cs typeface="Courier New" panose="02070309020205020404" pitchFamily="49" charset="0"/>
              </a:rPr>
              <a:t>=True)</a:t>
            </a:r>
          </a:p>
          <a:p>
            <a:r>
              <a:rPr lang="en-US" b="1" dirty="0">
                <a:latin typeface="Courier New" panose="02070309020205020404" pitchFamily="49" charset="0"/>
                <a:cs typeface="Courier New" panose="02070309020205020404" pitchFamily="49" charset="0"/>
              </a:rPr>
              <a:t>    data[DATE_COLUMN] = </a:t>
            </a:r>
            <a:r>
              <a:rPr lang="en-US" b="1" dirty="0" err="1">
                <a:latin typeface="Courier New" panose="02070309020205020404" pitchFamily="49" charset="0"/>
                <a:cs typeface="Courier New" panose="02070309020205020404" pitchFamily="49" charset="0"/>
              </a:rPr>
              <a:t>pd.to_datetime</a:t>
            </a:r>
            <a:r>
              <a:rPr lang="en-US" b="1" dirty="0">
                <a:latin typeface="Courier New" panose="02070309020205020404" pitchFamily="49" charset="0"/>
                <a:cs typeface="Courier New" panose="02070309020205020404" pitchFamily="49" charset="0"/>
              </a:rPr>
              <a:t>(data[DATE_COLUMN])</a:t>
            </a:r>
          </a:p>
          <a:p>
            <a:r>
              <a:rPr lang="en-US" b="1" dirty="0">
                <a:latin typeface="Courier New" panose="02070309020205020404" pitchFamily="49" charset="0"/>
                <a:cs typeface="Courier New" panose="02070309020205020404" pitchFamily="49" charset="0"/>
              </a:rPr>
              <a:t>    return data</a:t>
            </a:r>
            <a:endParaRPr lang="en-US" sz="2800" dirty="0">
              <a:solidFill>
                <a:schemeClr val="bg1"/>
              </a:solidFill>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p:txBody>
      </p:sp>
      <p:pic>
        <p:nvPicPr>
          <p:cNvPr id="3" name="Picture 2">
            <a:extLst>
              <a:ext uri="{FF2B5EF4-FFF2-40B4-BE49-F238E27FC236}">
                <a16:creationId xmlns:a16="http://schemas.microsoft.com/office/drawing/2014/main" id="{5574EECE-C6B3-2C95-33A1-47F940E91C7F}"/>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19682410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4103D-1046-4B4C-AE48-CF072EBB6C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1BD9B8-8356-72D1-8D6B-B649CCC992F0}"/>
              </a:ext>
            </a:extLst>
          </p:cNvPr>
          <p:cNvSpPr/>
          <p:nvPr/>
        </p:nvSpPr>
        <p:spPr>
          <a:xfrm>
            <a:off x="272142" y="3145972"/>
            <a:ext cx="11647714" cy="32548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FC02B7F6-CD35-508D-39F2-E38A319F9E23}"/>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FA374FFE-29B6-DFC2-B7EC-09CCF6E9D084}"/>
              </a:ext>
            </a:extLst>
          </p:cNvPr>
          <p:cNvSpPr txBox="1"/>
          <p:nvPr/>
        </p:nvSpPr>
        <p:spPr>
          <a:xfrm>
            <a:off x="607039" y="1635760"/>
            <a:ext cx="11445261" cy="4770537"/>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9.  Append the following code to the app.py file:  (test the </a:t>
            </a:r>
            <a:r>
              <a:rPr lang="en-US" sz="2800" dirty="0" err="1">
                <a:solidFill>
                  <a:schemeClr val="bg1"/>
                </a:solidFill>
              </a:rPr>
              <a:t>load_data</a:t>
            </a:r>
            <a:r>
              <a:rPr lang="en-US" sz="2800" dirty="0">
                <a:solidFill>
                  <a:schemeClr val="bg1"/>
                </a:solidFill>
              </a:rPr>
              <a:t> function)</a:t>
            </a:r>
          </a:p>
          <a:p>
            <a:pPr marL="514350" indent="-514350">
              <a:buFont typeface="+mj-lt"/>
              <a:buAutoNum type="arabicPeriod" startAt="5"/>
            </a:pPr>
            <a:endParaRPr lang="en-US" sz="2800" dirty="0">
              <a:solidFill>
                <a:schemeClr val="bg1"/>
              </a:solidFill>
            </a:endParaRPr>
          </a:p>
          <a:p>
            <a:r>
              <a:rPr lang="en-US" b="1" dirty="0">
                <a:latin typeface="Courier New" panose="02070309020205020404" pitchFamily="49" charset="0"/>
                <a:cs typeface="Courier New" panose="02070309020205020404" pitchFamily="49" charset="0"/>
              </a:rPr>
              <a:t># Create a text element and let the reader know the data is loading.</a:t>
            </a:r>
          </a:p>
          <a:p>
            <a:r>
              <a:rPr lang="en-US" b="1" dirty="0" err="1">
                <a:latin typeface="Courier New" panose="02070309020205020404" pitchFamily="49" charset="0"/>
                <a:cs typeface="Courier New" panose="02070309020205020404" pitchFamily="49" charset="0"/>
              </a:rPr>
              <a:t>data_load_state</a:t>
            </a:r>
            <a:r>
              <a:rPr lang="en-US" b="1" dirty="0">
                <a:latin typeface="Courier New" panose="02070309020205020404" pitchFamily="49" charset="0"/>
                <a:cs typeface="Courier New" panose="02070309020205020404" pitchFamily="49" charset="0"/>
              </a:rPr>
              <a:t> = </a:t>
            </a:r>
            <a:r>
              <a:rPr lang="en-US" b="1" dirty="0" err="1">
                <a:latin typeface="Courier New" panose="02070309020205020404" pitchFamily="49" charset="0"/>
                <a:cs typeface="Courier New" panose="02070309020205020404" pitchFamily="49" charset="0"/>
              </a:rPr>
              <a:t>st.text</a:t>
            </a:r>
            <a:r>
              <a:rPr lang="en-US" b="1" dirty="0">
                <a:latin typeface="Courier New" panose="02070309020205020404" pitchFamily="49" charset="0"/>
                <a:cs typeface="Courier New" panose="02070309020205020404" pitchFamily="49" charset="0"/>
              </a:rPr>
              <a:t>('Loading data...')</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Load 10,000 rows of data into the </a:t>
            </a:r>
            <a:r>
              <a:rPr lang="en-US" b="1" dirty="0" err="1">
                <a:latin typeface="Courier New" panose="02070309020205020404" pitchFamily="49" charset="0"/>
                <a:cs typeface="Courier New" panose="02070309020205020404" pitchFamily="49" charset="0"/>
              </a:rPr>
              <a:t>dataframe</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data = </a:t>
            </a:r>
            <a:r>
              <a:rPr lang="en-US" b="1" dirty="0" err="1">
                <a:latin typeface="Courier New" panose="02070309020205020404" pitchFamily="49" charset="0"/>
                <a:cs typeface="Courier New" panose="02070309020205020404" pitchFamily="49" charset="0"/>
              </a:rPr>
              <a:t>load_data</a:t>
            </a:r>
            <a:r>
              <a:rPr lang="en-US" b="1" dirty="0">
                <a:latin typeface="Courier New" panose="02070309020205020404" pitchFamily="49" charset="0"/>
                <a:cs typeface="Courier New" panose="02070309020205020404" pitchFamily="49" charset="0"/>
              </a:rPr>
              <a:t>(10000)</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Notify the reader that the data was successfully loaded.</a:t>
            </a:r>
          </a:p>
          <a:p>
            <a:r>
              <a:rPr lang="en-US" b="1" dirty="0" err="1">
                <a:latin typeface="Courier New" panose="02070309020205020404" pitchFamily="49" charset="0"/>
                <a:cs typeface="Courier New" panose="02070309020205020404" pitchFamily="49" charset="0"/>
              </a:rPr>
              <a:t>data_load_state.text</a:t>
            </a:r>
            <a:r>
              <a:rPr lang="en-US" b="1" dirty="0">
                <a:latin typeface="Courier New" panose="02070309020205020404" pitchFamily="49" charset="0"/>
                <a:cs typeface="Courier New" panose="02070309020205020404" pitchFamily="49" charset="0"/>
              </a:rPr>
              <a:t>('Loading data...done!')</a:t>
            </a:r>
            <a:endParaRPr lang="en-US" sz="2800" dirty="0">
              <a:solidFill>
                <a:schemeClr val="bg1"/>
              </a:solidFill>
              <a:latin typeface="Courier New" panose="02070309020205020404" pitchFamily="49" charset="0"/>
              <a:cs typeface="Courier New" panose="02070309020205020404" pitchFamily="49" charset="0"/>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p:txBody>
      </p:sp>
      <p:pic>
        <p:nvPicPr>
          <p:cNvPr id="3" name="Picture 2">
            <a:extLst>
              <a:ext uri="{FF2B5EF4-FFF2-40B4-BE49-F238E27FC236}">
                <a16:creationId xmlns:a16="http://schemas.microsoft.com/office/drawing/2014/main" id="{1050B44E-760F-711E-DD06-4C5057BB73A0}"/>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359511991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C4DA2-3174-3B0F-53AD-61EC27F88859}"/>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7FCEBD22-968E-9BB5-C628-4772854B05A8}"/>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96009D54-0016-76D4-F7E0-4A720651D84C}"/>
              </a:ext>
            </a:extLst>
          </p:cNvPr>
          <p:cNvSpPr txBox="1"/>
          <p:nvPr/>
        </p:nvSpPr>
        <p:spPr>
          <a:xfrm>
            <a:off x="607039" y="1635760"/>
            <a:ext cx="11445261" cy="3847207"/>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10.  Refresh the browser window or click ellipses at top right of screen and select "re-run" or select "always re-run".  The update should show:</a:t>
            </a:r>
          </a:p>
          <a:p>
            <a:pPr marL="514350" indent="-514350">
              <a:buFont typeface="+mj-lt"/>
              <a:buAutoNum type="arabicPeriod" startAt="5"/>
            </a:pPr>
            <a:endParaRPr lang="en-US" sz="2800" dirty="0">
              <a:solidFill>
                <a:schemeClr val="bg1"/>
              </a:solidFill>
            </a:endParaRPr>
          </a:p>
          <a:p>
            <a:endParaRPr lang="en-US" sz="2800" dirty="0">
              <a:solidFill>
                <a:schemeClr val="bg1"/>
              </a:solidFill>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p:txBody>
      </p:sp>
      <p:pic>
        <p:nvPicPr>
          <p:cNvPr id="3" name="Picture 2">
            <a:extLst>
              <a:ext uri="{FF2B5EF4-FFF2-40B4-BE49-F238E27FC236}">
                <a16:creationId xmlns:a16="http://schemas.microsoft.com/office/drawing/2014/main" id="{B991C97B-279D-7ED4-892F-961038EC2034}"/>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4" name="Picture 3">
            <a:extLst>
              <a:ext uri="{FF2B5EF4-FFF2-40B4-BE49-F238E27FC236}">
                <a16:creationId xmlns:a16="http://schemas.microsoft.com/office/drawing/2014/main" id="{CE01A069-25E4-C5B9-6692-5AC585DD941E}"/>
              </a:ext>
            </a:extLst>
          </p:cNvPr>
          <p:cNvPicPr>
            <a:picLocks noChangeAspect="1"/>
          </p:cNvPicPr>
          <p:nvPr/>
        </p:nvPicPr>
        <p:blipFill>
          <a:blip r:embed="rId3"/>
          <a:stretch>
            <a:fillRect/>
          </a:stretch>
        </p:blipFill>
        <p:spPr>
          <a:xfrm>
            <a:off x="1253959" y="3602906"/>
            <a:ext cx="8878539" cy="2905530"/>
          </a:xfrm>
          <a:prstGeom prst="rect">
            <a:avLst/>
          </a:prstGeom>
        </p:spPr>
      </p:pic>
    </p:spTree>
    <p:extLst>
      <p:ext uri="{BB962C8B-B14F-4D97-AF65-F5344CB8AC3E}">
        <p14:creationId xmlns:p14="http://schemas.microsoft.com/office/powerpoint/2010/main" val="34170389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75E62-4A62-9776-B516-1A7C77AC2A9F}"/>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BC966238-5853-7818-5357-DE03629D0F98}"/>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954D604C-3B96-18A7-845E-B174F96C6757}"/>
              </a:ext>
            </a:extLst>
          </p:cNvPr>
          <p:cNvSpPr txBox="1"/>
          <p:nvPr/>
        </p:nvSpPr>
        <p:spPr>
          <a:xfrm>
            <a:off x="607039" y="1635760"/>
            <a:ext cx="11445261" cy="4278094"/>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11.  Note that the entire python script is run each time your user interacts with your app.  Do we want the data to be loaded each time?  That could slow things down.  Let's enable </a:t>
            </a:r>
            <a:r>
              <a:rPr lang="en-US" sz="2800" dirty="0" err="1">
                <a:solidFill>
                  <a:schemeClr val="bg1"/>
                </a:solidFill>
              </a:rPr>
              <a:t>Streamlit's</a:t>
            </a:r>
            <a:r>
              <a:rPr lang="en-US" sz="2800" dirty="0">
                <a:solidFill>
                  <a:schemeClr val="bg1"/>
                </a:solidFill>
              </a:rPr>
              <a:t> </a:t>
            </a:r>
            <a:r>
              <a:rPr lang="en-US" sz="2800" dirty="0" err="1">
                <a:solidFill>
                  <a:schemeClr val="bg1"/>
                </a:solidFill>
              </a:rPr>
              <a:t>cache_data</a:t>
            </a:r>
            <a:r>
              <a:rPr lang="en-US" sz="2800" dirty="0">
                <a:solidFill>
                  <a:schemeClr val="bg1"/>
                </a:solidFill>
              </a:rPr>
              <a:t> feature.</a:t>
            </a:r>
          </a:p>
          <a:p>
            <a:pPr marL="514350" indent="-514350">
              <a:buFont typeface="+mj-lt"/>
              <a:buAutoNum type="arabicPeriod" startAt="5"/>
            </a:pPr>
            <a:endParaRPr lang="en-US" sz="2800" dirty="0">
              <a:solidFill>
                <a:schemeClr val="bg1"/>
              </a:solidFill>
            </a:endParaRPr>
          </a:p>
          <a:p>
            <a:endParaRPr lang="en-US" sz="2800" dirty="0">
              <a:solidFill>
                <a:schemeClr val="bg1"/>
              </a:solidFill>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p:txBody>
      </p:sp>
      <p:pic>
        <p:nvPicPr>
          <p:cNvPr id="3" name="Picture 2">
            <a:extLst>
              <a:ext uri="{FF2B5EF4-FFF2-40B4-BE49-F238E27FC236}">
                <a16:creationId xmlns:a16="http://schemas.microsoft.com/office/drawing/2014/main" id="{1E03A091-496F-3AD6-F883-679107BC14F2}"/>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382608454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5B69-BD02-01AC-58B1-2B14D5EEEF6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0694B8-7D64-8269-3EF3-F213D7F3B5DE}"/>
              </a:ext>
            </a:extLst>
          </p:cNvPr>
          <p:cNvSpPr/>
          <p:nvPr/>
        </p:nvSpPr>
        <p:spPr>
          <a:xfrm>
            <a:off x="272142" y="5570584"/>
            <a:ext cx="11647714" cy="7184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EC9C4168-D365-396B-4436-42405F0CE1DC}"/>
              </a:ext>
            </a:extLst>
          </p:cNvPr>
          <p:cNvSpPr/>
          <p:nvPr/>
        </p:nvSpPr>
        <p:spPr>
          <a:xfrm>
            <a:off x="272142" y="3624943"/>
            <a:ext cx="11647714" cy="7184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66C15736-5B65-F899-C6C7-0326DCF64772}"/>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4F070C84-D9E2-CE2C-2270-6AA70810CF81}"/>
              </a:ext>
            </a:extLst>
          </p:cNvPr>
          <p:cNvSpPr txBox="1"/>
          <p:nvPr/>
        </p:nvSpPr>
        <p:spPr>
          <a:xfrm>
            <a:off x="607039" y="1635760"/>
            <a:ext cx="11445261" cy="4862870"/>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12.  Add the following code to the app.py file before def </a:t>
            </a:r>
            <a:r>
              <a:rPr lang="en-US" sz="2800" dirty="0" err="1">
                <a:solidFill>
                  <a:schemeClr val="bg1"/>
                </a:solidFill>
              </a:rPr>
              <a:t>load_data</a:t>
            </a:r>
            <a:r>
              <a:rPr lang="en-US" sz="2800" dirty="0">
                <a:solidFill>
                  <a:schemeClr val="bg1"/>
                </a:solidFill>
              </a:rPr>
              <a:t>(</a:t>
            </a:r>
            <a:r>
              <a:rPr lang="en-US" sz="2800" dirty="0" err="1">
                <a:solidFill>
                  <a:schemeClr val="bg1"/>
                </a:solidFill>
              </a:rPr>
              <a:t>nrows</a:t>
            </a:r>
            <a:r>
              <a:rPr lang="en-US" sz="2800" dirty="0">
                <a:solidFill>
                  <a:schemeClr val="bg1"/>
                </a:solidFill>
              </a:rPr>
              <a:t>):  (adding </a:t>
            </a:r>
            <a:r>
              <a:rPr lang="en-US" sz="2800" dirty="0" err="1">
                <a:solidFill>
                  <a:schemeClr val="bg1"/>
                </a:solidFill>
              </a:rPr>
              <a:t>cache_data</a:t>
            </a:r>
            <a:r>
              <a:rPr lang="en-US" sz="2800" dirty="0">
                <a:solidFill>
                  <a:schemeClr val="bg1"/>
                </a:solidFill>
              </a:rPr>
              <a:t>)</a:t>
            </a:r>
          </a:p>
          <a:p>
            <a:pPr marL="514350" indent="-514350">
              <a:buFont typeface="+mj-lt"/>
              <a:buAutoNum type="arabicPeriod" startAt="5"/>
            </a:pPr>
            <a:endParaRPr lang="en-US" sz="2800" dirty="0">
              <a:solidFill>
                <a:schemeClr val="bg1"/>
              </a:solidFill>
            </a:endParaRPr>
          </a:p>
          <a:p>
            <a:r>
              <a:rPr lang="en-US" sz="2400" b="1" dirty="0">
                <a:latin typeface="Courier New" panose="02070309020205020404" pitchFamily="49" charset="0"/>
                <a:cs typeface="Courier New" panose="02070309020205020404" pitchFamily="49" charset="0"/>
              </a:rPr>
              <a:t>@st.cache_data</a:t>
            </a:r>
            <a:endParaRPr lang="en-US" sz="2400" dirty="0">
              <a:solidFill>
                <a:schemeClr val="bg1"/>
              </a:solidFill>
              <a:latin typeface="Courier New" panose="02070309020205020404" pitchFamily="49" charset="0"/>
              <a:cs typeface="Courier New" panose="02070309020205020404" pitchFamily="49" charset="0"/>
            </a:endParaRPr>
          </a:p>
          <a:p>
            <a:pPr marL="514350" indent="-514350">
              <a:buFont typeface="+mj-lt"/>
              <a:buAutoNum type="arabicPeriod" startAt="5"/>
            </a:pPr>
            <a:endParaRPr lang="en-US" sz="2800" dirty="0">
              <a:solidFill>
                <a:schemeClr val="bg1"/>
              </a:solidFill>
              <a:latin typeface="Courier New" panose="02070309020205020404" pitchFamily="49" charset="0"/>
              <a:cs typeface="Courier New" panose="02070309020205020404" pitchFamily="49" charset="0"/>
            </a:endParaRPr>
          </a:p>
          <a:p>
            <a:endParaRPr lang="en-US" sz="2000" dirty="0">
              <a:solidFill>
                <a:schemeClr val="bg1"/>
              </a:solidFill>
            </a:endParaRPr>
          </a:p>
          <a:p>
            <a:pPr marL="514350" indent="-514350">
              <a:buAutoNum type="arabicPeriod" startAt="13"/>
            </a:pPr>
            <a:r>
              <a:rPr lang="en-US" sz="2800" dirty="0">
                <a:solidFill>
                  <a:schemeClr val="bg1"/>
                </a:solidFill>
              </a:rPr>
              <a:t>Replace the </a:t>
            </a:r>
            <a:r>
              <a:rPr lang="en-US" sz="2800" dirty="0" err="1">
                <a:solidFill>
                  <a:schemeClr val="bg1"/>
                </a:solidFill>
              </a:rPr>
              <a:t>data_load_state.text</a:t>
            </a:r>
            <a:r>
              <a:rPr lang="en-US" sz="2800" dirty="0">
                <a:solidFill>
                  <a:schemeClr val="bg1"/>
                </a:solidFill>
              </a:rPr>
              <a:t>…. line with the code line below.</a:t>
            </a:r>
          </a:p>
          <a:p>
            <a:pPr marL="514350" indent="-514350">
              <a:buAutoNum type="arabicPeriod" startAt="13"/>
            </a:pPr>
            <a:endParaRPr lang="en-US" sz="2800" dirty="0">
              <a:solidFill>
                <a:schemeClr val="bg1"/>
              </a:solidFill>
            </a:endParaRPr>
          </a:p>
          <a:p>
            <a:r>
              <a:rPr lang="en-US" sz="2400" b="1" dirty="0" err="1">
                <a:latin typeface="Courier New" panose="02070309020205020404" pitchFamily="49" charset="0"/>
                <a:cs typeface="Courier New" panose="02070309020205020404" pitchFamily="49" charset="0"/>
              </a:rPr>
              <a:t>data_load_state.text</a:t>
            </a:r>
            <a:r>
              <a:rPr lang="en-US" sz="2400" b="1" dirty="0">
                <a:latin typeface="Courier New" panose="02070309020205020404" pitchFamily="49" charset="0"/>
                <a:cs typeface="Courier New" panose="02070309020205020404" pitchFamily="49" charset="0"/>
              </a:rPr>
              <a:t>("Done! (using </a:t>
            </a:r>
            <a:r>
              <a:rPr lang="en-US" sz="2400" b="1" dirty="0" err="1">
                <a:latin typeface="Courier New" panose="02070309020205020404" pitchFamily="49" charset="0"/>
                <a:cs typeface="Courier New" panose="02070309020205020404" pitchFamily="49" charset="0"/>
              </a:rPr>
              <a:t>st.cache_data</a:t>
            </a:r>
            <a:r>
              <a:rPr lang="en-US" sz="2400" b="1" dirty="0">
                <a:latin typeface="Courier New" panose="02070309020205020404" pitchFamily="49" charset="0"/>
                <a:cs typeface="Courier New" panose="02070309020205020404" pitchFamily="49" charset="0"/>
              </a:rPr>
              <a:t>)")</a:t>
            </a:r>
          </a:p>
          <a:p>
            <a:endParaRPr lang="en-US" sz="2000" dirty="0">
              <a:solidFill>
                <a:schemeClr val="bg1"/>
              </a:solidFill>
            </a:endParaRPr>
          </a:p>
        </p:txBody>
      </p:sp>
      <p:pic>
        <p:nvPicPr>
          <p:cNvPr id="3" name="Picture 2">
            <a:extLst>
              <a:ext uri="{FF2B5EF4-FFF2-40B4-BE49-F238E27FC236}">
                <a16:creationId xmlns:a16="http://schemas.microsoft.com/office/drawing/2014/main" id="{410B67BF-1B7C-450A-9036-4DDF23D06D90}"/>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39374290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EBAAC-7058-6A16-E650-C8348828D70A}"/>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5286A178-6A93-96CB-50E8-A24F0A842D28}"/>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0ABC2824-E712-8005-D107-8E838F275424}"/>
              </a:ext>
            </a:extLst>
          </p:cNvPr>
          <p:cNvSpPr txBox="1"/>
          <p:nvPr/>
        </p:nvSpPr>
        <p:spPr>
          <a:xfrm>
            <a:off x="607039" y="1635760"/>
            <a:ext cx="11445261" cy="2246769"/>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14.  Go back to browser window and re-run your app.  Notice how the line appeared immediately?  It's subtle, but this caching can really improve the performance of your app, especially in data visualization scenarios.</a:t>
            </a:r>
            <a:endParaRPr lang="en-US" sz="2000" dirty="0">
              <a:solidFill>
                <a:schemeClr val="bg1"/>
              </a:solidFill>
            </a:endParaRPr>
          </a:p>
        </p:txBody>
      </p:sp>
      <p:pic>
        <p:nvPicPr>
          <p:cNvPr id="3" name="Picture 2">
            <a:extLst>
              <a:ext uri="{FF2B5EF4-FFF2-40B4-BE49-F238E27FC236}">
                <a16:creationId xmlns:a16="http://schemas.microsoft.com/office/drawing/2014/main" id="{C2D69B6A-6751-6657-0333-492C08F4826C}"/>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6" name="Picture 5">
            <a:extLst>
              <a:ext uri="{FF2B5EF4-FFF2-40B4-BE49-F238E27FC236}">
                <a16:creationId xmlns:a16="http://schemas.microsoft.com/office/drawing/2014/main" id="{006FF98B-2126-2983-439F-EA7B74FDDD90}"/>
              </a:ext>
            </a:extLst>
          </p:cNvPr>
          <p:cNvPicPr>
            <a:picLocks noChangeAspect="1"/>
          </p:cNvPicPr>
          <p:nvPr/>
        </p:nvPicPr>
        <p:blipFill>
          <a:blip r:embed="rId3"/>
          <a:stretch>
            <a:fillRect/>
          </a:stretch>
        </p:blipFill>
        <p:spPr>
          <a:xfrm>
            <a:off x="2794967" y="3882529"/>
            <a:ext cx="8888065" cy="2819794"/>
          </a:xfrm>
          <a:prstGeom prst="rect">
            <a:avLst/>
          </a:prstGeom>
        </p:spPr>
      </p:pic>
    </p:spTree>
    <p:extLst>
      <p:ext uri="{BB962C8B-B14F-4D97-AF65-F5344CB8AC3E}">
        <p14:creationId xmlns:p14="http://schemas.microsoft.com/office/powerpoint/2010/main" val="19733512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17FD5-3DAE-A977-1136-401ED6B951F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6C14C7-4695-DBEF-CDE9-13431C1CE300}"/>
              </a:ext>
            </a:extLst>
          </p:cNvPr>
          <p:cNvSpPr/>
          <p:nvPr/>
        </p:nvSpPr>
        <p:spPr>
          <a:xfrm>
            <a:off x="272142" y="3624943"/>
            <a:ext cx="11647714" cy="17199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1D3FF213-A607-CF9C-EF32-2297A602BDDC}"/>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13550995-4C02-2FCD-4603-7E84D7E0288F}"/>
              </a:ext>
            </a:extLst>
          </p:cNvPr>
          <p:cNvSpPr txBox="1"/>
          <p:nvPr/>
        </p:nvSpPr>
        <p:spPr>
          <a:xfrm>
            <a:off x="607039" y="1635760"/>
            <a:ext cx="11445261" cy="3354765"/>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pPr marL="514350" indent="-514350">
              <a:buAutoNum type="arabicPeriod" startAt="16"/>
            </a:pPr>
            <a:r>
              <a:rPr lang="en-US" sz="2800" dirty="0">
                <a:solidFill>
                  <a:schemeClr val="bg1"/>
                </a:solidFill>
              </a:rPr>
              <a:t>Let's take a look at the raw data from our </a:t>
            </a:r>
            <a:r>
              <a:rPr lang="en-US" sz="2800" dirty="0" err="1">
                <a:solidFill>
                  <a:schemeClr val="bg1"/>
                </a:solidFill>
              </a:rPr>
              <a:t>datasource</a:t>
            </a:r>
            <a:r>
              <a:rPr lang="en-US" sz="2800" dirty="0">
                <a:solidFill>
                  <a:schemeClr val="bg1"/>
                </a:solidFill>
              </a:rPr>
              <a:t>.  </a:t>
            </a:r>
            <a:br>
              <a:rPr lang="en-US" sz="2800" dirty="0">
                <a:solidFill>
                  <a:schemeClr val="bg1"/>
                </a:solidFill>
              </a:rPr>
            </a:br>
            <a:r>
              <a:rPr lang="en-US" sz="2800" dirty="0">
                <a:solidFill>
                  <a:schemeClr val="bg1"/>
                </a:solidFill>
              </a:rPr>
              <a:t>Append the following lines to app.py, then re-run your app.</a:t>
            </a:r>
          </a:p>
          <a:p>
            <a:pPr marL="514350" indent="-514350">
              <a:buFont typeface="+mj-lt"/>
              <a:buAutoNum type="arabicPeriod" startAt="5"/>
            </a:pPr>
            <a:endParaRPr lang="en-US" sz="2800" dirty="0">
              <a:solidFill>
                <a:schemeClr val="bg1"/>
              </a:solidFill>
            </a:endParaRPr>
          </a:p>
          <a:p>
            <a:r>
              <a:rPr lang="en-US" sz="2400" b="1" dirty="0" err="1">
                <a:latin typeface="Courier New" panose="02070309020205020404" pitchFamily="49" charset="0"/>
                <a:cs typeface="Courier New" panose="02070309020205020404" pitchFamily="49" charset="0"/>
              </a:rPr>
              <a:t>st.subheader</a:t>
            </a:r>
            <a:r>
              <a:rPr lang="en-US" sz="2400" b="1" dirty="0">
                <a:latin typeface="Courier New" panose="02070309020205020404" pitchFamily="49" charset="0"/>
                <a:cs typeface="Courier New" panose="02070309020205020404" pitchFamily="49" charset="0"/>
              </a:rPr>
              <a:t>('Raw data')</a:t>
            </a:r>
          </a:p>
          <a:p>
            <a:endParaRPr lang="en-US" sz="2400" b="1" dirty="0">
              <a:solidFill>
                <a:schemeClr val="bg1"/>
              </a:solidFill>
              <a:latin typeface="Courier New" panose="02070309020205020404" pitchFamily="49" charset="0"/>
              <a:cs typeface="Courier New" panose="02070309020205020404" pitchFamily="49" charset="0"/>
            </a:endParaRPr>
          </a:p>
          <a:p>
            <a:r>
              <a:rPr lang="en-US" sz="2400" b="1" dirty="0" err="1">
                <a:latin typeface="Courier New" panose="02070309020205020404" pitchFamily="49" charset="0"/>
                <a:cs typeface="Courier New" panose="02070309020205020404" pitchFamily="49" charset="0"/>
              </a:rPr>
              <a:t>st.write</a:t>
            </a:r>
            <a:r>
              <a:rPr lang="en-US" sz="2400" b="1" dirty="0">
                <a:latin typeface="Courier New" panose="02070309020205020404" pitchFamily="49" charset="0"/>
                <a:cs typeface="Courier New" panose="02070309020205020404" pitchFamily="49" charset="0"/>
              </a:rPr>
              <a:t>(data)</a:t>
            </a:r>
            <a:endParaRPr lang="en-US" sz="2000" dirty="0"/>
          </a:p>
        </p:txBody>
      </p:sp>
      <p:pic>
        <p:nvPicPr>
          <p:cNvPr id="3" name="Picture 2">
            <a:extLst>
              <a:ext uri="{FF2B5EF4-FFF2-40B4-BE49-F238E27FC236}">
                <a16:creationId xmlns:a16="http://schemas.microsoft.com/office/drawing/2014/main" id="{B4219F9A-A789-6EE1-2A46-769A8043C1B9}"/>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123032589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EE78-BF16-0510-2412-8DF44F3FFBD9}"/>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DD54A1AF-A543-34A6-9034-0EAF132DDA79}"/>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E7E12B95-A3D5-8859-FA78-276BFD35AA2D}"/>
              </a:ext>
            </a:extLst>
          </p:cNvPr>
          <p:cNvSpPr txBox="1"/>
          <p:nvPr/>
        </p:nvSpPr>
        <p:spPr>
          <a:xfrm>
            <a:off x="607039" y="1635760"/>
            <a:ext cx="3671047" cy="2677656"/>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17.  Using </a:t>
            </a:r>
            <a:r>
              <a:rPr lang="en-US" sz="2800" dirty="0" err="1">
                <a:solidFill>
                  <a:schemeClr val="bg1"/>
                </a:solidFill>
              </a:rPr>
              <a:t>st.subheader</a:t>
            </a:r>
            <a:r>
              <a:rPr lang="en-US" sz="2800" dirty="0">
                <a:solidFill>
                  <a:schemeClr val="bg1"/>
                </a:solidFill>
              </a:rPr>
              <a:t> and </a:t>
            </a:r>
            <a:r>
              <a:rPr lang="en-US" sz="2800" dirty="0" err="1">
                <a:solidFill>
                  <a:schemeClr val="bg1"/>
                </a:solidFill>
              </a:rPr>
              <a:t>st.write</a:t>
            </a:r>
            <a:r>
              <a:rPr lang="en-US" sz="2800" dirty="0">
                <a:solidFill>
                  <a:schemeClr val="bg1"/>
                </a:solidFill>
              </a:rPr>
              <a:t>, we can output a </a:t>
            </a:r>
            <a:r>
              <a:rPr lang="en-US" sz="2800" dirty="0" err="1">
                <a:solidFill>
                  <a:schemeClr val="bg1"/>
                </a:solidFill>
              </a:rPr>
              <a:t>dataframe</a:t>
            </a:r>
            <a:r>
              <a:rPr lang="en-US" sz="2800" dirty="0">
                <a:solidFill>
                  <a:schemeClr val="bg1"/>
                </a:solidFill>
              </a:rPr>
              <a:t> to our web app.</a:t>
            </a:r>
            <a:endParaRPr lang="en-US" sz="2000" dirty="0">
              <a:solidFill>
                <a:schemeClr val="bg1"/>
              </a:solidFill>
            </a:endParaRPr>
          </a:p>
        </p:txBody>
      </p:sp>
      <p:pic>
        <p:nvPicPr>
          <p:cNvPr id="3" name="Picture 2">
            <a:extLst>
              <a:ext uri="{FF2B5EF4-FFF2-40B4-BE49-F238E27FC236}">
                <a16:creationId xmlns:a16="http://schemas.microsoft.com/office/drawing/2014/main" id="{2FFA7483-6BB5-FC7D-0966-FC3216D43470}"/>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4" name="Picture 3">
            <a:extLst>
              <a:ext uri="{FF2B5EF4-FFF2-40B4-BE49-F238E27FC236}">
                <a16:creationId xmlns:a16="http://schemas.microsoft.com/office/drawing/2014/main" id="{45482E84-BC5F-DDC5-AEF4-575263AFB108}"/>
              </a:ext>
            </a:extLst>
          </p:cNvPr>
          <p:cNvPicPr>
            <a:picLocks noChangeAspect="1"/>
          </p:cNvPicPr>
          <p:nvPr/>
        </p:nvPicPr>
        <p:blipFill>
          <a:blip r:embed="rId3"/>
          <a:stretch>
            <a:fillRect/>
          </a:stretch>
        </p:blipFill>
        <p:spPr>
          <a:xfrm>
            <a:off x="4426528" y="1904999"/>
            <a:ext cx="7623958" cy="4659086"/>
          </a:xfrm>
          <a:prstGeom prst="rect">
            <a:avLst/>
          </a:prstGeom>
        </p:spPr>
      </p:pic>
    </p:spTree>
    <p:extLst>
      <p:ext uri="{BB962C8B-B14F-4D97-AF65-F5344CB8AC3E}">
        <p14:creationId xmlns:p14="http://schemas.microsoft.com/office/powerpoint/2010/main" val="296635551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EAE83-52E1-410A-A212-144566DEF27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CAB368-E45B-A8E3-B7B4-F63F5CEBDE10}"/>
              </a:ext>
            </a:extLst>
          </p:cNvPr>
          <p:cNvSpPr/>
          <p:nvPr/>
        </p:nvSpPr>
        <p:spPr>
          <a:xfrm>
            <a:off x="272142" y="3624943"/>
            <a:ext cx="11647714" cy="29609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5F3DC0F8-C804-6730-B93F-8A37FC39B476}"/>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F334C98C-5037-B860-EFF4-AE7BBC81FDD5}"/>
              </a:ext>
            </a:extLst>
          </p:cNvPr>
          <p:cNvSpPr txBox="1"/>
          <p:nvPr/>
        </p:nvSpPr>
        <p:spPr>
          <a:xfrm>
            <a:off x="607039" y="1635760"/>
            <a:ext cx="11445261" cy="4770537"/>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18. 	OK – Let's draw a histogram now.  It's easy!  </a:t>
            </a:r>
            <a:br>
              <a:rPr lang="en-US" sz="2800" dirty="0">
                <a:solidFill>
                  <a:schemeClr val="bg1"/>
                </a:solidFill>
              </a:rPr>
            </a:br>
            <a:r>
              <a:rPr lang="en-US" sz="2800" dirty="0">
                <a:solidFill>
                  <a:schemeClr val="bg1"/>
                </a:solidFill>
              </a:rPr>
              <a:t>	Add the following lines to app.py, then re-run your app.</a:t>
            </a:r>
          </a:p>
          <a:p>
            <a:endParaRPr lang="en-US" sz="2800" dirty="0">
              <a:solidFill>
                <a:schemeClr val="bg1"/>
              </a:solidFill>
            </a:endParaRPr>
          </a:p>
          <a:p>
            <a:r>
              <a:rPr lang="en-US" sz="2400" b="1" dirty="0" err="1">
                <a:latin typeface="Courier New" panose="02070309020205020404" pitchFamily="49" charset="0"/>
                <a:cs typeface="Courier New" panose="02070309020205020404" pitchFamily="49" charset="0"/>
              </a:rPr>
              <a:t>st.subheader</a:t>
            </a:r>
            <a:r>
              <a:rPr lang="en-US" sz="2400" b="1" dirty="0">
                <a:latin typeface="Courier New" panose="02070309020205020404" pitchFamily="49" charset="0"/>
                <a:cs typeface="Courier New" panose="02070309020205020404" pitchFamily="49" charset="0"/>
              </a:rPr>
              <a:t>('Number of pickups by hour')</a:t>
            </a:r>
          </a:p>
          <a:p>
            <a:endParaRPr lang="en-US" sz="2400" b="1" dirty="0">
              <a:solidFill>
                <a:schemeClr val="bg1"/>
              </a:solidFill>
              <a:latin typeface="Courier New" panose="02070309020205020404" pitchFamily="49" charset="0"/>
              <a:cs typeface="Courier New" panose="02070309020205020404" pitchFamily="49" charset="0"/>
            </a:endParaRPr>
          </a:p>
          <a:p>
            <a:r>
              <a:rPr lang="en-US" sz="2400" b="1" dirty="0" err="1">
                <a:latin typeface="Courier New" panose="02070309020205020404" pitchFamily="49" charset="0"/>
                <a:cs typeface="Courier New" panose="02070309020205020404" pitchFamily="49" charset="0"/>
              </a:rPr>
              <a:t>hist_values</a:t>
            </a:r>
            <a:r>
              <a:rPr lang="en-US" sz="2400" b="1" dirty="0">
                <a:latin typeface="Courier New" panose="02070309020205020404" pitchFamily="49" charset="0"/>
                <a:cs typeface="Courier New" panose="02070309020205020404" pitchFamily="49" charset="0"/>
              </a:rPr>
              <a:t> = </a:t>
            </a:r>
            <a:r>
              <a:rPr lang="en-US" sz="2400" b="1" dirty="0" err="1">
                <a:latin typeface="Courier New" panose="02070309020205020404" pitchFamily="49" charset="0"/>
                <a:cs typeface="Courier New" panose="02070309020205020404" pitchFamily="49" charset="0"/>
              </a:rPr>
              <a:t>np.histogram</a:t>
            </a:r>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data[DATE_COLUMN].</a:t>
            </a:r>
            <a:r>
              <a:rPr lang="en-US" sz="2400" b="1" dirty="0" err="1">
                <a:latin typeface="Courier New" panose="02070309020205020404" pitchFamily="49" charset="0"/>
                <a:cs typeface="Courier New" panose="02070309020205020404" pitchFamily="49" charset="0"/>
              </a:rPr>
              <a:t>dt.hour</a:t>
            </a:r>
            <a:r>
              <a:rPr lang="en-US" sz="2400" b="1" dirty="0">
                <a:latin typeface="Courier New" panose="02070309020205020404" pitchFamily="49" charset="0"/>
                <a:cs typeface="Courier New" panose="02070309020205020404" pitchFamily="49" charset="0"/>
              </a:rPr>
              <a:t>, bins=24, range=(0,24))[0]</a:t>
            </a:r>
          </a:p>
          <a:p>
            <a:endParaRPr lang="en-US" sz="2400" b="1" dirty="0">
              <a:latin typeface="Courier New" panose="02070309020205020404" pitchFamily="49" charset="0"/>
              <a:cs typeface="Courier New" panose="02070309020205020404" pitchFamily="49" charset="0"/>
            </a:endParaRPr>
          </a:p>
          <a:p>
            <a:r>
              <a:rPr lang="en-US" sz="2400" b="1" dirty="0" err="1">
                <a:latin typeface="Courier New" panose="02070309020205020404" pitchFamily="49" charset="0"/>
                <a:cs typeface="Courier New" panose="02070309020205020404" pitchFamily="49" charset="0"/>
              </a:rPr>
              <a:t>st.bar_chart</a:t>
            </a:r>
            <a:r>
              <a:rPr lang="en-US" sz="2400" b="1" dirty="0">
                <a:latin typeface="Courier New" panose="02070309020205020404" pitchFamily="49" charset="0"/>
                <a:cs typeface="Courier New" panose="02070309020205020404" pitchFamily="49" charset="0"/>
              </a:rPr>
              <a:t>(</a:t>
            </a:r>
            <a:r>
              <a:rPr lang="en-US" sz="2400" b="1" dirty="0" err="1">
                <a:latin typeface="Courier New" panose="02070309020205020404" pitchFamily="49" charset="0"/>
                <a:cs typeface="Courier New" panose="02070309020205020404" pitchFamily="49" charset="0"/>
              </a:rPr>
              <a:t>hist_values</a:t>
            </a:r>
            <a:r>
              <a:rPr lang="en-US" sz="2400" b="1" dirty="0">
                <a:latin typeface="Courier New" panose="02070309020205020404" pitchFamily="49" charset="0"/>
                <a:cs typeface="Courier New" panose="02070309020205020404" pitchFamily="49" charset="0"/>
              </a:rPr>
              <a:t>)</a:t>
            </a:r>
          </a:p>
          <a:p>
            <a:endParaRPr lang="en-US" sz="2000" dirty="0"/>
          </a:p>
        </p:txBody>
      </p:sp>
      <p:pic>
        <p:nvPicPr>
          <p:cNvPr id="3" name="Picture 2">
            <a:extLst>
              <a:ext uri="{FF2B5EF4-FFF2-40B4-BE49-F238E27FC236}">
                <a16:creationId xmlns:a16="http://schemas.microsoft.com/office/drawing/2014/main" id="{15F83DF5-65F0-914B-16E9-BBDCAA824387}"/>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130420586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AE77A-0227-A249-DC49-76B32B188322}"/>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ECEF548A-9F72-0E27-A3E2-9C70C83E49CF}"/>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D18D0ADE-D08B-CF99-0151-5413F737F0FB}"/>
              </a:ext>
            </a:extLst>
          </p:cNvPr>
          <p:cNvSpPr txBox="1"/>
          <p:nvPr/>
        </p:nvSpPr>
        <p:spPr>
          <a:xfrm>
            <a:off x="607039" y="1635760"/>
            <a:ext cx="3671047" cy="1384995"/>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19.  You got this!</a:t>
            </a:r>
            <a:endParaRPr lang="en-US" sz="2000" dirty="0">
              <a:solidFill>
                <a:schemeClr val="bg1"/>
              </a:solidFill>
            </a:endParaRPr>
          </a:p>
        </p:txBody>
      </p:sp>
      <p:pic>
        <p:nvPicPr>
          <p:cNvPr id="3" name="Picture 2">
            <a:extLst>
              <a:ext uri="{FF2B5EF4-FFF2-40B4-BE49-F238E27FC236}">
                <a16:creationId xmlns:a16="http://schemas.microsoft.com/office/drawing/2014/main" id="{75A2BECC-7FE2-EDFF-924B-A5E6B83422F3}"/>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5" name="Picture 4">
            <a:extLst>
              <a:ext uri="{FF2B5EF4-FFF2-40B4-BE49-F238E27FC236}">
                <a16:creationId xmlns:a16="http://schemas.microsoft.com/office/drawing/2014/main" id="{94DA2EDC-9560-5A8C-EC52-8FD5699860EC}"/>
              </a:ext>
            </a:extLst>
          </p:cNvPr>
          <p:cNvPicPr>
            <a:picLocks noChangeAspect="1"/>
          </p:cNvPicPr>
          <p:nvPr/>
        </p:nvPicPr>
        <p:blipFill>
          <a:blip r:embed="rId3"/>
          <a:stretch>
            <a:fillRect/>
          </a:stretch>
        </p:blipFill>
        <p:spPr>
          <a:xfrm>
            <a:off x="5293338" y="1552486"/>
            <a:ext cx="6455229" cy="5305514"/>
          </a:xfrm>
          <a:prstGeom prst="rect">
            <a:avLst/>
          </a:prstGeom>
        </p:spPr>
      </p:pic>
    </p:spTree>
    <p:extLst>
      <p:ext uri="{BB962C8B-B14F-4D97-AF65-F5344CB8AC3E}">
        <p14:creationId xmlns:p14="http://schemas.microsoft.com/office/powerpoint/2010/main" val="223641162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98E25-5A4E-DE56-526C-F4FDBAD0706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269D93-A5D5-0CAC-B6DB-48E864A96B52}"/>
              </a:ext>
            </a:extLst>
          </p:cNvPr>
          <p:cNvSpPr/>
          <p:nvPr/>
        </p:nvSpPr>
        <p:spPr>
          <a:xfrm>
            <a:off x="272142" y="3624943"/>
            <a:ext cx="11647714" cy="17634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E0A28F81-C847-5066-67A3-823135F7F4FB}"/>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4A561F38-40AE-3920-EDBB-124FB83788B7}"/>
              </a:ext>
            </a:extLst>
          </p:cNvPr>
          <p:cNvSpPr txBox="1"/>
          <p:nvPr/>
        </p:nvSpPr>
        <p:spPr>
          <a:xfrm>
            <a:off x="607039" y="1635760"/>
            <a:ext cx="11445261" cy="4031873"/>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20. 	Let's add a map.  Pretty straightforward.</a:t>
            </a:r>
            <a:br>
              <a:rPr lang="en-US" sz="2800" dirty="0">
                <a:solidFill>
                  <a:schemeClr val="bg1"/>
                </a:solidFill>
              </a:rPr>
            </a:br>
            <a:r>
              <a:rPr lang="en-US" sz="2800" dirty="0">
                <a:solidFill>
                  <a:schemeClr val="bg1"/>
                </a:solidFill>
              </a:rPr>
              <a:t>	Add the following lines to app.py, and re-run your app.</a:t>
            </a:r>
          </a:p>
          <a:p>
            <a:endParaRPr lang="en-US" sz="2800" dirty="0">
              <a:solidFill>
                <a:schemeClr val="bg1"/>
              </a:solidFill>
            </a:endParaRPr>
          </a:p>
          <a:p>
            <a:r>
              <a:rPr lang="en-US" sz="2400" b="1" dirty="0" err="1">
                <a:latin typeface="Courier New" panose="02070309020205020404" pitchFamily="49" charset="0"/>
                <a:cs typeface="Courier New" panose="02070309020205020404" pitchFamily="49" charset="0"/>
              </a:rPr>
              <a:t>st.subheader</a:t>
            </a:r>
            <a:r>
              <a:rPr lang="en-US" sz="2400" b="1" dirty="0">
                <a:latin typeface="Courier New" panose="02070309020205020404" pitchFamily="49" charset="0"/>
                <a:cs typeface="Courier New" panose="02070309020205020404" pitchFamily="49" charset="0"/>
              </a:rPr>
              <a:t>('Map of all pickups')</a:t>
            </a:r>
          </a:p>
          <a:p>
            <a:endParaRPr lang="en-US" sz="2400" b="1" dirty="0">
              <a:solidFill>
                <a:schemeClr val="bg1"/>
              </a:solidFill>
              <a:latin typeface="Courier New" panose="02070309020205020404" pitchFamily="49" charset="0"/>
              <a:cs typeface="Courier New" panose="02070309020205020404" pitchFamily="49" charset="0"/>
            </a:endParaRPr>
          </a:p>
          <a:p>
            <a:r>
              <a:rPr lang="en-US" sz="2400" b="1" dirty="0" err="1">
                <a:latin typeface="Courier New" panose="02070309020205020404" pitchFamily="49" charset="0"/>
                <a:cs typeface="Courier New" panose="02070309020205020404" pitchFamily="49" charset="0"/>
              </a:rPr>
              <a:t>st.map</a:t>
            </a:r>
            <a:r>
              <a:rPr lang="en-US" sz="2400" b="1" dirty="0">
                <a:latin typeface="Courier New" panose="02070309020205020404" pitchFamily="49" charset="0"/>
                <a:cs typeface="Courier New" panose="02070309020205020404" pitchFamily="49" charset="0"/>
              </a:rPr>
              <a:t>(data)</a:t>
            </a:r>
          </a:p>
          <a:p>
            <a:endParaRPr lang="en-US" sz="2400" b="1" dirty="0">
              <a:latin typeface="Courier New" panose="02070309020205020404" pitchFamily="49" charset="0"/>
              <a:cs typeface="Courier New" panose="02070309020205020404" pitchFamily="49" charset="0"/>
            </a:endParaRPr>
          </a:p>
          <a:p>
            <a:endParaRPr lang="en-US" sz="2000" dirty="0"/>
          </a:p>
        </p:txBody>
      </p:sp>
      <p:pic>
        <p:nvPicPr>
          <p:cNvPr id="3" name="Picture 2">
            <a:extLst>
              <a:ext uri="{FF2B5EF4-FFF2-40B4-BE49-F238E27FC236}">
                <a16:creationId xmlns:a16="http://schemas.microsoft.com/office/drawing/2014/main" id="{A4341D7A-FC09-C6BD-3E09-CE3A69B991AB}"/>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419597281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A12B8-443C-57A3-0587-3BAA114944B7}"/>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32C841D3-9C82-F194-B527-DD3FEE681B1F}"/>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15181D63-1345-6214-013C-5EAD6941C9B7}"/>
              </a:ext>
            </a:extLst>
          </p:cNvPr>
          <p:cNvSpPr txBox="1"/>
          <p:nvPr/>
        </p:nvSpPr>
        <p:spPr>
          <a:xfrm>
            <a:off x="607039" y="1635760"/>
            <a:ext cx="3671047" cy="1384995"/>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21.  Perfection!</a:t>
            </a:r>
            <a:endParaRPr lang="en-US" sz="2000" dirty="0">
              <a:solidFill>
                <a:schemeClr val="bg1"/>
              </a:solidFill>
            </a:endParaRPr>
          </a:p>
        </p:txBody>
      </p:sp>
      <p:pic>
        <p:nvPicPr>
          <p:cNvPr id="3" name="Picture 2">
            <a:extLst>
              <a:ext uri="{FF2B5EF4-FFF2-40B4-BE49-F238E27FC236}">
                <a16:creationId xmlns:a16="http://schemas.microsoft.com/office/drawing/2014/main" id="{1E29FBB8-8737-E34B-B8AF-05CC4EF03FB1}"/>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5" name="Picture 4">
            <a:extLst>
              <a:ext uri="{FF2B5EF4-FFF2-40B4-BE49-F238E27FC236}">
                <a16:creationId xmlns:a16="http://schemas.microsoft.com/office/drawing/2014/main" id="{F71844B7-585A-603F-9FD3-F1121228BCEE}"/>
              </a:ext>
            </a:extLst>
          </p:cNvPr>
          <p:cNvPicPr>
            <a:picLocks noChangeAspect="1"/>
          </p:cNvPicPr>
          <p:nvPr/>
        </p:nvPicPr>
        <p:blipFill>
          <a:blip r:embed="rId3"/>
          <a:stretch>
            <a:fillRect/>
          </a:stretch>
        </p:blipFill>
        <p:spPr>
          <a:xfrm>
            <a:off x="5293338" y="1552486"/>
            <a:ext cx="6455229" cy="5305514"/>
          </a:xfrm>
          <a:prstGeom prst="rect">
            <a:avLst/>
          </a:prstGeom>
        </p:spPr>
      </p:pic>
    </p:spTree>
    <p:extLst>
      <p:ext uri="{BB962C8B-B14F-4D97-AF65-F5344CB8AC3E}">
        <p14:creationId xmlns:p14="http://schemas.microsoft.com/office/powerpoint/2010/main" val="254330693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DD9B5-AFC4-CEB9-40D8-928C64542C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4726C93-FEDD-A68F-9AD1-7F8F085EA57D}"/>
              </a:ext>
            </a:extLst>
          </p:cNvPr>
          <p:cNvSpPr/>
          <p:nvPr/>
        </p:nvSpPr>
        <p:spPr>
          <a:xfrm>
            <a:off x="272142" y="4027713"/>
            <a:ext cx="11647714" cy="23622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9F8B3DB4-453D-BE20-D9C3-16DACAE7DE33}"/>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C30E564C-DE90-C5DD-7478-B94DC5AB3CDE}"/>
              </a:ext>
            </a:extLst>
          </p:cNvPr>
          <p:cNvSpPr txBox="1"/>
          <p:nvPr/>
        </p:nvSpPr>
        <p:spPr>
          <a:xfrm>
            <a:off x="607039" y="1635760"/>
            <a:ext cx="11445261" cy="5201424"/>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22. 	You want to focus on 17:00.  That's the busiest time.</a:t>
            </a:r>
            <a:br>
              <a:rPr lang="en-US" sz="2800" dirty="0">
                <a:solidFill>
                  <a:schemeClr val="bg1"/>
                </a:solidFill>
              </a:rPr>
            </a:br>
            <a:r>
              <a:rPr lang="en-US" sz="2800" dirty="0">
                <a:solidFill>
                  <a:schemeClr val="bg1"/>
                </a:solidFill>
              </a:rPr>
              <a:t>	Delete the last two lines we added and add the following lines to </a:t>
            </a:r>
            <a:br>
              <a:rPr lang="en-US" sz="2800" dirty="0">
                <a:solidFill>
                  <a:schemeClr val="bg1"/>
                </a:solidFill>
              </a:rPr>
            </a:br>
            <a:r>
              <a:rPr lang="en-US" sz="2800" dirty="0">
                <a:solidFill>
                  <a:schemeClr val="bg1"/>
                </a:solidFill>
              </a:rPr>
              <a:t>	app.py, and re-run your app.</a:t>
            </a:r>
          </a:p>
          <a:p>
            <a:endParaRPr lang="en-US" sz="2800" dirty="0">
              <a:solidFill>
                <a:schemeClr val="bg1"/>
              </a:solidFill>
            </a:endParaRPr>
          </a:p>
          <a:p>
            <a:r>
              <a:rPr lang="en-US" sz="2000" b="1" dirty="0" err="1">
                <a:latin typeface="Courier New" panose="02070309020205020404" pitchFamily="49" charset="0"/>
                <a:cs typeface="Courier New" panose="02070309020205020404" pitchFamily="49" charset="0"/>
              </a:rPr>
              <a:t>hour_to_filter</a:t>
            </a:r>
            <a:r>
              <a:rPr lang="en-US" sz="2000" b="1" dirty="0">
                <a:latin typeface="Courier New" panose="02070309020205020404" pitchFamily="49" charset="0"/>
                <a:cs typeface="Courier New" panose="02070309020205020404" pitchFamily="49" charset="0"/>
              </a:rPr>
              <a:t> = 17</a:t>
            </a:r>
          </a:p>
          <a:p>
            <a:r>
              <a:rPr lang="en-US" sz="2000" b="1" dirty="0" err="1">
                <a:latin typeface="Courier New" panose="02070309020205020404" pitchFamily="49" charset="0"/>
                <a:cs typeface="Courier New" panose="02070309020205020404" pitchFamily="49" charset="0"/>
              </a:rPr>
              <a:t>filtered_data</a:t>
            </a:r>
            <a:r>
              <a:rPr lang="en-US" sz="2000" b="1" dirty="0">
                <a:latin typeface="Courier New" panose="02070309020205020404" pitchFamily="49" charset="0"/>
                <a:cs typeface="Courier New" panose="02070309020205020404" pitchFamily="49" charset="0"/>
              </a:rPr>
              <a:t> = data[data[DATE_COLUMN].</a:t>
            </a:r>
            <a:r>
              <a:rPr lang="en-US" sz="2000" b="1" dirty="0" err="1">
                <a:latin typeface="Courier New" panose="02070309020205020404" pitchFamily="49" charset="0"/>
                <a:cs typeface="Courier New" panose="02070309020205020404" pitchFamily="49" charset="0"/>
              </a:rPr>
              <a:t>dt.hour</a:t>
            </a:r>
            <a:r>
              <a:rPr lang="en-US" sz="2000" b="1" dirty="0">
                <a:latin typeface="Courier New" panose="02070309020205020404" pitchFamily="49" charset="0"/>
                <a:cs typeface="Courier New" panose="02070309020205020404" pitchFamily="49" charset="0"/>
              </a:rPr>
              <a:t> == </a:t>
            </a:r>
            <a:r>
              <a:rPr lang="en-US" sz="2000" b="1" dirty="0" err="1">
                <a:latin typeface="Courier New" panose="02070309020205020404" pitchFamily="49" charset="0"/>
                <a:cs typeface="Courier New" panose="02070309020205020404" pitchFamily="49" charset="0"/>
              </a:rPr>
              <a:t>hour_to_filter</a:t>
            </a:r>
            <a:r>
              <a:rPr lang="en-US" sz="2000" b="1" dirty="0">
                <a:latin typeface="Courier New" panose="02070309020205020404" pitchFamily="49" charset="0"/>
                <a:cs typeface="Courier New" panose="02070309020205020404" pitchFamily="49" charset="0"/>
              </a:rPr>
              <a:t>]</a:t>
            </a:r>
            <a:br>
              <a:rPr lang="en-US" sz="2000" b="1" dirty="0">
                <a:latin typeface="Courier New" panose="02070309020205020404" pitchFamily="49" charset="0"/>
                <a:cs typeface="Courier New" panose="02070309020205020404" pitchFamily="49" charset="0"/>
              </a:rPr>
            </a:br>
            <a:endParaRPr lang="en-US" sz="2000" b="1" dirty="0">
              <a:latin typeface="Courier New" panose="02070309020205020404" pitchFamily="49" charset="0"/>
              <a:cs typeface="Courier New" panose="02070309020205020404" pitchFamily="49" charset="0"/>
            </a:endParaRPr>
          </a:p>
          <a:p>
            <a:r>
              <a:rPr lang="en-US" sz="2000" b="1" dirty="0" err="1">
                <a:latin typeface="Courier New" panose="02070309020205020404" pitchFamily="49" charset="0"/>
                <a:cs typeface="Courier New" panose="02070309020205020404" pitchFamily="49" charset="0"/>
              </a:rPr>
              <a:t>st.subheader</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f'Map</a:t>
            </a:r>
            <a:r>
              <a:rPr lang="en-US" sz="2000" b="1" dirty="0">
                <a:latin typeface="Courier New" panose="02070309020205020404" pitchFamily="49" charset="0"/>
                <a:cs typeface="Courier New" panose="02070309020205020404" pitchFamily="49" charset="0"/>
              </a:rPr>
              <a:t> of all pickups at {</a:t>
            </a:r>
            <a:r>
              <a:rPr lang="en-US" sz="2000" b="1" dirty="0" err="1">
                <a:latin typeface="Courier New" panose="02070309020205020404" pitchFamily="49" charset="0"/>
                <a:cs typeface="Courier New" panose="02070309020205020404" pitchFamily="49" charset="0"/>
              </a:rPr>
              <a:t>hour_to_filter</a:t>
            </a:r>
            <a:r>
              <a:rPr lang="en-US" sz="2000" b="1" dirty="0">
                <a:latin typeface="Courier New" panose="02070309020205020404" pitchFamily="49" charset="0"/>
                <a:cs typeface="Courier New" panose="02070309020205020404" pitchFamily="49" charset="0"/>
              </a:rPr>
              <a:t>}:00')</a:t>
            </a:r>
          </a:p>
          <a:p>
            <a:endParaRPr lang="en-US" sz="2000" b="1" dirty="0">
              <a:solidFill>
                <a:schemeClr val="bg1"/>
              </a:solidFill>
              <a:latin typeface="Courier New" panose="02070309020205020404" pitchFamily="49" charset="0"/>
              <a:cs typeface="Courier New" panose="02070309020205020404" pitchFamily="49" charset="0"/>
            </a:endParaRPr>
          </a:p>
          <a:p>
            <a:r>
              <a:rPr lang="en-US" sz="2000" b="1" dirty="0" err="1">
                <a:latin typeface="Courier New" panose="02070309020205020404" pitchFamily="49" charset="0"/>
                <a:cs typeface="Courier New" panose="02070309020205020404" pitchFamily="49" charset="0"/>
              </a:rPr>
              <a:t>st.map</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filtered_data</a:t>
            </a:r>
            <a:r>
              <a:rPr lang="en-US" sz="2000" b="1" dirty="0">
                <a:latin typeface="Courier New" panose="02070309020205020404" pitchFamily="49" charset="0"/>
                <a:cs typeface="Courier New" panose="02070309020205020404" pitchFamily="49" charset="0"/>
              </a:rPr>
              <a:t>)</a:t>
            </a:r>
          </a:p>
          <a:p>
            <a:endParaRPr lang="en-US" sz="2400" b="1" dirty="0">
              <a:latin typeface="Courier New" panose="02070309020205020404" pitchFamily="49" charset="0"/>
              <a:cs typeface="Courier New" panose="02070309020205020404" pitchFamily="49" charset="0"/>
            </a:endParaRPr>
          </a:p>
          <a:p>
            <a:endParaRPr lang="en-US" sz="2000" dirty="0"/>
          </a:p>
        </p:txBody>
      </p:sp>
      <p:pic>
        <p:nvPicPr>
          <p:cNvPr id="3" name="Picture 2">
            <a:extLst>
              <a:ext uri="{FF2B5EF4-FFF2-40B4-BE49-F238E27FC236}">
                <a16:creationId xmlns:a16="http://schemas.microsoft.com/office/drawing/2014/main" id="{F5EB61D1-FDDB-7CA2-5183-9CCE732905F6}"/>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306700467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1EFC-EFB0-DE9E-0D4B-39C38087A70F}"/>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4D8ACC45-8AE3-ADD5-B70C-80ED9629F4E5}"/>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F28D7905-C39C-D908-9F50-3E344731CB72}"/>
              </a:ext>
            </a:extLst>
          </p:cNvPr>
          <p:cNvSpPr txBox="1"/>
          <p:nvPr/>
        </p:nvSpPr>
        <p:spPr>
          <a:xfrm>
            <a:off x="607039" y="1635760"/>
            <a:ext cx="3671047" cy="1384995"/>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23.  OK this is cool.</a:t>
            </a:r>
            <a:endParaRPr lang="en-US" sz="2000" dirty="0">
              <a:solidFill>
                <a:schemeClr val="bg1"/>
              </a:solidFill>
            </a:endParaRPr>
          </a:p>
        </p:txBody>
      </p:sp>
      <p:pic>
        <p:nvPicPr>
          <p:cNvPr id="3" name="Picture 2">
            <a:extLst>
              <a:ext uri="{FF2B5EF4-FFF2-40B4-BE49-F238E27FC236}">
                <a16:creationId xmlns:a16="http://schemas.microsoft.com/office/drawing/2014/main" id="{7B464AA7-91CC-81C7-C9D3-9520EC7A5019}"/>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4" name="Picture 3">
            <a:extLst>
              <a:ext uri="{FF2B5EF4-FFF2-40B4-BE49-F238E27FC236}">
                <a16:creationId xmlns:a16="http://schemas.microsoft.com/office/drawing/2014/main" id="{5905F15B-48B6-B6AA-3634-3C88D7BDF334}"/>
              </a:ext>
            </a:extLst>
          </p:cNvPr>
          <p:cNvPicPr>
            <a:picLocks noChangeAspect="1"/>
          </p:cNvPicPr>
          <p:nvPr/>
        </p:nvPicPr>
        <p:blipFill>
          <a:blip r:embed="rId3"/>
          <a:stretch>
            <a:fillRect/>
          </a:stretch>
        </p:blipFill>
        <p:spPr>
          <a:xfrm>
            <a:off x="5188303" y="1635760"/>
            <a:ext cx="6396657" cy="4979948"/>
          </a:xfrm>
          <a:prstGeom prst="rect">
            <a:avLst/>
          </a:prstGeom>
        </p:spPr>
      </p:pic>
    </p:spTree>
    <p:extLst>
      <p:ext uri="{BB962C8B-B14F-4D97-AF65-F5344CB8AC3E}">
        <p14:creationId xmlns:p14="http://schemas.microsoft.com/office/powerpoint/2010/main" val="20789117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35E1C-7A8D-B890-5F85-FC66998EBD8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7AD931-77ED-9133-050F-743E641B90B4}"/>
              </a:ext>
            </a:extLst>
          </p:cNvPr>
          <p:cNvSpPr/>
          <p:nvPr/>
        </p:nvSpPr>
        <p:spPr>
          <a:xfrm>
            <a:off x="272142" y="4027713"/>
            <a:ext cx="11647714" cy="15348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456820F1-98CE-6D51-8B64-A5769BDA3C9E}"/>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E84728DD-53F1-E393-39AA-C1846ABA3E42}"/>
              </a:ext>
            </a:extLst>
          </p:cNvPr>
          <p:cNvSpPr txBox="1"/>
          <p:nvPr/>
        </p:nvSpPr>
        <p:spPr>
          <a:xfrm>
            <a:off x="607039" y="1635760"/>
            <a:ext cx="11445261" cy="3600986"/>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24. 	Do we have to be a developer to change the filter?  Nope.  </a:t>
            </a:r>
            <a:br>
              <a:rPr lang="en-US" sz="2800" dirty="0">
                <a:solidFill>
                  <a:schemeClr val="bg1"/>
                </a:solidFill>
              </a:rPr>
            </a:br>
            <a:r>
              <a:rPr lang="en-US" sz="2800" dirty="0">
                <a:solidFill>
                  <a:schemeClr val="bg1"/>
                </a:solidFill>
              </a:rPr>
              <a:t>	Let's add a slider control.  Replace the line "</a:t>
            </a:r>
            <a:r>
              <a:rPr lang="en-US" sz="2800" dirty="0" err="1">
                <a:solidFill>
                  <a:schemeClr val="bg1"/>
                </a:solidFill>
              </a:rPr>
              <a:t>hour_to_filter</a:t>
            </a:r>
            <a:r>
              <a:rPr lang="en-US" sz="2800" dirty="0">
                <a:solidFill>
                  <a:schemeClr val="bg1"/>
                </a:solidFill>
              </a:rPr>
              <a:t> = 17" and </a:t>
            </a:r>
            <a:br>
              <a:rPr lang="en-US" sz="2800" dirty="0">
                <a:solidFill>
                  <a:schemeClr val="bg1"/>
                </a:solidFill>
              </a:rPr>
            </a:br>
            <a:r>
              <a:rPr lang="en-US" sz="2800" dirty="0">
                <a:solidFill>
                  <a:schemeClr val="bg1"/>
                </a:solidFill>
              </a:rPr>
              <a:t>	replace it with this line and re-run:</a:t>
            </a:r>
          </a:p>
          <a:p>
            <a:endParaRPr lang="en-US" sz="2800" dirty="0">
              <a:solidFill>
                <a:schemeClr val="bg1"/>
              </a:solidFill>
            </a:endParaRPr>
          </a:p>
          <a:p>
            <a:r>
              <a:rPr lang="en-US" sz="2000" b="1" dirty="0" err="1">
                <a:latin typeface="Courier New" panose="02070309020205020404" pitchFamily="49" charset="0"/>
                <a:cs typeface="Courier New" panose="02070309020205020404" pitchFamily="49" charset="0"/>
              </a:rPr>
              <a:t>hour_to_filter</a:t>
            </a:r>
            <a:r>
              <a:rPr lang="en-US" sz="2000" b="1" dirty="0">
                <a:latin typeface="Courier New" panose="02070309020205020404" pitchFamily="49" charset="0"/>
                <a:cs typeface="Courier New" panose="02070309020205020404" pitchFamily="49" charset="0"/>
              </a:rPr>
              <a:t> = </a:t>
            </a:r>
            <a:r>
              <a:rPr lang="en-US" sz="2000" b="1" dirty="0" err="1">
                <a:latin typeface="Courier New" panose="02070309020205020404" pitchFamily="49" charset="0"/>
                <a:cs typeface="Courier New" panose="02070309020205020404" pitchFamily="49" charset="0"/>
              </a:rPr>
              <a:t>st.slider</a:t>
            </a:r>
            <a:r>
              <a:rPr lang="en-US" sz="2000" b="1" dirty="0">
                <a:latin typeface="Courier New" panose="02070309020205020404" pitchFamily="49" charset="0"/>
                <a:cs typeface="Courier New" panose="02070309020205020404" pitchFamily="49" charset="0"/>
              </a:rPr>
              <a:t>('hour', 0, 23, 17)</a:t>
            </a:r>
          </a:p>
          <a:p>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 min: 0h, max: 23h, default: 17h</a:t>
            </a:r>
            <a:endParaRPr lang="en-US" sz="2000" dirty="0"/>
          </a:p>
        </p:txBody>
      </p:sp>
      <p:pic>
        <p:nvPicPr>
          <p:cNvPr id="3" name="Picture 2">
            <a:extLst>
              <a:ext uri="{FF2B5EF4-FFF2-40B4-BE49-F238E27FC236}">
                <a16:creationId xmlns:a16="http://schemas.microsoft.com/office/drawing/2014/main" id="{864C5E58-8D33-3E33-04E4-4B8695BB8648}"/>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300259672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3DE56-3C69-E947-CA0A-7048ACF06C40}"/>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D40DCEFC-F462-9323-A2DA-DD0AA5B57AA1}"/>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D3A40AEC-92F2-7B03-B18F-31FB7DC6A09B}"/>
              </a:ext>
            </a:extLst>
          </p:cNvPr>
          <p:cNvSpPr txBox="1"/>
          <p:nvPr/>
        </p:nvSpPr>
        <p:spPr>
          <a:xfrm>
            <a:off x="607039" y="1635760"/>
            <a:ext cx="3671047" cy="1384995"/>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25.  I'm loving it.</a:t>
            </a:r>
            <a:endParaRPr lang="en-US" sz="2000" dirty="0">
              <a:solidFill>
                <a:schemeClr val="bg1"/>
              </a:solidFill>
            </a:endParaRPr>
          </a:p>
        </p:txBody>
      </p:sp>
      <p:pic>
        <p:nvPicPr>
          <p:cNvPr id="3" name="Picture 2">
            <a:extLst>
              <a:ext uri="{FF2B5EF4-FFF2-40B4-BE49-F238E27FC236}">
                <a16:creationId xmlns:a16="http://schemas.microsoft.com/office/drawing/2014/main" id="{D8ED370D-22B0-99C3-2357-F91799E18391}"/>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5" name="Picture 4">
            <a:extLst>
              <a:ext uri="{FF2B5EF4-FFF2-40B4-BE49-F238E27FC236}">
                <a16:creationId xmlns:a16="http://schemas.microsoft.com/office/drawing/2014/main" id="{2BAFB008-0ABC-BEA4-7374-3E90109D8866}"/>
              </a:ext>
            </a:extLst>
          </p:cNvPr>
          <p:cNvPicPr>
            <a:picLocks noChangeAspect="1"/>
          </p:cNvPicPr>
          <p:nvPr/>
        </p:nvPicPr>
        <p:blipFill>
          <a:blip r:embed="rId3"/>
          <a:stretch>
            <a:fillRect/>
          </a:stretch>
        </p:blipFill>
        <p:spPr>
          <a:xfrm>
            <a:off x="5331724" y="1768678"/>
            <a:ext cx="5164383" cy="4840009"/>
          </a:xfrm>
          <a:prstGeom prst="rect">
            <a:avLst/>
          </a:prstGeom>
        </p:spPr>
      </p:pic>
    </p:spTree>
    <p:extLst>
      <p:ext uri="{BB962C8B-B14F-4D97-AF65-F5344CB8AC3E}">
        <p14:creationId xmlns:p14="http://schemas.microsoft.com/office/powerpoint/2010/main" val="19779012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344BA-5BDA-F1DE-D9B8-E701F7EA910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52312D5-9038-CC04-46CE-9CAC847B0E25}"/>
              </a:ext>
            </a:extLst>
          </p:cNvPr>
          <p:cNvSpPr/>
          <p:nvPr/>
        </p:nvSpPr>
        <p:spPr>
          <a:xfrm>
            <a:off x="272142" y="5351689"/>
            <a:ext cx="11647714" cy="11161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4EBB90DA-C2B0-8EA5-C730-8B4AE87A21B7}"/>
              </a:ext>
            </a:extLst>
          </p:cNvPr>
          <p:cNvSpPr/>
          <p:nvPr/>
        </p:nvSpPr>
        <p:spPr>
          <a:xfrm>
            <a:off x="272142" y="4027713"/>
            <a:ext cx="11647714" cy="11161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2CEA0665-8A86-B8C5-7F38-059A881B7878}"/>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87985C4C-6C0E-8775-BE7E-D60135B12A71}"/>
              </a:ext>
            </a:extLst>
          </p:cNvPr>
          <p:cNvSpPr txBox="1"/>
          <p:nvPr/>
        </p:nvSpPr>
        <p:spPr>
          <a:xfrm>
            <a:off x="607039" y="1635760"/>
            <a:ext cx="11445261" cy="4832092"/>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26. 	Maybe we don't want the raw data there all the time, and we just want </a:t>
            </a:r>
            <a:br>
              <a:rPr lang="en-US" sz="2800" dirty="0">
                <a:solidFill>
                  <a:schemeClr val="bg1"/>
                </a:solidFill>
              </a:rPr>
            </a:br>
            <a:r>
              <a:rPr lang="en-US" sz="2800" dirty="0">
                <a:solidFill>
                  <a:schemeClr val="bg1"/>
                </a:solidFill>
              </a:rPr>
              <a:t>	it to show when we need it?  Let's add a checkbox.  Locate these lines 	in app.py and replace with the lines below.  Re-run the app.</a:t>
            </a:r>
          </a:p>
          <a:p>
            <a:endParaRPr lang="en-US" sz="2800" dirty="0">
              <a:solidFill>
                <a:schemeClr val="bg1"/>
              </a:solidFill>
            </a:endParaRPr>
          </a:p>
          <a:p>
            <a:r>
              <a:rPr lang="en-US" sz="2000" b="1" dirty="0" err="1">
                <a:latin typeface="Courier New" panose="02070309020205020404" pitchFamily="49" charset="0"/>
                <a:cs typeface="Courier New" panose="02070309020205020404" pitchFamily="49" charset="0"/>
              </a:rPr>
              <a:t>st.subheader</a:t>
            </a:r>
            <a:r>
              <a:rPr lang="en-US" sz="2000" b="1" dirty="0">
                <a:latin typeface="Courier New" panose="02070309020205020404" pitchFamily="49" charset="0"/>
                <a:cs typeface="Courier New" panose="02070309020205020404" pitchFamily="49" charset="0"/>
              </a:rPr>
              <a:t>('Raw data')</a:t>
            </a:r>
          </a:p>
          <a:p>
            <a:r>
              <a:rPr lang="en-US" sz="2000" b="1" dirty="0" err="1">
                <a:latin typeface="Courier New" panose="02070309020205020404" pitchFamily="49" charset="0"/>
                <a:cs typeface="Courier New" panose="02070309020205020404" pitchFamily="49" charset="0"/>
              </a:rPr>
              <a:t>st.write</a:t>
            </a:r>
            <a:r>
              <a:rPr lang="en-US" sz="2000" b="1" dirty="0">
                <a:latin typeface="Courier New" panose="02070309020205020404" pitchFamily="49" charset="0"/>
                <a:cs typeface="Courier New" panose="02070309020205020404" pitchFamily="49" charset="0"/>
              </a:rPr>
              <a:t>(data)</a:t>
            </a:r>
            <a:br>
              <a:rPr lang="en-US" sz="2000" b="1" dirty="0">
                <a:latin typeface="Courier New" panose="02070309020205020404" pitchFamily="49" charset="0"/>
                <a:cs typeface="Courier New" panose="02070309020205020404" pitchFamily="49" charset="0"/>
              </a:rPr>
            </a:br>
            <a:br>
              <a:rPr lang="en-US" sz="2000" b="1" dirty="0">
                <a:latin typeface="Courier New" panose="02070309020205020404" pitchFamily="49" charset="0"/>
                <a:cs typeface="Courier New" panose="02070309020205020404" pitchFamily="49" charset="0"/>
              </a:rPr>
            </a:br>
            <a:endParaRPr lang="en-US" sz="2000" b="1" dirty="0">
              <a:latin typeface="Courier New" panose="02070309020205020404" pitchFamily="49" charset="0"/>
              <a:cs typeface="Courier New" panose="02070309020205020404" pitchFamily="49" charset="0"/>
            </a:endParaRPr>
          </a:p>
          <a:p>
            <a:r>
              <a:rPr lang="en-US" sz="2000" b="1" dirty="0">
                <a:latin typeface="Courier New" panose="02070309020205020404" pitchFamily="49" charset="0"/>
                <a:cs typeface="Courier New" panose="02070309020205020404" pitchFamily="49" charset="0"/>
              </a:rPr>
              <a:t>if </a:t>
            </a:r>
            <a:r>
              <a:rPr lang="en-US" sz="2000" b="1" dirty="0" err="1">
                <a:latin typeface="Courier New" panose="02070309020205020404" pitchFamily="49" charset="0"/>
                <a:cs typeface="Courier New" panose="02070309020205020404" pitchFamily="49" charset="0"/>
              </a:rPr>
              <a:t>st.checkbox</a:t>
            </a:r>
            <a:r>
              <a:rPr lang="en-US" sz="2000" b="1" dirty="0">
                <a:latin typeface="Courier New" panose="02070309020205020404" pitchFamily="49" charset="0"/>
                <a:cs typeface="Courier New" panose="02070309020205020404" pitchFamily="49" charset="0"/>
              </a:rPr>
              <a:t>('Show raw data'):</a:t>
            </a:r>
          </a:p>
          <a:p>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st.subheader</a:t>
            </a:r>
            <a:r>
              <a:rPr lang="en-US" sz="2000" b="1" dirty="0">
                <a:latin typeface="Courier New" panose="02070309020205020404" pitchFamily="49" charset="0"/>
                <a:cs typeface="Courier New" panose="02070309020205020404" pitchFamily="49" charset="0"/>
              </a:rPr>
              <a:t>('Raw data')</a:t>
            </a:r>
          </a:p>
          <a:p>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st.write</a:t>
            </a:r>
            <a:r>
              <a:rPr lang="en-US" sz="2000" b="1" dirty="0">
                <a:latin typeface="Courier New" panose="02070309020205020404" pitchFamily="49" charset="0"/>
                <a:cs typeface="Courier New" panose="02070309020205020404" pitchFamily="49" charset="0"/>
              </a:rPr>
              <a:t>(data)</a:t>
            </a:r>
          </a:p>
        </p:txBody>
      </p:sp>
      <p:pic>
        <p:nvPicPr>
          <p:cNvPr id="3" name="Picture 2">
            <a:extLst>
              <a:ext uri="{FF2B5EF4-FFF2-40B4-BE49-F238E27FC236}">
                <a16:creationId xmlns:a16="http://schemas.microsoft.com/office/drawing/2014/main" id="{E3310856-BD22-5791-3ADD-2C5ED50885BA}"/>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10995861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7A338-75D7-D310-36E4-4AB7C95EAF5B}"/>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52DDC49A-9C2A-2730-41C4-3E696A821BA6}"/>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8D2E7098-8EC5-82E0-47F3-DCB916887014}"/>
              </a:ext>
            </a:extLst>
          </p:cNvPr>
          <p:cNvSpPr txBox="1"/>
          <p:nvPr/>
        </p:nvSpPr>
        <p:spPr>
          <a:xfrm>
            <a:off x="607039" y="1635760"/>
            <a:ext cx="3671047" cy="1384995"/>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27.  Raw data begone!</a:t>
            </a:r>
            <a:endParaRPr lang="en-US" sz="2000" dirty="0">
              <a:solidFill>
                <a:schemeClr val="bg1"/>
              </a:solidFill>
            </a:endParaRPr>
          </a:p>
        </p:txBody>
      </p:sp>
      <p:pic>
        <p:nvPicPr>
          <p:cNvPr id="3" name="Picture 2">
            <a:extLst>
              <a:ext uri="{FF2B5EF4-FFF2-40B4-BE49-F238E27FC236}">
                <a16:creationId xmlns:a16="http://schemas.microsoft.com/office/drawing/2014/main" id="{71E9E37E-6FE1-922F-C1D3-ED0C78B9C61C}"/>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4" name="Picture 3">
            <a:extLst>
              <a:ext uri="{FF2B5EF4-FFF2-40B4-BE49-F238E27FC236}">
                <a16:creationId xmlns:a16="http://schemas.microsoft.com/office/drawing/2014/main" id="{035CB35E-9DFD-1CF8-74DA-D8021DD7915F}"/>
              </a:ext>
            </a:extLst>
          </p:cNvPr>
          <p:cNvPicPr>
            <a:picLocks noChangeAspect="1"/>
          </p:cNvPicPr>
          <p:nvPr/>
        </p:nvPicPr>
        <p:blipFill>
          <a:blip r:embed="rId3"/>
          <a:stretch>
            <a:fillRect/>
          </a:stretch>
        </p:blipFill>
        <p:spPr>
          <a:xfrm>
            <a:off x="5546546" y="1780870"/>
            <a:ext cx="5801535" cy="4363059"/>
          </a:xfrm>
          <a:prstGeom prst="rect">
            <a:avLst/>
          </a:prstGeom>
        </p:spPr>
      </p:pic>
    </p:spTree>
    <p:extLst>
      <p:ext uri="{BB962C8B-B14F-4D97-AF65-F5344CB8AC3E}">
        <p14:creationId xmlns:p14="http://schemas.microsoft.com/office/powerpoint/2010/main" val="297465721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DF734-559A-5B16-691F-78F9179BED3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5B1965-1C46-4477-99C9-E4CF6A4591D1}"/>
              </a:ext>
            </a:extLst>
          </p:cNvPr>
          <p:cNvSpPr/>
          <p:nvPr/>
        </p:nvSpPr>
        <p:spPr>
          <a:xfrm>
            <a:off x="272142" y="5351689"/>
            <a:ext cx="11647714" cy="11161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1AC27B07-E562-68D3-4F61-16627A0A42E4}"/>
              </a:ext>
            </a:extLst>
          </p:cNvPr>
          <p:cNvSpPr/>
          <p:nvPr/>
        </p:nvSpPr>
        <p:spPr>
          <a:xfrm>
            <a:off x="272142" y="3842657"/>
            <a:ext cx="11647714" cy="13012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77094E92-F01A-6192-5ED0-38B3BC7C2196}"/>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ADA7F33A-98B3-0E94-9661-BB39BC62E5F0}"/>
              </a:ext>
            </a:extLst>
          </p:cNvPr>
          <p:cNvSpPr txBox="1"/>
          <p:nvPr/>
        </p:nvSpPr>
        <p:spPr>
          <a:xfrm>
            <a:off x="607039" y="1635760"/>
            <a:ext cx="11445261" cy="4708981"/>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pPr marL="514350" indent="-514350">
              <a:buAutoNum type="arabicPeriod" startAt="28"/>
            </a:pPr>
            <a:r>
              <a:rPr lang="en-US" sz="2800" dirty="0">
                <a:solidFill>
                  <a:schemeClr val="bg1"/>
                </a:solidFill>
              </a:rPr>
              <a:t>Let's add checkboxes for the other two visualizations too!</a:t>
            </a:r>
            <a:br>
              <a:rPr lang="en-US" sz="2800" dirty="0">
                <a:solidFill>
                  <a:schemeClr val="bg1"/>
                </a:solidFill>
              </a:rPr>
            </a:br>
            <a:r>
              <a:rPr lang="en-US" sz="2800" dirty="0">
                <a:solidFill>
                  <a:schemeClr val="bg1"/>
                </a:solidFill>
              </a:rPr>
              <a:t>Let's add one for the bar chart first.  Locate the code in first box, indent and add the if statement below.  Re-run your app.</a:t>
            </a:r>
          </a:p>
          <a:p>
            <a:r>
              <a:rPr lang="en-US" sz="2000" b="1" dirty="0" err="1">
                <a:latin typeface="Courier New" panose="02070309020205020404" pitchFamily="49" charset="0"/>
                <a:cs typeface="Courier New" panose="02070309020205020404" pitchFamily="49" charset="0"/>
              </a:rPr>
              <a:t>st.subheader</a:t>
            </a:r>
            <a:r>
              <a:rPr lang="en-US" sz="2000" b="1" dirty="0">
                <a:latin typeface="Courier New" panose="02070309020205020404" pitchFamily="49" charset="0"/>
                <a:cs typeface="Courier New" panose="02070309020205020404" pitchFamily="49" charset="0"/>
              </a:rPr>
              <a:t>('Number of pickups by hour')</a:t>
            </a:r>
          </a:p>
          <a:p>
            <a:r>
              <a:rPr lang="en-US" sz="2000" b="1" dirty="0" err="1">
                <a:latin typeface="Courier New" panose="02070309020205020404" pitchFamily="49" charset="0"/>
                <a:cs typeface="Courier New" panose="02070309020205020404" pitchFamily="49" charset="0"/>
              </a:rPr>
              <a:t>hist_values</a:t>
            </a:r>
            <a:r>
              <a:rPr lang="en-US" sz="2000" b="1" dirty="0">
                <a:latin typeface="Courier New" panose="02070309020205020404" pitchFamily="49" charset="0"/>
                <a:cs typeface="Courier New" panose="02070309020205020404" pitchFamily="49" charset="0"/>
              </a:rPr>
              <a:t> = </a:t>
            </a:r>
            <a:r>
              <a:rPr lang="en-US" sz="2000" b="1" dirty="0" err="1">
                <a:latin typeface="Courier New" panose="02070309020205020404" pitchFamily="49" charset="0"/>
                <a:cs typeface="Courier New" panose="02070309020205020404" pitchFamily="49" charset="0"/>
              </a:rPr>
              <a:t>np.histogram</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    data[DATE_COLUMN].</a:t>
            </a:r>
            <a:r>
              <a:rPr lang="en-US" sz="2000" b="1" dirty="0" err="1">
                <a:latin typeface="Courier New" panose="02070309020205020404" pitchFamily="49" charset="0"/>
                <a:cs typeface="Courier New" panose="02070309020205020404" pitchFamily="49" charset="0"/>
              </a:rPr>
              <a:t>dt.hour</a:t>
            </a:r>
            <a:r>
              <a:rPr lang="en-US" sz="2000" b="1" dirty="0">
                <a:latin typeface="Courier New" panose="02070309020205020404" pitchFamily="49" charset="0"/>
                <a:cs typeface="Courier New" panose="02070309020205020404" pitchFamily="49" charset="0"/>
              </a:rPr>
              <a:t>, bins=24, range=(0,24))[0]</a:t>
            </a:r>
          </a:p>
          <a:p>
            <a:r>
              <a:rPr lang="en-US" sz="2000" b="1" dirty="0" err="1">
                <a:latin typeface="Courier New" panose="02070309020205020404" pitchFamily="49" charset="0"/>
                <a:cs typeface="Courier New" panose="02070309020205020404" pitchFamily="49" charset="0"/>
              </a:rPr>
              <a:t>st.bar_chart</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hist_values</a:t>
            </a:r>
            <a:r>
              <a:rPr lang="en-US" sz="2000" b="1" dirty="0">
                <a:latin typeface="Courier New" panose="02070309020205020404" pitchFamily="49" charset="0"/>
                <a:cs typeface="Courier New" panose="02070309020205020404" pitchFamily="49" charset="0"/>
              </a:rPr>
              <a:t>)</a:t>
            </a:r>
            <a:br>
              <a:rPr lang="en-US" sz="2000" b="1" dirty="0">
                <a:latin typeface="Courier New" panose="02070309020205020404" pitchFamily="49" charset="0"/>
                <a:cs typeface="Courier New" panose="02070309020205020404" pitchFamily="49" charset="0"/>
              </a:rPr>
            </a:br>
            <a:endParaRPr lang="en-US" sz="2000" b="1" dirty="0">
              <a:latin typeface="Courier New" panose="02070309020205020404" pitchFamily="49" charset="0"/>
              <a:cs typeface="Courier New" panose="02070309020205020404" pitchFamily="49" charset="0"/>
            </a:endParaRPr>
          </a:p>
          <a:p>
            <a:endParaRPr lang="en-US" sz="2000" b="1" dirty="0">
              <a:latin typeface="Courier New" panose="02070309020205020404" pitchFamily="49" charset="0"/>
              <a:cs typeface="Courier New" panose="02070309020205020404" pitchFamily="49" charset="0"/>
            </a:endParaRPr>
          </a:p>
          <a:p>
            <a:r>
              <a:rPr lang="en-US" sz="2000" b="1" dirty="0">
                <a:latin typeface="Courier New" panose="02070309020205020404" pitchFamily="49" charset="0"/>
                <a:cs typeface="Courier New" panose="02070309020205020404" pitchFamily="49" charset="0"/>
              </a:rPr>
              <a:t>if </a:t>
            </a:r>
            <a:r>
              <a:rPr lang="en-US" sz="2000" b="1" dirty="0" err="1">
                <a:latin typeface="Courier New" panose="02070309020205020404" pitchFamily="49" charset="0"/>
                <a:cs typeface="Courier New" panose="02070309020205020404" pitchFamily="49" charset="0"/>
              </a:rPr>
              <a:t>st.checkbox</a:t>
            </a:r>
            <a:r>
              <a:rPr lang="en-US" sz="2000" b="1" dirty="0">
                <a:latin typeface="Courier New" panose="02070309020205020404" pitchFamily="49" charset="0"/>
                <a:cs typeface="Courier New" panose="02070309020205020404" pitchFamily="49" charset="0"/>
              </a:rPr>
              <a:t>('Show bar chart'):</a:t>
            </a:r>
          </a:p>
          <a:p>
            <a:pPr lvl="1"/>
            <a:r>
              <a:rPr lang="en-US" sz="2000" b="1" dirty="0">
                <a:latin typeface="Courier New" panose="02070309020205020404" pitchFamily="49" charset="0"/>
                <a:cs typeface="Courier New" panose="02070309020205020404" pitchFamily="49" charset="0"/>
              </a:rPr>
              <a:t>&lt;indented code from above&gt;</a:t>
            </a:r>
          </a:p>
        </p:txBody>
      </p:sp>
      <p:pic>
        <p:nvPicPr>
          <p:cNvPr id="3" name="Picture 2">
            <a:extLst>
              <a:ext uri="{FF2B5EF4-FFF2-40B4-BE49-F238E27FC236}">
                <a16:creationId xmlns:a16="http://schemas.microsoft.com/office/drawing/2014/main" id="{9EECC357-3D83-87A2-9760-8D511F4A7880}"/>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3865971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CDD8E-7C25-5875-49D4-EC718347B9E8}"/>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E72A4079-AB81-68D4-948A-EE463743E28C}"/>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67176FE2-8BE4-FE8A-7522-AA0EA70F3585}"/>
              </a:ext>
            </a:extLst>
          </p:cNvPr>
          <p:cNvSpPr txBox="1"/>
          <p:nvPr/>
        </p:nvSpPr>
        <p:spPr>
          <a:xfrm>
            <a:off x="607039" y="1635760"/>
            <a:ext cx="4215332" cy="1384995"/>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29.  We're in control now!</a:t>
            </a:r>
            <a:endParaRPr lang="en-US" sz="2000" dirty="0">
              <a:solidFill>
                <a:schemeClr val="bg1"/>
              </a:solidFill>
            </a:endParaRPr>
          </a:p>
        </p:txBody>
      </p:sp>
      <p:pic>
        <p:nvPicPr>
          <p:cNvPr id="3" name="Picture 2">
            <a:extLst>
              <a:ext uri="{FF2B5EF4-FFF2-40B4-BE49-F238E27FC236}">
                <a16:creationId xmlns:a16="http://schemas.microsoft.com/office/drawing/2014/main" id="{9608D49E-6461-FC2F-D618-F9D73D968D43}"/>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5" name="Picture 4">
            <a:extLst>
              <a:ext uri="{FF2B5EF4-FFF2-40B4-BE49-F238E27FC236}">
                <a16:creationId xmlns:a16="http://schemas.microsoft.com/office/drawing/2014/main" id="{FA1D351F-2440-1FA1-E257-55ED1FD38029}"/>
              </a:ext>
            </a:extLst>
          </p:cNvPr>
          <p:cNvPicPr>
            <a:picLocks noChangeAspect="1"/>
          </p:cNvPicPr>
          <p:nvPr/>
        </p:nvPicPr>
        <p:blipFill>
          <a:blip r:embed="rId3"/>
          <a:stretch>
            <a:fillRect/>
          </a:stretch>
        </p:blipFill>
        <p:spPr>
          <a:xfrm>
            <a:off x="5212482" y="2328257"/>
            <a:ext cx="5925377" cy="3553321"/>
          </a:xfrm>
          <a:prstGeom prst="rect">
            <a:avLst/>
          </a:prstGeom>
        </p:spPr>
      </p:pic>
    </p:spTree>
    <p:extLst>
      <p:ext uri="{BB962C8B-B14F-4D97-AF65-F5344CB8AC3E}">
        <p14:creationId xmlns:p14="http://schemas.microsoft.com/office/powerpoint/2010/main" val="42569824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7BAA0-AD67-3540-14E5-617D695C35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90A4F6D-08D3-09F9-2DB0-CADBAB50EB01}"/>
              </a:ext>
            </a:extLst>
          </p:cNvPr>
          <p:cNvSpPr/>
          <p:nvPr/>
        </p:nvSpPr>
        <p:spPr>
          <a:xfrm>
            <a:off x="272142" y="5351689"/>
            <a:ext cx="11647714" cy="11161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797E37AF-1862-22BA-9DC3-AE48D75CC5B1}"/>
              </a:ext>
            </a:extLst>
          </p:cNvPr>
          <p:cNvSpPr/>
          <p:nvPr/>
        </p:nvSpPr>
        <p:spPr>
          <a:xfrm>
            <a:off x="272142" y="3842657"/>
            <a:ext cx="11647714" cy="13012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itle 11">
            <a:extLst>
              <a:ext uri="{FF2B5EF4-FFF2-40B4-BE49-F238E27FC236}">
                <a16:creationId xmlns:a16="http://schemas.microsoft.com/office/drawing/2014/main" id="{902DC48F-8401-EC00-F840-C19F09319574}"/>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D68E94E7-B88F-C445-2BC9-1362FDFBBD15}"/>
              </a:ext>
            </a:extLst>
          </p:cNvPr>
          <p:cNvSpPr txBox="1"/>
          <p:nvPr/>
        </p:nvSpPr>
        <p:spPr>
          <a:xfrm>
            <a:off x="607039" y="1635760"/>
            <a:ext cx="11445261" cy="4708981"/>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pPr marL="514350" indent="-514350">
              <a:buAutoNum type="arabicPeriod" startAt="30"/>
            </a:pPr>
            <a:r>
              <a:rPr lang="en-US" sz="2800" dirty="0">
                <a:solidFill>
                  <a:schemeClr val="bg1"/>
                </a:solidFill>
              </a:rPr>
              <a:t>One more for the map and slider.</a:t>
            </a:r>
            <a:br>
              <a:rPr lang="en-US" sz="2800" dirty="0">
                <a:solidFill>
                  <a:schemeClr val="bg1"/>
                </a:solidFill>
              </a:rPr>
            </a:br>
            <a:r>
              <a:rPr lang="en-US" sz="2800" dirty="0">
                <a:solidFill>
                  <a:schemeClr val="bg1"/>
                </a:solidFill>
              </a:rPr>
              <a:t>Locate the code in first box, indent and add the if statement below.  Re-run your app.</a:t>
            </a:r>
          </a:p>
          <a:p>
            <a:r>
              <a:rPr lang="en-US" sz="2000" b="1" dirty="0" err="1">
                <a:latin typeface="Courier New" panose="02070309020205020404" pitchFamily="49" charset="0"/>
                <a:cs typeface="Courier New" panose="02070309020205020404" pitchFamily="49" charset="0"/>
              </a:rPr>
              <a:t>hour_to_filter</a:t>
            </a:r>
            <a:r>
              <a:rPr lang="en-US" sz="2000" b="1" dirty="0">
                <a:latin typeface="Courier New" panose="02070309020205020404" pitchFamily="49" charset="0"/>
                <a:cs typeface="Courier New" panose="02070309020205020404" pitchFamily="49" charset="0"/>
              </a:rPr>
              <a:t> = </a:t>
            </a:r>
            <a:r>
              <a:rPr lang="en-US" sz="2000" b="1" dirty="0" err="1">
                <a:latin typeface="Courier New" panose="02070309020205020404" pitchFamily="49" charset="0"/>
                <a:cs typeface="Courier New" panose="02070309020205020404" pitchFamily="49" charset="0"/>
              </a:rPr>
              <a:t>st.slider</a:t>
            </a:r>
            <a:r>
              <a:rPr lang="en-US" sz="2000" b="1" dirty="0">
                <a:latin typeface="Courier New" panose="02070309020205020404" pitchFamily="49" charset="0"/>
                <a:cs typeface="Courier New" panose="02070309020205020404" pitchFamily="49" charset="0"/>
              </a:rPr>
              <a:t>('hour', 0, 23, 17)</a:t>
            </a:r>
          </a:p>
          <a:p>
            <a:r>
              <a:rPr lang="en-US" sz="2000" b="1" dirty="0" err="1">
                <a:latin typeface="Courier New" panose="02070309020205020404" pitchFamily="49" charset="0"/>
                <a:cs typeface="Courier New" panose="02070309020205020404" pitchFamily="49" charset="0"/>
              </a:rPr>
              <a:t>filtered_data</a:t>
            </a:r>
            <a:r>
              <a:rPr lang="en-US" sz="2000" b="1" dirty="0">
                <a:latin typeface="Courier New" panose="02070309020205020404" pitchFamily="49" charset="0"/>
                <a:cs typeface="Courier New" panose="02070309020205020404" pitchFamily="49" charset="0"/>
              </a:rPr>
              <a:t> = data[data[DATE_COLUMN].</a:t>
            </a:r>
            <a:r>
              <a:rPr lang="en-US" sz="2000" b="1" dirty="0" err="1">
                <a:latin typeface="Courier New" panose="02070309020205020404" pitchFamily="49" charset="0"/>
                <a:cs typeface="Courier New" panose="02070309020205020404" pitchFamily="49" charset="0"/>
              </a:rPr>
              <a:t>dt.hour</a:t>
            </a:r>
            <a:r>
              <a:rPr lang="en-US" sz="2000" b="1" dirty="0">
                <a:latin typeface="Courier New" panose="02070309020205020404" pitchFamily="49" charset="0"/>
                <a:cs typeface="Courier New" panose="02070309020205020404" pitchFamily="49" charset="0"/>
              </a:rPr>
              <a:t> == </a:t>
            </a:r>
            <a:r>
              <a:rPr lang="en-US" sz="2000" b="1" dirty="0" err="1">
                <a:latin typeface="Courier New" panose="02070309020205020404" pitchFamily="49" charset="0"/>
                <a:cs typeface="Courier New" panose="02070309020205020404" pitchFamily="49" charset="0"/>
              </a:rPr>
              <a:t>hour_to_filter</a:t>
            </a:r>
            <a:r>
              <a:rPr lang="en-US" sz="2000" b="1" dirty="0">
                <a:latin typeface="Courier New" panose="02070309020205020404" pitchFamily="49" charset="0"/>
                <a:cs typeface="Courier New" panose="02070309020205020404" pitchFamily="49" charset="0"/>
              </a:rPr>
              <a:t>]</a:t>
            </a:r>
          </a:p>
          <a:p>
            <a:r>
              <a:rPr lang="en-US" sz="2000" b="1" dirty="0" err="1">
                <a:latin typeface="Courier New" panose="02070309020205020404" pitchFamily="49" charset="0"/>
                <a:cs typeface="Courier New" panose="02070309020205020404" pitchFamily="49" charset="0"/>
              </a:rPr>
              <a:t>st.subheader</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f'Map</a:t>
            </a:r>
            <a:r>
              <a:rPr lang="en-US" sz="2000" b="1" dirty="0">
                <a:latin typeface="Courier New" panose="02070309020205020404" pitchFamily="49" charset="0"/>
                <a:cs typeface="Courier New" panose="02070309020205020404" pitchFamily="49" charset="0"/>
              </a:rPr>
              <a:t> of all pickups at {</a:t>
            </a:r>
            <a:r>
              <a:rPr lang="en-US" sz="2000" b="1" dirty="0" err="1">
                <a:latin typeface="Courier New" panose="02070309020205020404" pitchFamily="49" charset="0"/>
                <a:cs typeface="Courier New" panose="02070309020205020404" pitchFamily="49" charset="0"/>
              </a:rPr>
              <a:t>hour_to_filter</a:t>
            </a:r>
            <a:r>
              <a:rPr lang="en-US" sz="2000" b="1" dirty="0">
                <a:latin typeface="Courier New" panose="02070309020205020404" pitchFamily="49" charset="0"/>
                <a:cs typeface="Courier New" panose="02070309020205020404" pitchFamily="49" charset="0"/>
              </a:rPr>
              <a:t>}:00')</a:t>
            </a:r>
          </a:p>
          <a:p>
            <a:r>
              <a:rPr lang="en-US" sz="2000" b="1" dirty="0" err="1">
                <a:latin typeface="Courier New" panose="02070309020205020404" pitchFamily="49" charset="0"/>
                <a:cs typeface="Courier New" panose="02070309020205020404" pitchFamily="49" charset="0"/>
              </a:rPr>
              <a:t>st.map</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filtered_data</a:t>
            </a:r>
            <a:r>
              <a:rPr lang="en-US" sz="2000" b="1" dirty="0">
                <a:latin typeface="Courier New" panose="02070309020205020404" pitchFamily="49" charset="0"/>
                <a:cs typeface="Courier New" panose="02070309020205020404" pitchFamily="49" charset="0"/>
              </a:rPr>
              <a:t>)</a:t>
            </a:r>
            <a:br>
              <a:rPr lang="en-US" sz="2000" b="1" dirty="0">
                <a:latin typeface="Courier New" panose="02070309020205020404" pitchFamily="49" charset="0"/>
                <a:cs typeface="Courier New" panose="02070309020205020404" pitchFamily="49" charset="0"/>
              </a:rPr>
            </a:br>
            <a:endParaRPr lang="en-US" sz="2000" b="1" dirty="0">
              <a:latin typeface="Courier New" panose="02070309020205020404" pitchFamily="49" charset="0"/>
              <a:cs typeface="Courier New" panose="02070309020205020404" pitchFamily="49" charset="0"/>
            </a:endParaRPr>
          </a:p>
          <a:p>
            <a:endParaRPr lang="en-US" sz="2000" b="1" dirty="0">
              <a:latin typeface="Courier New" panose="02070309020205020404" pitchFamily="49" charset="0"/>
              <a:cs typeface="Courier New" panose="02070309020205020404" pitchFamily="49" charset="0"/>
            </a:endParaRPr>
          </a:p>
          <a:p>
            <a:r>
              <a:rPr lang="en-US" sz="2000" b="1" dirty="0">
                <a:latin typeface="Courier New" panose="02070309020205020404" pitchFamily="49" charset="0"/>
                <a:cs typeface="Courier New" panose="02070309020205020404" pitchFamily="49" charset="0"/>
              </a:rPr>
              <a:t>if </a:t>
            </a:r>
            <a:r>
              <a:rPr lang="en-US" sz="2000" b="1" dirty="0" err="1">
                <a:latin typeface="Courier New" panose="02070309020205020404" pitchFamily="49" charset="0"/>
                <a:cs typeface="Courier New" panose="02070309020205020404" pitchFamily="49" charset="0"/>
              </a:rPr>
              <a:t>st.checkbox</a:t>
            </a:r>
            <a:r>
              <a:rPr lang="en-US" sz="2000" b="1" dirty="0">
                <a:latin typeface="Courier New" panose="02070309020205020404" pitchFamily="49" charset="0"/>
                <a:cs typeface="Courier New" panose="02070309020205020404" pitchFamily="49" charset="0"/>
              </a:rPr>
              <a:t>('Show map'):</a:t>
            </a:r>
          </a:p>
          <a:p>
            <a:pPr lvl="1"/>
            <a:r>
              <a:rPr lang="en-US" sz="2000" b="1" dirty="0">
                <a:latin typeface="Courier New" panose="02070309020205020404" pitchFamily="49" charset="0"/>
                <a:cs typeface="Courier New" panose="02070309020205020404" pitchFamily="49" charset="0"/>
              </a:rPr>
              <a:t>&lt;indented code from above&gt;</a:t>
            </a:r>
          </a:p>
        </p:txBody>
      </p:sp>
      <p:pic>
        <p:nvPicPr>
          <p:cNvPr id="3" name="Picture 2">
            <a:extLst>
              <a:ext uri="{FF2B5EF4-FFF2-40B4-BE49-F238E27FC236}">
                <a16:creationId xmlns:a16="http://schemas.microsoft.com/office/drawing/2014/main" id="{D51591C0-DFE8-4E59-D18B-2998C1A09941}"/>
              </a:ext>
            </a:extLst>
          </p:cNvPr>
          <p:cNvPicPr>
            <a:picLocks noChangeAspect="1"/>
          </p:cNvPicPr>
          <p:nvPr/>
        </p:nvPicPr>
        <p:blipFill>
          <a:blip r:embed="rId2"/>
          <a:stretch>
            <a:fillRect/>
          </a:stretch>
        </p:blipFill>
        <p:spPr>
          <a:xfrm>
            <a:off x="10358405" y="624086"/>
            <a:ext cx="1115470" cy="796766"/>
          </a:xfrm>
          <a:prstGeom prst="rect">
            <a:avLst/>
          </a:prstGeom>
        </p:spPr>
      </p:pic>
    </p:spTree>
    <p:extLst>
      <p:ext uri="{BB962C8B-B14F-4D97-AF65-F5344CB8AC3E}">
        <p14:creationId xmlns:p14="http://schemas.microsoft.com/office/powerpoint/2010/main" val="418713519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ED0F2-C3AF-E6A6-04F0-C735BAC07C73}"/>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73EDC820-561F-B4B3-18BF-846D2DCA4B3A}"/>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NYC Uber Pickup Lab</a:t>
            </a:r>
          </a:p>
        </p:txBody>
      </p:sp>
      <p:sp>
        <p:nvSpPr>
          <p:cNvPr id="10" name="TextBox 9">
            <a:extLst>
              <a:ext uri="{FF2B5EF4-FFF2-40B4-BE49-F238E27FC236}">
                <a16:creationId xmlns:a16="http://schemas.microsoft.com/office/drawing/2014/main" id="{4771F937-3C10-AE16-738F-B955EC97077F}"/>
              </a:ext>
            </a:extLst>
          </p:cNvPr>
          <p:cNvSpPr txBox="1"/>
          <p:nvPr/>
        </p:nvSpPr>
        <p:spPr>
          <a:xfrm>
            <a:off x="607039" y="1635760"/>
            <a:ext cx="4215332" cy="1384995"/>
          </a:xfrm>
          <a:prstGeom prst="rect">
            <a:avLst/>
          </a:prstGeom>
          <a:noFill/>
        </p:spPr>
        <p:txBody>
          <a:bodyPr wrap="square" rtlCol="0">
            <a:spAutoFit/>
          </a:bodyPr>
          <a:lstStyle/>
          <a:p>
            <a:r>
              <a:rPr lang="en-US" sz="2800" dirty="0">
                <a:solidFill>
                  <a:schemeClr val="bg1"/>
                </a:solidFill>
              </a:rPr>
              <a:t>Lab Walkthrough Steps:</a:t>
            </a:r>
            <a:br>
              <a:rPr lang="en-US" sz="2800" dirty="0">
                <a:solidFill>
                  <a:schemeClr val="bg1"/>
                </a:solidFill>
              </a:rPr>
            </a:br>
            <a:endParaRPr lang="en-US" sz="2800" dirty="0">
              <a:solidFill>
                <a:schemeClr val="bg1"/>
              </a:solidFill>
            </a:endParaRPr>
          </a:p>
          <a:p>
            <a:r>
              <a:rPr lang="en-US" sz="2800" dirty="0">
                <a:solidFill>
                  <a:schemeClr val="bg1"/>
                </a:solidFill>
              </a:rPr>
              <a:t>31.  Looking clean!</a:t>
            </a:r>
            <a:endParaRPr lang="en-US" sz="2000" dirty="0">
              <a:solidFill>
                <a:schemeClr val="bg1"/>
              </a:solidFill>
            </a:endParaRPr>
          </a:p>
        </p:txBody>
      </p:sp>
      <p:pic>
        <p:nvPicPr>
          <p:cNvPr id="3" name="Picture 2">
            <a:extLst>
              <a:ext uri="{FF2B5EF4-FFF2-40B4-BE49-F238E27FC236}">
                <a16:creationId xmlns:a16="http://schemas.microsoft.com/office/drawing/2014/main" id="{139A6275-1362-1F81-0A07-B354B1981138}"/>
              </a:ext>
            </a:extLst>
          </p:cNvPr>
          <p:cNvPicPr>
            <a:picLocks noChangeAspect="1"/>
          </p:cNvPicPr>
          <p:nvPr/>
        </p:nvPicPr>
        <p:blipFill>
          <a:blip r:embed="rId2"/>
          <a:stretch>
            <a:fillRect/>
          </a:stretch>
        </p:blipFill>
        <p:spPr>
          <a:xfrm>
            <a:off x="10358405" y="624086"/>
            <a:ext cx="1115470" cy="796766"/>
          </a:xfrm>
          <a:prstGeom prst="rect">
            <a:avLst/>
          </a:prstGeom>
        </p:spPr>
      </p:pic>
      <p:pic>
        <p:nvPicPr>
          <p:cNvPr id="4" name="Picture 3">
            <a:extLst>
              <a:ext uri="{FF2B5EF4-FFF2-40B4-BE49-F238E27FC236}">
                <a16:creationId xmlns:a16="http://schemas.microsoft.com/office/drawing/2014/main" id="{79529421-652B-D64E-8C8A-C1FBA0CDD411}"/>
              </a:ext>
            </a:extLst>
          </p:cNvPr>
          <p:cNvPicPr>
            <a:picLocks noChangeAspect="1"/>
          </p:cNvPicPr>
          <p:nvPr/>
        </p:nvPicPr>
        <p:blipFill>
          <a:blip r:embed="rId3"/>
          <a:stretch>
            <a:fillRect/>
          </a:stretch>
        </p:blipFill>
        <p:spPr>
          <a:xfrm>
            <a:off x="3222914" y="3020755"/>
            <a:ext cx="8859486" cy="3591426"/>
          </a:xfrm>
          <a:prstGeom prst="rect">
            <a:avLst/>
          </a:prstGeom>
        </p:spPr>
      </p:pic>
    </p:spTree>
    <p:extLst>
      <p:ext uri="{BB962C8B-B14F-4D97-AF65-F5344CB8AC3E}">
        <p14:creationId xmlns:p14="http://schemas.microsoft.com/office/powerpoint/2010/main" val="24710976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1F61-0E93-FD51-53C1-270845B785BA}"/>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8ACA4EEB-6171-44FF-1BDD-867CC3C1E16A}"/>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pPr>
              <a:spcAft>
                <a:spcPts val="600"/>
              </a:spcAft>
            </a:pPr>
            <a:r>
              <a:rPr lang="en-US" sz="4400" kern="1200" dirty="0" err="1">
                <a:solidFill>
                  <a:schemeClr val="bg1"/>
                </a:solidFill>
                <a:latin typeface="+mj-lt"/>
                <a:ea typeface="+mj-ea"/>
                <a:cs typeface="+mj-cs"/>
              </a:rPr>
              <a:t>Streamlit</a:t>
            </a:r>
            <a:r>
              <a:rPr lang="en-US" sz="4400" kern="1200" dirty="0">
                <a:solidFill>
                  <a:schemeClr val="bg1"/>
                </a:solidFill>
                <a:latin typeface="+mj-lt"/>
                <a:ea typeface="+mj-ea"/>
                <a:cs typeface="+mj-cs"/>
              </a:rPr>
              <a:t> –NYC Uber Pickups Lab</a:t>
            </a:r>
          </a:p>
        </p:txBody>
      </p:sp>
      <p:sp>
        <p:nvSpPr>
          <p:cNvPr id="10" name="TextBox 9">
            <a:extLst>
              <a:ext uri="{FF2B5EF4-FFF2-40B4-BE49-F238E27FC236}">
                <a16:creationId xmlns:a16="http://schemas.microsoft.com/office/drawing/2014/main" id="{DF407A5D-B66E-4BD4-A1D5-F7D5A41A598D}"/>
              </a:ext>
            </a:extLst>
          </p:cNvPr>
          <p:cNvSpPr txBox="1"/>
          <p:nvPr/>
        </p:nvSpPr>
        <p:spPr>
          <a:xfrm>
            <a:off x="838200" y="1825625"/>
            <a:ext cx="5181600" cy="4351338"/>
          </a:xfrm>
          <a:prstGeom prst="rect">
            <a:avLst/>
          </a:prstGeom>
        </p:spPr>
        <p:txBody>
          <a:bodyPr vert="horz" lIns="91440" tIns="45720" rIns="91440" bIns="45720" rtlCol="0">
            <a:normAutofit/>
          </a:bodyPr>
          <a:lstStyle/>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r>
              <a:rPr lang="en-US" sz="2000" dirty="0">
                <a:solidFill>
                  <a:schemeClr val="bg1"/>
                </a:solidFill>
              </a:rPr>
              <a:t>Reflections – Comments – Questions?</a:t>
            </a:r>
          </a:p>
        </p:txBody>
      </p:sp>
      <p:pic>
        <p:nvPicPr>
          <p:cNvPr id="3074" name="Picture 2" descr="Answering the Question Behind the ...">
            <a:extLst>
              <a:ext uri="{FF2B5EF4-FFF2-40B4-BE49-F238E27FC236}">
                <a16:creationId xmlns:a16="http://schemas.microsoft.com/office/drawing/2014/main" id="{C7B5CB3A-179A-2FE8-4155-B0F990CA472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2200" y="2377483"/>
            <a:ext cx="5181600" cy="3247622"/>
          </a:xfrm>
          <a:prstGeom prst="rect">
            <a:avLst/>
          </a:prstGeom>
          <a:solidFill>
            <a:srgbClr val="FFFFFF"/>
          </a:solidFill>
        </p:spPr>
      </p:pic>
      <p:sp>
        <p:nvSpPr>
          <p:cNvPr id="3079" name="Slide Number Placeholder 4">
            <a:extLst>
              <a:ext uri="{FF2B5EF4-FFF2-40B4-BE49-F238E27FC236}">
                <a16:creationId xmlns:a16="http://schemas.microsoft.com/office/drawing/2014/main" id="{62AF224D-A452-90A6-4288-F68412CD49BB}"/>
              </a:ext>
            </a:extLst>
          </p:cNvPr>
          <p:cNvSpPr>
            <a:spLocks noGrp="1"/>
          </p:cNvSpPr>
          <p:nvPr>
            <p:ph type="sldNum" sz="quarter" idx="10"/>
          </p:nvPr>
        </p:nvSpPr>
        <p:spPr>
          <a:xfrm>
            <a:off x="11353800" y="6361475"/>
            <a:ext cx="838200" cy="360000"/>
          </a:xfrm>
        </p:spPr>
        <p:txBody>
          <a:bodyPr/>
          <a:lstStyle/>
          <a:p>
            <a:pPr>
              <a:spcAft>
                <a:spcPts val="600"/>
              </a:spcAft>
            </a:pPr>
            <a:r>
              <a:rPr lang="en-US"/>
              <a:t>PAGE </a:t>
            </a:r>
            <a:fld id="{4A9B5881-4007-4345-955A-79C2656F0C49}" type="slidenum">
              <a:rPr lang="en-US" smtClean="0"/>
              <a:pPr>
                <a:spcAft>
                  <a:spcPts val="600"/>
                </a:spcAft>
              </a:pPr>
              <a:t>35</a:t>
            </a:fld>
            <a:endParaRPr lang="en-US"/>
          </a:p>
        </p:txBody>
      </p:sp>
    </p:spTree>
    <p:extLst>
      <p:ext uri="{BB962C8B-B14F-4D97-AF65-F5344CB8AC3E}">
        <p14:creationId xmlns:p14="http://schemas.microsoft.com/office/powerpoint/2010/main" val="36587755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904E-1ED8-EE4A-A38E-D8E1ED7273B4}"/>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51A6AC91-688A-0DF6-433A-D5FD9C9A4D1D}"/>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Publish to Community Cloud</a:t>
            </a:r>
          </a:p>
        </p:txBody>
      </p:sp>
      <p:sp>
        <p:nvSpPr>
          <p:cNvPr id="10" name="TextBox 9">
            <a:extLst>
              <a:ext uri="{FF2B5EF4-FFF2-40B4-BE49-F238E27FC236}">
                <a16:creationId xmlns:a16="http://schemas.microsoft.com/office/drawing/2014/main" id="{82775FA8-BE26-A299-9963-ACC2E0477D56}"/>
              </a:ext>
            </a:extLst>
          </p:cNvPr>
          <p:cNvSpPr txBox="1"/>
          <p:nvPr/>
        </p:nvSpPr>
        <p:spPr>
          <a:xfrm>
            <a:off x="607039" y="1635760"/>
            <a:ext cx="11160418" cy="4832092"/>
          </a:xfrm>
          <a:prstGeom prst="rect">
            <a:avLst/>
          </a:prstGeom>
          <a:noFill/>
        </p:spPr>
        <p:txBody>
          <a:bodyPr wrap="square" rtlCol="0">
            <a:spAutoFit/>
          </a:bodyPr>
          <a:lstStyle/>
          <a:p>
            <a:r>
              <a:rPr lang="en-US" sz="2800" dirty="0">
                <a:solidFill>
                  <a:schemeClr val="bg1"/>
                </a:solidFill>
              </a:rPr>
              <a:t>Now let's publish our Uber pickups app to </a:t>
            </a:r>
            <a:r>
              <a:rPr lang="en-US" sz="2800" dirty="0" err="1">
                <a:solidFill>
                  <a:schemeClr val="bg1"/>
                </a:solidFill>
              </a:rPr>
              <a:t>Streamlit's</a:t>
            </a:r>
            <a:r>
              <a:rPr lang="en-US" sz="2800" dirty="0">
                <a:solidFill>
                  <a:schemeClr val="bg1"/>
                </a:solidFill>
              </a:rPr>
              <a:t> Community Cloud</a:t>
            </a:r>
          </a:p>
          <a:p>
            <a:endParaRPr lang="en-US" sz="2800" dirty="0">
              <a:solidFill>
                <a:schemeClr val="bg1"/>
              </a:solidFill>
            </a:endParaRPr>
          </a:p>
          <a:p>
            <a:r>
              <a:rPr lang="en-US" sz="2800" dirty="0">
                <a:solidFill>
                  <a:schemeClr val="bg1"/>
                </a:solidFill>
              </a:rPr>
              <a:t>First, you need a </a:t>
            </a:r>
            <a:r>
              <a:rPr lang="en-US" sz="2800" dirty="0" err="1">
                <a:solidFill>
                  <a:schemeClr val="bg1"/>
                </a:solidFill>
              </a:rPr>
              <a:t>github</a:t>
            </a:r>
            <a:r>
              <a:rPr lang="en-US" sz="2800" dirty="0">
                <a:solidFill>
                  <a:schemeClr val="bg1"/>
                </a:solidFill>
              </a:rPr>
              <a:t>, and a new </a:t>
            </a:r>
            <a:r>
              <a:rPr lang="en-US" sz="2800" dirty="0" err="1">
                <a:solidFill>
                  <a:schemeClr val="bg1"/>
                </a:solidFill>
              </a:rPr>
              <a:t>github</a:t>
            </a:r>
            <a:r>
              <a:rPr lang="en-US" sz="2800" dirty="0">
                <a:solidFill>
                  <a:schemeClr val="bg1"/>
                </a:solidFill>
              </a:rPr>
              <a:t> repository.</a:t>
            </a:r>
          </a:p>
          <a:p>
            <a:endParaRPr lang="en-US" sz="2800" dirty="0">
              <a:solidFill>
                <a:schemeClr val="bg1"/>
              </a:solidFill>
            </a:endParaRPr>
          </a:p>
          <a:p>
            <a:r>
              <a:rPr lang="en-US" sz="2800" dirty="0">
                <a:solidFill>
                  <a:schemeClr val="bg1"/>
                </a:solidFill>
              </a:rPr>
              <a:t>&gt; If you don't have a </a:t>
            </a:r>
            <a:r>
              <a:rPr lang="en-US" sz="2800" dirty="0" err="1">
                <a:solidFill>
                  <a:schemeClr val="bg1"/>
                </a:solidFill>
              </a:rPr>
              <a:t>github</a:t>
            </a:r>
            <a:r>
              <a:rPr lang="en-US" sz="2800" dirty="0">
                <a:solidFill>
                  <a:schemeClr val="bg1"/>
                </a:solidFill>
              </a:rPr>
              <a:t>, navigate to github.com and either sign in if you have a </a:t>
            </a:r>
            <a:r>
              <a:rPr lang="en-US" sz="2800" dirty="0" err="1">
                <a:solidFill>
                  <a:schemeClr val="bg1"/>
                </a:solidFill>
              </a:rPr>
              <a:t>github</a:t>
            </a:r>
            <a:r>
              <a:rPr lang="en-US" sz="2800" dirty="0">
                <a:solidFill>
                  <a:schemeClr val="bg1"/>
                </a:solidFill>
              </a:rPr>
              <a:t> account, or sign up if you need to create one.</a:t>
            </a:r>
            <a:br>
              <a:rPr lang="en-US" sz="2800" dirty="0">
                <a:solidFill>
                  <a:schemeClr val="bg1"/>
                </a:solidFill>
              </a:rPr>
            </a:br>
            <a:r>
              <a:rPr lang="en-US" sz="2800" dirty="0">
                <a:solidFill>
                  <a:schemeClr val="bg1"/>
                </a:solidFill>
              </a:rPr>
              <a:t>&gt; Create a new repository.  Navigate to Repositories and click New.</a:t>
            </a:r>
            <a:br>
              <a:rPr lang="en-US" sz="2800" dirty="0">
                <a:solidFill>
                  <a:schemeClr val="bg1"/>
                </a:solidFill>
              </a:rPr>
            </a:br>
            <a:r>
              <a:rPr lang="en-US" sz="2800" dirty="0">
                <a:solidFill>
                  <a:schemeClr val="bg1"/>
                </a:solidFill>
              </a:rPr>
              <a:t>&gt; Name your repository.  I suggest "</a:t>
            </a:r>
            <a:r>
              <a:rPr lang="en-US" sz="2800" dirty="0" err="1">
                <a:solidFill>
                  <a:schemeClr val="bg1"/>
                </a:solidFill>
              </a:rPr>
              <a:t>streamlit</a:t>
            </a:r>
            <a:r>
              <a:rPr lang="en-US" sz="2800" dirty="0">
                <a:solidFill>
                  <a:schemeClr val="bg1"/>
                </a:solidFill>
              </a:rPr>
              <a:t>".  Make it public.  </a:t>
            </a:r>
            <a:br>
              <a:rPr lang="en-US" sz="2800" dirty="0">
                <a:solidFill>
                  <a:schemeClr val="bg1"/>
                </a:solidFill>
              </a:rPr>
            </a:br>
            <a:r>
              <a:rPr lang="en-US" sz="2800" dirty="0">
                <a:solidFill>
                  <a:schemeClr val="bg1"/>
                </a:solidFill>
              </a:rPr>
              <a:t>&gt; Click "Create repository"</a:t>
            </a:r>
          </a:p>
          <a:p>
            <a:endParaRPr lang="en-US" sz="2800" dirty="0">
              <a:solidFill>
                <a:schemeClr val="bg1"/>
              </a:solidFill>
            </a:endParaRPr>
          </a:p>
          <a:p>
            <a:r>
              <a:rPr lang="en-US" sz="2800" dirty="0">
                <a:solidFill>
                  <a:schemeClr val="bg1"/>
                </a:solidFill>
              </a:rPr>
              <a:t>(Instructor to Demo)</a:t>
            </a:r>
            <a:endParaRPr lang="en-US" sz="2000" dirty="0">
              <a:solidFill>
                <a:schemeClr val="bg1"/>
              </a:solidFill>
            </a:endParaRPr>
          </a:p>
        </p:txBody>
      </p:sp>
    </p:spTree>
    <p:extLst>
      <p:ext uri="{BB962C8B-B14F-4D97-AF65-F5344CB8AC3E}">
        <p14:creationId xmlns:p14="http://schemas.microsoft.com/office/powerpoint/2010/main" val="21493432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B1F7-78CD-B6BE-BB6E-A0E335AD6FC3}"/>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1B020A6F-516C-3448-F516-72F37537F6FC}"/>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Publish to Community Cloud</a:t>
            </a:r>
          </a:p>
        </p:txBody>
      </p:sp>
      <p:sp>
        <p:nvSpPr>
          <p:cNvPr id="10" name="TextBox 9">
            <a:extLst>
              <a:ext uri="{FF2B5EF4-FFF2-40B4-BE49-F238E27FC236}">
                <a16:creationId xmlns:a16="http://schemas.microsoft.com/office/drawing/2014/main" id="{A1D81BBF-B3A1-CD22-C731-F664AEEE6775}"/>
              </a:ext>
            </a:extLst>
          </p:cNvPr>
          <p:cNvSpPr txBox="1"/>
          <p:nvPr/>
        </p:nvSpPr>
        <p:spPr>
          <a:xfrm>
            <a:off x="607039" y="1635760"/>
            <a:ext cx="11160418" cy="3539430"/>
          </a:xfrm>
          <a:prstGeom prst="rect">
            <a:avLst/>
          </a:prstGeom>
          <a:noFill/>
        </p:spPr>
        <p:txBody>
          <a:bodyPr wrap="square" rtlCol="0">
            <a:spAutoFit/>
          </a:bodyPr>
          <a:lstStyle/>
          <a:p>
            <a:r>
              <a:rPr lang="en-US" sz="2800" dirty="0">
                <a:solidFill>
                  <a:schemeClr val="bg1"/>
                </a:solidFill>
              </a:rPr>
              <a:t>Once you're in your repository….Now you need to add your </a:t>
            </a:r>
            <a:r>
              <a:rPr lang="en-US" sz="2800" dirty="0" err="1">
                <a:solidFill>
                  <a:schemeClr val="bg1"/>
                </a:solidFill>
              </a:rPr>
              <a:t>streamlit</a:t>
            </a:r>
            <a:r>
              <a:rPr lang="en-US" sz="2800" dirty="0">
                <a:solidFill>
                  <a:schemeClr val="bg1"/>
                </a:solidFill>
              </a:rPr>
              <a:t> python file.</a:t>
            </a:r>
          </a:p>
          <a:p>
            <a:br>
              <a:rPr lang="en-US" sz="2800" dirty="0">
                <a:solidFill>
                  <a:schemeClr val="bg1"/>
                </a:solidFill>
              </a:rPr>
            </a:br>
            <a:r>
              <a:rPr lang="en-US" sz="2800" dirty="0">
                <a:solidFill>
                  <a:schemeClr val="bg1"/>
                </a:solidFill>
              </a:rPr>
              <a:t>&gt; Click "Add File" &gt; "Create new file"</a:t>
            </a:r>
            <a:br>
              <a:rPr lang="en-US" sz="2800" dirty="0">
                <a:solidFill>
                  <a:schemeClr val="bg1"/>
                </a:solidFill>
              </a:rPr>
            </a:br>
            <a:r>
              <a:rPr lang="en-US" sz="2800" dirty="0">
                <a:solidFill>
                  <a:schemeClr val="bg1"/>
                </a:solidFill>
              </a:rPr>
              <a:t>&gt; Name the file "uber_nyc_pickups.py"</a:t>
            </a:r>
          </a:p>
          <a:p>
            <a:r>
              <a:rPr lang="en-US" sz="2800" dirty="0">
                <a:solidFill>
                  <a:schemeClr val="bg1"/>
                </a:solidFill>
              </a:rPr>
              <a:t>&gt; Copy/Paste your app.py code from the </a:t>
            </a:r>
            <a:r>
              <a:rPr lang="en-US" sz="2800" dirty="0" err="1">
                <a:solidFill>
                  <a:schemeClr val="bg1"/>
                </a:solidFill>
              </a:rPr>
              <a:t>colab</a:t>
            </a:r>
            <a:r>
              <a:rPr lang="en-US" sz="2800" dirty="0">
                <a:solidFill>
                  <a:schemeClr val="bg1"/>
                </a:solidFill>
              </a:rPr>
              <a:t> notebook to here.</a:t>
            </a:r>
          </a:p>
          <a:p>
            <a:endParaRPr lang="en-US" sz="2800" dirty="0">
              <a:solidFill>
                <a:schemeClr val="bg1"/>
              </a:solidFill>
            </a:endParaRPr>
          </a:p>
          <a:p>
            <a:r>
              <a:rPr lang="en-US" sz="2800" dirty="0">
                <a:solidFill>
                  <a:schemeClr val="bg1"/>
                </a:solidFill>
              </a:rPr>
              <a:t>(Instructor to Demo)</a:t>
            </a:r>
            <a:endParaRPr lang="en-US" sz="2000" dirty="0">
              <a:solidFill>
                <a:schemeClr val="bg1"/>
              </a:solidFill>
            </a:endParaRPr>
          </a:p>
        </p:txBody>
      </p:sp>
    </p:spTree>
    <p:extLst>
      <p:ext uri="{BB962C8B-B14F-4D97-AF65-F5344CB8AC3E}">
        <p14:creationId xmlns:p14="http://schemas.microsoft.com/office/powerpoint/2010/main" val="67866152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7945F-0536-0418-679F-F408BBEE3F3A}"/>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357EE662-4772-6CA4-FB4B-EC11BC8545FF}"/>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Publish to Community Cloud</a:t>
            </a:r>
          </a:p>
        </p:txBody>
      </p:sp>
      <p:sp>
        <p:nvSpPr>
          <p:cNvPr id="10" name="TextBox 9">
            <a:extLst>
              <a:ext uri="{FF2B5EF4-FFF2-40B4-BE49-F238E27FC236}">
                <a16:creationId xmlns:a16="http://schemas.microsoft.com/office/drawing/2014/main" id="{49BA35B6-96C8-6FAB-C43D-E9726593F479}"/>
              </a:ext>
            </a:extLst>
          </p:cNvPr>
          <p:cNvSpPr txBox="1"/>
          <p:nvPr/>
        </p:nvSpPr>
        <p:spPr>
          <a:xfrm>
            <a:off x="607039" y="1635760"/>
            <a:ext cx="11160418" cy="5016758"/>
          </a:xfrm>
          <a:prstGeom prst="rect">
            <a:avLst/>
          </a:prstGeom>
          <a:noFill/>
        </p:spPr>
        <p:txBody>
          <a:bodyPr wrap="square" rtlCol="0">
            <a:spAutoFit/>
          </a:bodyPr>
          <a:lstStyle/>
          <a:p>
            <a:r>
              <a:rPr lang="en-US" sz="2800" dirty="0">
                <a:solidFill>
                  <a:schemeClr val="bg1"/>
                </a:solidFill>
              </a:rPr>
              <a:t>Once you're in your repository….Now you need to add your </a:t>
            </a:r>
            <a:r>
              <a:rPr lang="en-US" sz="2800" dirty="0" err="1">
                <a:solidFill>
                  <a:schemeClr val="bg1"/>
                </a:solidFill>
              </a:rPr>
              <a:t>streamlit</a:t>
            </a:r>
            <a:r>
              <a:rPr lang="en-US" sz="2800" dirty="0">
                <a:solidFill>
                  <a:schemeClr val="bg1"/>
                </a:solidFill>
              </a:rPr>
              <a:t> python file.</a:t>
            </a:r>
          </a:p>
          <a:p>
            <a:r>
              <a:rPr lang="en-US" sz="2400" dirty="0">
                <a:solidFill>
                  <a:schemeClr val="bg1"/>
                </a:solidFill>
              </a:rPr>
              <a:t>&gt; Navigate to </a:t>
            </a:r>
            <a:r>
              <a:rPr lang="en-US" sz="2400" dirty="0">
                <a:solidFill>
                  <a:schemeClr val="bg1"/>
                </a:solidFill>
                <a:hlinkClick r:id="rId2"/>
              </a:rPr>
              <a:t>https://share.streamlit.io</a:t>
            </a:r>
            <a:endParaRPr lang="en-US" sz="2400" dirty="0">
              <a:solidFill>
                <a:schemeClr val="bg1"/>
              </a:solidFill>
            </a:endParaRPr>
          </a:p>
          <a:p>
            <a:r>
              <a:rPr lang="en-US" sz="2400" dirty="0">
                <a:solidFill>
                  <a:schemeClr val="bg1"/>
                </a:solidFill>
              </a:rPr>
              <a:t>&gt; Click "Continue to sign-in" and use your same google account that you used for the </a:t>
            </a:r>
            <a:r>
              <a:rPr lang="en-US" sz="2400" dirty="0" err="1">
                <a:solidFill>
                  <a:schemeClr val="bg1"/>
                </a:solidFill>
              </a:rPr>
              <a:t>github</a:t>
            </a:r>
            <a:r>
              <a:rPr lang="en-US" sz="2400" dirty="0">
                <a:solidFill>
                  <a:schemeClr val="bg1"/>
                </a:solidFill>
              </a:rPr>
              <a:t>.</a:t>
            </a:r>
          </a:p>
          <a:p>
            <a:r>
              <a:rPr lang="en-US" sz="2400" dirty="0">
                <a:solidFill>
                  <a:schemeClr val="bg1"/>
                </a:solidFill>
              </a:rPr>
              <a:t>&gt; Click "Create App" at top/right of screen.</a:t>
            </a:r>
            <a:br>
              <a:rPr lang="en-US" sz="2400" dirty="0">
                <a:solidFill>
                  <a:schemeClr val="bg1"/>
                </a:solidFill>
              </a:rPr>
            </a:br>
            <a:r>
              <a:rPr lang="en-US" sz="2400" dirty="0">
                <a:solidFill>
                  <a:schemeClr val="bg1"/>
                </a:solidFill>
              </a:rPr>
              <a:t>&gt; Select "Deploy a public app from </a:t>
            </a:r>
            <a:r>
              <a:rPr lang="en-US" sz="2400" dirty="0" err="1">
                <a:solidFill>
                  <a:schemeClr val="bg1"/>
                </a:solidFill>
              </a:rPr>
              <a:t>Github</a:t>
            </a:r>
            <a:r>
              <a:rPr lang="en-US" sz="2400" dirty="0">
                <a:solidFill>
                  <a:schemeClr val="bg1"/>
                </a:solidFill>
              </a:rPr>
              <a:t>"</a:t>
            </a:r>
            <a:br>
              <a:rPr lang="en-US" sz="2400" dirty="0">
                <a:solidFill>
                  <a:schemeClr val="bg1"/>
                </a:solidFill>
              </a:rPr>
            </a:br>
            <a:r>
              <a:rPr lang="en-US" sz="2400" dirty="0">
                <a:solidFill>
                  <a:schemeClr val="bg1"/>
                </a:solidFill>
              </a:rPr>
              <a:t>&gt; Pick the repository we just created from dropdown</a:t>
            </a:r>
            <a:br>
              <a:rPr lang="en-US" sz="2400" dirty="0">
                <a:solidFill>
                  <a:schemeClr val="bg1"/>
                </a:solidFill>
              </a:rPr>
            </a:br>
            <a:r>
              <a:rPr lang="en-US" sz="2400" dirty="0">
                <a:solidFill>
                  <a:schemeClr val="bg1"/>
                </a:solidFill>
              </a:rPr>
              <a:t>&gt; Branch = main should be OK</a:t>
            </a:r>
            <a:br>
              <a:rPr lang="en-US" sz="2400" dirty="0">
                <a:solidFill>
                  <a:schemeClr val="bg1"/>
                </a:solidFill>
              </a:rPr>
            </a:br>
            <a:r>
              <a:rPr lang="en-US" sz="2400" dirty="0">
                <a:solidFill>
                  <a:schemeClr val="bg1"/>
                </a:solidFill>
              </a:rPr>
              <a:t>&gt; Main file path = select the uber_nyc_pickups.py</a:t>
            </a:r>
          </a:p>
          <a:p>
            <a:r>
              <a:rPr lang="en-US" sz="2400" dirty="0">
                <a:solidFill>
                  <a:schemeClr val="bg1"/>
                </a:solidFill>
              </a:rPr>
              <a:t>&gt; Note the app URL.  Don't change it.  Click Deploy.</a:t>
            </a:r>
          </a:p>
          <a:p>
            <a:br>
              <a:rPr lang="en-US" sz="2400" dirty="0">
                <a:solidFill>
                  <a:schemeClr val="bg1"/>
                </a:solidFill>
              </a:rPr>
            </a:br>
            <a:r>
              <a:rPr lang="en-US" sz="2400" dirty="0">
                <a:solidFill>
                  <a:schemeClr val="bg1"/>
                </a:solidFill>
              </a:rPr>
              <a:t>(Instructor to Demo)</a:t>
            </a:r>
            <a:endParaRPr lang="en-US" sz="2000" dirty="0">
              <a:solidFill>
                <a:schemeClr val="bg1"/>
              </a:solidFill>
            </a:endParaRPr>
          </a:p>
        </p:txBody>
      </p:sp>
    </p:spTree>
    <p:extLst>
      <p:ext uri="{BB962C8B-B14F-4D97-AF65-F5344CB8AC3E}">
        <p14:creationId xmlns:p14="http://schemas.microsoft.com/office/powerpoint/2010/main" val="126602887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245A8-4E08-AC25-A5ED-D5DE4F721F47}"/>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6AE68E4A-724F-8190-24B2-EB8F3335618B}"/>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Publish to Community Cloud</a:t>
            </a:r>
          </a:p>
        </p:txBody>
      </p:sp>
      <p:sp>
        <p:nvSpPr>
          <p:cNvPr id="10" name="TextBox 9">
            <a:extLst>
              <a:ext uri="{FF2B5EF4-FFF2-40B4-BE49-F238E27FC236}">
                <a16:creationId xmlns:a16="http://schemas.microsoft.com/office/drawing/2014/main" id="{75FCDD98-E25B-037B-3343-7DAEDE4E7C2E}"/>
              </a:ext>
            </a:extLst>
          </p:cNvPr>
          <p:cNvSpPr txBox="1"/>
          <p:nvPr/>
        </p:nvSpPr>
        <p:spPr>
          <a:xfrm>
            <a:off x="607039" y="1635760"/>
            <a:ext cx="11160418" cy="769441"/>
          </a:xfrm>
          <a:prstGeom prst="rect">
            <a:avLst/>
          </a:prstGeom>
          <a:noFill/>
        </p:spPr>
        <p:txBody>
          <a:bodyPr wrap="square" rtlCol="0">
            <a:spAutoFit/>
          </a:bodyPr>
          <a:lstStyle/>
          <a:p>
            <a:r>
              <a:rPr lang="en-US" sz="4400" dirty="0">
                <a:solidFill>
                  <a:schemeClr val="bg1"/>
                </a:solidFill>
              </a:rPr>
              <a:t>Bazinga!</a:t>
            </a:r>
            <a:endParaRPr lang="en-US" sz="3600" dirty="0">
              <a:solidFill>
                <a:schemeClr val="bg1"/>
              </a:solidFill>
            </a:endParaRPr>
          </a:p>
        </p:txBody>
      </p:sp>
      <p:pic>
        <p:nvPicPr>
          <p:cNvPr id="3" name="Picture 2">
            <a:extLst>
              <a:ext uri="{FF2B5EF4-FFF2-40B4-BE49-F238E27FC236}">
                <a16:creationId xmlns:a16="http://schemas.microsoft.com/office/drawing/2014/main" id="{15756F3A-0B20-C79E-088A-031997726F45}"/>
              </a:ext>
            </a:extLst>
          </p:cNvPr>
          <p:cNvPicPr>
            <a:picLocks noChangeAspect="1"/>
          </p:cNvPicPr>
          <p:nvPr/>
        </p:nvPicPr>
        <p:blipFill>
          <a:blip r:embed="rId2"/>
          <a:stretch>
            <a:fillRect/>
          </a:stretch>
        </p:blipFill>
        <p:spPr>
          <a:xfrm>
            <a:off x="2611158" y="2534895"/>
            <a:ext cx="8973802" cy="4001058"/>
          </a:xfrm>
          <a:prstGeom prst="rect">
            <a:avLst/>
          </a:prstGeom>
        </p:spPr>
      </p:pic>
    </p:spTree>
    <p:extLst>
      <p:ext uri="{BB962C8B-B14F-4D97-AF65-F5344CB8AC3E}">
        <p14:creationId xmlns:p14="http://schemas.microsoft.com/office/powerpoint/2010/main" val="136977256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EE4E2-F261-0DDF-BFDC-E57EFEFED364}"/>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EC8B755E-8EF6-7C30-18FC-F1565488BC5D}"/>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Publish to Community Cloud</a:t>
            </a:r>
          </a:p>
        </p:txBody>
      </p:sp>
      <p:sp>
        <p:nvSpPr>
          <p:cNvPr id="10" name="TextBox 9">
            <a:extLst>
              <a:ext uri="{FF2B5EF4-FFF2-40B4-BE49-F238E27FC236}">
                <a16:creationId xmlns:a16="http://schemas.microsoft.com/office/drawing/2014/main" id="{383CC1E2-CD33-28F1-D7EF-CA91D16619AF}"/>
              </a:ext>
            </a:extLst>
          </p:cNvPr>
          <p:cNvSpPr txBox="1"/>
          <p:nvPr/>
        </p:nvSpPr>
        <p:spPr>
          <a:xfrm>
            <a:off x="607039" y="1635760"/>
            <a:ext cx="11160418" cy="4708981"/>
          </a:xfrm>
          <a:prstGeom prst="rect">
            <a:avLst/>
          </a:prstGeom>
          <a:noFill/>
        </p:spPr>
        <p:txBody>
          <a:bodyPr wrap="square" rtlCol="0">
            <a:spAutoFit/>
          </a:bodyPr>
          <a:lstStyle/>
          <a:p>
            <a:r>
              <a:rPr lang="en-US" sz="2800" dirty="0">
                <a:solidFill>
                  <a:schemeClr val="bg1"/>
                </a:solidFill>
              </a:rPr>
              <a:t>Now, let's go back to </a:t>
            </a:r>
            <a:r>
              <a:rPr lang="en-US" sz="2800" dirty="0" err="1">
                <a:solidFill>
                  <a:schemeClr val="bg1"/>
                </a:solidFill>
              </a:rPr>
              <a:t>github</a:t>
            </a:r>
            <a:r>
              <a:rPr lang="en-US" sz="2800" dirty="0">
                <a:solidFill>
                  <a:schemeClr val="bg1"/>
                </a:solidFill>
              </a:rPr>
              <a:t>, and update the code.</a:t>
            </a:r>
          </a:p>
          <a:p>
            <a:r>
              <a:rPr lang="en-US" sz="2800" dirty="0">
                <a:solidFill>
                  <a:schemeClr val="bg1"/>
                </a:solidFill>
              </a:rPr>
              <a:t>Keep both the app browser window and </a:t>
            </a:r>
            <a:r>
              <a:rPr lang="en-US" sz="2800" dirty="0" err="1">
                <a:solidFill>
                  <a:schemeClr val="bg1"/>
                </a:solidFill>
              </a:rPr>
              <a:t>github</a:t>
            </a:r>
            <a:r>
              <a:rPr lang="en-US" sz="2800" dirty="0">
                <a:solidFill>
                  <a:schemeClr val="bg1"/>
                </a:solidFill>
              </a:rPr>
              <a:t> windows open at the same time if you can.</a:t>
            </a:r>
          </a:p>
          <a:p>
            <a:endParaRPr lang="en-US" sz="2800" dirty="0">
              <a:solidFill>
                <a:schemeClr val="bg1"/>
              </a:solidFill>
            </a:endParaRPr>
          </a:p>
          <a:p>
            <a:r>
              <a:rPr lang="en-US" sz="2800" dirty="0">
                <a:solidFill>
                  <a:schemeClr val="bg1"/>
                </a:solidFill>
              </a:rPr>
              <a:t>&gt; Navigate in </a:t>
            </a:r>
            <a:r>
              <a:rPr lang="en-US" sz="2800" dirty="0" err="1">
                <a:solidFill>
                  <a:schemeClr val="bg1"/>
                </a:solidFill>
              </a:rPr>
              <a:t>github</a:t>
            </a:r>
            <a:r>
              <a:rPr lang="en-US" sz="2800" dirty="0">
                <a:solidFill>
                  <a:schemeClr val="bg1"/>
                </a:solidFill>
              </a:rPr>
              <a:t> to your uber_nyc_pickups.py code file</a:t>
            </a:r>
            <a:br>
              <a:rPr lang="en-US" sz="2800" dirty="0">
                <a:solidFill>
                  <a:schemeClr val="bg1"/>
                </a:solidFill>
              </a:rPr>
            </a:br>
            <a:r>
              <a:rPr lang="en-US" sz="2800" dirty="0">
                <a:solidFill>
                  <a:schemeClr val="bg1"/>
                </a:solidFill>
              </a:rPr>
              <a:t>&gt; Click the "edit" pencil icon near the top right of the code window</a:t>
            </a:r>
            <a:br>
              <a:rPr lang="en-US" sz="2800" dirty="0">
                <a:solidFill>
                  <a:schemeClr val="bg1"/>
                </a:solidFill>
              </a:rPr>
            </a:br>
            <a:r>
              <a:rPr lang="en-US" sz="2800" dirty="0">
                <a:solidFill>
                  <a:schemeClr val="bg1"/>
                </a:solidFill>
              </a:rPr>
              <a:t>&gt; Change the title to 'Uber pickups in NYC – UPDATED'</a:t>
            </a:r>
            <a:br>
              <a:rPr lang="en-US" sz="2800" dirty="0">
                <a:solidFill>
                  <a:schemeClr val="bg1"/>
                </a:solidFill>
              </a:rPr>
            </a:br>
            <a:r>
              <a:rPr lang="en-US" sz="2800" dirty="0">
                <a:solidFill>
                  <a:schemeClr val="bg1"/>
                </a:solidFill>
              </a:rPr>
              <a:t>&gt; Click Commit Changes, then Commit Changes again on the popup window</a:t>
            </a:r>
            <a:br>
              <a:rPr lang="en-US" sz="2800" dirty="0">
                <a:solidFill>
                  <a:schemeClr val="bg1"/>
                </a:solidFill>
              </a:rPr>
            </a:br>
            <a:r>
              <a:rPr lang="en-US" sz="2800" dirty="0">
                <a:solidFill>
                  <a:schemeClr val="bg1"/>
                </a:solidFill>
              </a:rPr>
              <a:t>&gt; Look at your app browser window – it automatically updates!</a:t>
            </a:r>
            <a:endParaRPr lang="en-US" sz="2400" dirty="0">
              <a:solidFill>
                <a:schemeClr val="bg1"/>
              </a:solidFill>
            </a:endParaRPr>
          </a:p>
          <a:p>
            <a:br>
              <a:rPr lang="en-US" sz="2400" dirty="0">
                <a:solidFill>
                  <a:schemeClr val="bg1"/>
                </a:solidFill>
              </a:rPr>
            </a:br>
            <a:r>
              <a:rPr lang="en-US" sz="2400" dirty="0">
                <a:solidFill>
                  <a:schemeClr val="bg1"/>
                </a:solidFill>
              </a:rPr>
              <a:t>(Instructor to Demo)</a:t>
            </a:r>
            <a:endParaRPr lang="en-US" sz="2000" dirty="0">
              <a:solidFill>
                <a:schemeClr val="bg1"/>
              </a:solidFill>
            </a:endParaRPr>
          </a:p>
        </p:txBody>
      </p:sp>
    </p:spTree>
    <p:extLst>
      <p:ext uri="{BB962C8B-B14F-4D97-AF65-F5344CB8AC3E}">
        <p14:creationId xmlns:p14="http://schemas.microsoft.com/office/powerpoint/2010/main" val="22159756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D3AC2-9036-1B69-E677-48191C63E99F}"/>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F31F4146-A809-1052-7757-0132CDBBCAB4}"/>
              </a:ext>
            </a:extLst>
          </p:cNvPr>
          <p:cNvSpPr txBox="1">
            <a:spLocks/>
          </p:cNvSpPr>
          <p:nvPr/>
        </p:nvSpPr>
        <p:spPr>
          <a:xfrm>
            <a:off x="607039" y="624086"/>
            <a:ext cx="10977921" cy="796767"/>
          </a:xfrm>
          <a:prstGeom prst="rect">
            <a:avLst/>
          </a:prstGeom>
          <a:solidFill>
            <a:srgbClr val="0C5968"/>
          </a:solidFill>
        </p:spPr>
        <p:txBody>
          <a:bodyPr vert="horz" lIns="91440" tIns="45720" rIns="91440" bIns="45720" rtlCol="0" anchor="t">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r>
              <a:rPr lang="en-US" sz="4800" dirty="0" err="1">
                <a:solidFill>
                  <a:schemeClr val="bg1"/>
                </a:solidFill>
              </a:rPr>
              <a:t>Streamlit</a:t>
            </a:r>
            <a:r>
              <a:rPr lang="en-US" sz="4800" dirty="0">
                <a:solidFill>
                  <a:schemeClr val="bg1"/>
                </a:solidFill>
              </a:rPr>
              <a:t> – Publish to Community Cloud</a:t>
            </a:r>
          </a:p>
        </p:txBody>
      </p:sp>
      <p:sp>
        <p:nvSpPr>
          <p:cNvPr id="10" name="TextBox 9">
            <a:extLst>
              <a:ext uri="{FF2B5EF4-FFF2-40B4-BE49-F238E27FC236}">
                <a16:creationId xmlns:a16="http://schemas.microsoft.com/office/drawing/2014/main" id="{168AFBFD-1EF1-E538-C07A-7B9EEAA1781D}"/>
              </a:ext>
            </a:extLst>
          </p:cNvPr>
          <p:cNvSpPr txBox="1"/>
          <p:nvPr/>
        </p:nvSpPr>
        <p:spPr>
          <a:xfrm>
            <a:off x="607039" y="1635760"/>
            <a:ext cx="11160418" cy="769441"/>
          </a:xfrm>
          <a:prstGeom prst="rect">
            <a:avLst/>
          </a:prstGeom>
          <a:noFill/>
        </p:spPr>
        <p:txBody>
          <a:bodyPr wrap="square" rtlCol="0">
            <a:spAutoFit/>
          </a:bodyPr>
          <a:lstStyle/>
          <a:p>
            <a:r>
              <a:rPr lang="en-US" sz="4400" dirty="0">
                <a:solidFill>
                  <a:schemeClr val="bg1"/>
                </a:solidFill>
              </a:rPr>
              <a:t>Bazinga – UPDATED!</a:t>
            </a:r>
            <a:endParaRPr lang="en-US" sz="3600" dirty="0">
              <a:solidFill>
                <a:schemeClr val="bg1"/>
              </a:solidFill>
            </a:endParaRPr>
          </a:p>
        </p:txBody>
      </p:sp>
      <p:pic>
        <p:nvPicPr>
          <p:cNvPr id="4" name="Picture 3">
            <a:extLst>
              <a:ext uri="{FF2B5EF4-FFF2-40B4-BE49-F238E27FC236}">
                <a16:creationId xmlns:a16="http://schemas.microsoft.com/office/drawing/2014/main" id="{67F8D797-6CD2-76D6-A3B7-F829EEB596A6}"/>
              </a:ext>
            </a:extLst>
          </p:cNvPr>
          <p:cNvPicPr>
            <a:picLocks noChangeAspect="1"/>
          </p:cNvPicPr>
          <p:nvPr/>
        </p:nvPicPr>
        <p:blipFill>
          <a:blip r:embed="rId2"/>
          <a:stretch>
            <a:fillRect/>
          </a:stretch>
        </p:blipFill>
        <p:spPr>
          <a:xfrm>
            <a:off x="1215041" y="2485733"/>
            <a:ext cx="10850489" cy="4172532"/>
          </a:xfrm>
          <a:prstGeom prst="rect">
            <a:avLst/>
          </a:prstGeom>
        </p:spPr>
      </p:pic>
    </p:spTree>
    <p:extLst>
      <p:ext uri="{BB962C8B-B14F-4D97-AF65-F5344CB8AC3E}">
        <p14:creationId xmlns:p14="http://schemas.microsoft.com/office/powerpoint/2010/main" val="165219943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07A14-5FE9-0734-4922-700257770F5A}"/>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1F712BF4-FC30-1A4A-7B28-B5510F255D4D}"/>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b="0" i="0" kern="1200">
                <a:solidFill>
                  <a:schemeClr val="accent5"/>
                </a:solidFill>
                <a:latin typeface="+mj-lt"/>
                <a:ea typeface="+mj-ea"/>
                <a:cs typeface="+mj-cs"/>
              </a:defRPr>
            </a:lvl1pPr>
          </a:lstStyle>
          <a:p>
            <a:pPr>
              <a:spcAft>
                <a:spcPts val="600"/>
              </a:spcAft>
            </a:pPr>
            <a:r>
              <a:rPr lang="en-US" sz="4400" kern="1200" dirty="0" err="1">
                <a:solidFill>
                  <a:schemeClr val="bg1"/>
                </a:solidFill>
                <a:latin typeface="+mj-lt"/>
                <a:ea typeface="+mj-ea"/>
                <a:cs typeface="+mj-cs"/>
              </a:rPr>
              <a:t>Streamlit</a:t>
            </a:r>
            <a:r>
              <a:rPr lang="en-US" sz="4400" kern="1200" dirty="0">
                <a:solidFill>
                  <a:schemeClr val="bg1"/>
                </a:solidFill>
                <a:latin typeface="+mj-lt"/>
                <a:ea typeface="+mj-ea"/>
                <a:cs typeface="+mj-cs"/>
              </a:rPr>
              <a:t> – Community Cloud Lab</a:t>
            </a:r>
          </a:p>
        </p:txBody>
      </p:sp>
      <p:sp>
        <p:nvSpPr>
          <p:cNvPr id="10" name="TextBox 9">
            <a:extLst>
              <a:ext uri="{FF2B5EF4-FFF2-40B4-BE49-F238E27FC236}">
                <a16:creationId xmlns:a16="http://schemas.microsoft.com/office/drawing/2014/main" id="{A2722999-594D-5EF2-E0CE-ED4DDC64D078}"/>
              </a:ext>
            </a:extLst>
          </p:cNvPr>
          <p:cNvSpPr txBox="1"/>
          <p:nvPr/>
        </p:nvSpPr>
        <p:spPr>
          <a:xfrm>
            <a:off x="838200" y="1825625"/>
            <a:ext cx="5181600" cy="4351338"/>
          </a:xfrm>
          <a:prstGeom prst="rect">
            <a:avLst/>
          </a:prstGeom>
        </p:spPr>
        <p:txBody>
          <a:bodyPr vert="horz" lIns="91440" tIns="45720" rIns="91440" bIns="45720" rtlCol="0">
            <a:normAutofit/>
          </a:bodyPr>
          <a:lstStyle/>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endParaRPr lang="en-US" sz="2000" dirty="0">
              <a:solidFill>
                <a:schemeClr val="bg1"/>
              </a:solidFill>
            </a:endParaRPr>
          </a:p>
          <a:p>
            <a:pPr marL="228600" indent="-228600">
              <a:lnSpc>
                <a:spcPct val="90000"/>
              </a:lnSpc>
              <a:spcBef>
                <a:spcPts val="1000"/>
              </a:spcBef>
              <a:buClr>
                <a:schemeClr val="accent2"/>
              </a:buClr>
              <a:buFont typeface="Wingdings" panose="05000000000000000000" pitchFamily="2" charset="2"/>
              <a:buChar char="§"/>
            </a:pPr>
            <a:r>
              <a:rPr lang="en-US" sz="2000" dirty="0">
                <a:solidFill>
                  <a:schemeClr val="bg1"/>
                </a:solidFill>
              </a:rPr>
              <a:t>Reflections – Comments – Questions?</a:t>
            </a:r>
          </a:p>
        </p:txBody>
      </p:sp>
      <p:pic>
        <p:nvPicPr>
          <p:cNvPr id="3074" name="Picture 2" descr="Answering the Question Behind the ...">
            <a:extLst>
              <a:ext uri="{FF2B5EF4-FFF2-40B4-BE49-F238E27FC236}">
                <a16:creationId xmlns:a16="http://schemas.microsoft.com/office/drawing/2014/main" id="{A51997CA-24A3-790B-A0C2-66F6FBAFCBD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2200" y="2377483"/>
            <a:ext cx="5181600" cy="3247622"/>
          </a:xfrm>
          <a:prstGeom prst="rect">
            <a:avLst/>
          </a:prstGeom>
          <a:solidFill>
            <a:srgbClr val="FFFFFF"/>
          </a:solidFill>
        </p:spPr>
      </p:pic>
      <p:sp>
        <p:nvSpPr>
          <p:cNvPr id="3079" name="Slide Number Placeholder 4">
            <a:extLst>
              <a:ext uri="{FF2B5EF4-FFF2-40B4-BE49-F238E27FC236}">
                <a16:creationId xmlns:a16="http://schemas.microsoft.com/office/drawing/2014/main" id="{2A7733AA-0F1F-EDD5-701D-1A038F05E887}"/>
              </a:ext>
            </a:extLst>
          </p:cNvPr>
          <p:cNvSpPr>
            <a:spLocks noGrp="1"/>
          </p:cNvSpPr>
          <p:nvPr>
            <p:ph type="sldNum" sz="quarter" idx="10"/>
          </p:nvPr>
        </p:nvSpPr>
        <p:spPr>
          <a:xfrm>
            <a:off x="11353800" y="6361475"/>
            <a:ext cx="838200" cy="360000"/>
          </a:xfrm>
        </p:spPr>
        <p:txBody>
          <a:bodyPr/>
          <a:lstStyle/>
          <a:p>
            <a:pPr>
              <a:spcAft>
                <a:spcPts val="600"/>
              </a:spcAft>
            </a:pPr>
            <a:r>
              <a:rPr lang="en-US"/>
              <a:t>PAGE </a:t>
            </a:r>
            <a:fld id="{4A9B5881-4007-4345-955A-79C2656F0C49}" type="slidenum">
              <a:rPr lang="en-US" smtClean="0"/>
              <a:pPr>
                <a:spcAft>
                  <a:spcPts val="600"/>
                </a:spcAft>
              </a:pPr>
              <a:t>42</a:t>
            </a:fld>
            <a:endParaRPr lang="en-US"/>
          </a:p>
        </p:txBody>
      </p:sp>
    </p:spTree>
    <p:extLst>
      <p:ext uri="{BB962C8B-B14F-4D97-AF65-F5344CB8AC3E}">
        <p14:creationId xmlns:p14="http://schemas.microsoft.com/office/powerpoint/2010/main" val="27726099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9CD3F-C547-401E-630D-25DC5865A4DD}"/>
              </a:ext>
            </a:extLst>
          </p:cNvPr>
          <p:cNvSpPr>
            <a:spLocks noGrp="1"/>
          </p:cNvSpPr>
          <p:nvPr>
            <p:ph type="title"/>
          </p:nvPr>
        </p:nvSpPr>
        <p:spPr/>
        <p:txBody>
          <a:bodyPr/>
          <a:lstStyle/>
          <a:p>
            <a:r>
              <a:rPr lang="en-US" dirty="0"/>
              <a:t>End</a:t>
            </a:r>
          </a:p>
        </p:txBody>
      </p:sp>
      <p:sp>
        <p:nvSpPr>
          <p:cNvPr id="4" name="Slide Number Placeholder 3">
            <a:extLst>
              <a:ext uri="{FF2B5EF4-FFF2-40B4-BE49-F238E27FC236}">
                <a16:creationId xmlns:a16="http://schemas.microsoft.com/office/drawing/2014/main" id="{2163CBF5-AB29-6792-9179-0EDBEF10D58D}"/>
              </a:ext>
            </a:extLst>
          </p:cNvPr>
          <p:cNvSpPr>
            <a:spLocks noGrp="1"/>
          </p:cNvSpPr>
          <p:nvPr>
            <p:ph type="sldNum" sz="quarter" idx="10"/>
          </p:nvPr>
        </p:nvSpPr>
        <p:spPr/>
        <p:txBody>
          <a:bodyPr/>
          <a:lstStyle/>
          <a:p>
            <a:r>
              <a:rPr lang="en-US"/>
              <a:t>PAGE </a:t>
            </a:r>
            <a:fld id="{4A9B5881-4007-4345-955A-79C2656F0C49}" type="slidenum">
              <a:rPr lang="en-US" smtClean="0"/>
              <a:pPr/>
              <a:t>43</a:t>
            </a:fld>
            <a:endParaRPr lang="en-US" dirty="0"/>
          </a:p>
        </p:txBody>
      </p:sp>
      <p:pic>
        <p:nvPicPr>
          <p:cNvPr id="5122" name="Picture 2" descr="Free Vectors | THE END (shaded text)">
            <a:extLst>
              <a:ext uri="{FF2B5EF4-FFF2-40B4-BE49-F238E27FC236}">
                <a16:creationId xmlns:a16="http://schemas.microsoft.com/office/drawing/2014/main" id="{36D14B9C-3E27-8F0E-B7C4-024A226BAA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3949" y="812800"/>
            <a:ext cx="6939643"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396348"/>
      </p:ext>
    </p:extLst>
  </p:cSld>
  <p:clrMapOvr>
    <a:masterClrMapping/>
  </p:clrMapOvr>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4098415_win32_fixed" id="{1E7205E9-DD76-422B-B9FD-343E9C2C894B}" vid="{008E2BBC-A2E4-4140-B026-F6CAB78406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C7B5194-E537-408E-9CFF-66A6141D5DE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FCFB5EA-1DDA-4423-A8FC-85579F36DE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F9969FA-0C19-40F2-9B6F-EADA7B231A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Classic corporate teach a course with animation</Template>
  <TotalTime>7432</TotalTime>
  <Words>2469</Words>
  <Application>Microsoft Office PowerPoint</Application>
  <PresentationFormat>Widescreen</PresentationFormat>
  <Paragraphs>251</Paragraphs>
  <Slides>43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Courier New</vt:lpstr>
      <vt:lpstr>Wingdings</vt:lpstr>
      <vt:lpstr>Office Theme</vt:lpstr>
      <vt:lpstr>Advanced Data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Santo</dc:creator>
  <cp:lastModifiedBy>Santo,Chris</cp:lastModifiedBy>
  <cp:revision>31</cp:revision>
  <dcterms:created xsi:type="dcterms:W3CDTF">2024-06-28T21:19:00Z</dcterms:created>
  <dcterms:modified xsi:type="dcterms:W3CDTF">2026-05-10T00:59:34Z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