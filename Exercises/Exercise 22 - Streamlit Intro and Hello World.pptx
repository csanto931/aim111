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328" r:id="rId6"/>
    <p:sldId id="296" r:id="rId7"/>
    <p:sldId id="376" r:id="rId8"/>
    <p:sldId id="377" r:id="rId9"/>
    <p:sldId id="354" r:id="rId10"/>
    <p:sldId id="430" r:id="rId11"/>
    <p:sldId id="378" r:id="rId12"/>
    <p:sldId id="379" r:id="rId13"/>
    <p:sldId id="380" r:id="rId14"/>
    <p:sldId id="381" r:id="rId15"/>
    <p:sldId id="383" r:id="rId16"/>
    <p:sldId id="384" r:id="rId17"/>
    <p:sldId id="382" r:id="rId18"/>
    <p:sldId id="385" r:id="rId19"/>
    <p:sldId id="386" r:id="rId20"/>
    <p:sldId id="387" r:id="rId21"/>
    <p:sldId id="397" r:id="rId22"/>
    <p:sldId id="394" r:id="rId23"/>
    <p:sldId id="431" r:id="rId24"/>
    <p:sldId id="32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5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712" autoAdjust="0"/>
  </p:normalViewPr>
  <p:slideViewPr>
    <p:cSldViewPr snapToGrid="0">
      <p:cViewPr varScale="1">
        <p:scale>
          <a:sx n="85" d="100"/>
          <a:sy n="85" d="100"/>
        </p:scale>
        <p:origin x="10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798B7E-6604-4F74-86DB-B30627D56244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8A1F-3E69-47E5-AE93-E7F2155A24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93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F28A1F-3E69-47E5-AE93-E7F2155A24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32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B13-3B32-4354-B2B5-3165F2F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611" y="1676409"/>
            <a:ext cx="3923999" cy="2436592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70000"/>
              </a:lnSpc>
              <a:defRPr sz="7200" spc="-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B88CF-DF4F-4857-8602-72BCF5DDCDA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873612" y="4611901"/>
            <a:ext cx="3924000" cy="684000"/>
          </a:xfrm>
        </p:spPr>
        <p:txBody>
          <a:bodyPr lIns="0" tIns="0" rIns="0" bIns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EBB7C-1679-4665-8688-1FA973E73DC1}"/>
              </a:ext>
            </a:extLst>
          </p:cNvPr>
          <p:cNvCxnSpPr/>
          <p:nvPr userDrawn="1"/>
        </p:nvCxnSpPr>
        <p:spPr>
          <a:xfrm>
            <a:off x="7874732" y="4373775"/>
            <a:ext cx="3924000" cy="0"/>
          </a:xfrm>
          <a:prstGeom prst="line">
            <a:avLst/>
          </a:prstGeom>
          <a:ln w="63500"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1E3214F-3A93-4A1C-920D-D86BE35A58FB}"/>
              </a:ext>
            </a:extLst>
          </p:cNvPr>
          <p:cNvSpPr/>
          <p:nvPr userDrawn="1"/>
        </p:nvSpPr>
        <p:spPr>
          <a:xfrm>
            <a:off x="0" y="1"/>
            <a:ext cx="7512000" cy="67214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97E5-C83B-444A-8C07-35D699E7C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641ECAC-0557-4843-8433-067E4414E2F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" y="0"/>
            <a:ext cx="7512001" cy="6727855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3943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38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36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7"/>
            <a:ext cx="6273800" cy="833663"/>
          </a:xfrm>
          <a:solidFill>
            <a:schemeClr val="accent2">
              <a:lumMod val="50000"/>
            </a:schemeClr>
          </a:solidFill>
        </p:spPr>
        <p:txBody>
          <a:bodyPr vert="horz" lIns="91440" tIns="108000" rIns="91440" bIns="108000" rtlCol="0" anchor="ctr">
            <a:spAutoFit/>
          </a:bodyPr>
          <a:lstStyle>
            <a:lvl1pPr>
              <a:defRPr lang="en-US" sz="40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5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D3C5ED2-B01D-4104-B193-BC78D76A464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305550" cy="6721475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 i="1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7974" y="611077"/>
            <a:ext cx="4695825" cy="833663"/>
          </a:xfrm>
          <a:solidFill>
            <a:schemeClr val="accent2">
              <a:lumMod val="50000"/>
            </a:schemeClr>
          </a:solidFill>
        </p:spPr>
        <p:txBody>
          <a:bodyPr wrap="square" tIns="108000" bIns="10800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974" y="1825625"/>
            <a:ext cx="4695826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04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D08-4E28-4191-9B62-EAD61608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4305300" cy="6721472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vert="horz" lIns="396000" tIns="0" rIns="396000" bIns="0" rtlCol="0" anchor="ctr">
            <a:noAutofit/>
          </a:bodyPr>
          <a:lstStyle>
            <a:lvl1pPr algn="r">
              <a:lnSpc>
                <a:spcPct val="70000"/>
              </a:lnSpc>
              <a:defRPr lang="en-US" sz="5200" b="0" spc="-150" dirty="0"/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365124"/>
            <a:ext cx="6648448" cy="5984875"/>
          </a:xfrm>
        </p:spPr>
        <p:txBody>
          <a:bodyPr lIns="108000" tIns="108000" rIns="108000" bIns="10800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5237DA4-112F-40B2-8C8C-EB23506D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2000" y="0"/>
            <a:ext cx="4680000" cy="6721473"/>
          </a:xfrm>
          <a:gradFill>
            <a:gsLst>
              <a:gs pos="1000">
                <a:schemeClr val="tx1">
                  <a:lumMod val="85000"/>
                  <a:lumOff val="1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2600000" scaled="0"/>
          </a:gradFill>
        </p:spPr>
        <p:txBody>
          <a:bodyPr lIns="396000" rIns="396000">
            <a:normAutofit/>
          </a:bodyPr>
          <a:lstStyle>
            <a:lvl1pPr>
              <a:lnSpc>
                <a:spcPct val="70000"/>
              </a:lnSpc>
              <a:defRPr sz="5200" spc="-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53D-76DB-46F3-AF6C-1E77C8E0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4"/>
            <a:ext cx="6156323" cy="5984875"/>
          </a:xfrm>
        </p:spPr>
        <p:txBody>
          <a:bodyPr lIns="108000" tIns="108000" rIns="108000" bIns="108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46CAFB-2B99-470B-B55B-9BF378E3A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9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D61A-B9FD-4DFF-AC42-4069DAFE2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8E6EF2-4B2F-4D0D-9505-CE9287297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350" y="611076"/>
            <a:ext cx="6648448" cy="5738923"/>
          </a:xfrm>
        </p:spPr>
        <p:txBody>
          <a:bodyPr lIns="108000" tIns="108000" rIns="108000" b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91A21B9-BA54-413B-940E-027C32E4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076"/>
            <a:ext cx="3440502" cy="2064769"/>
          </a:xfrm>
          <a:solidFill>
            <a:schemeClr val="accent2">
              <a:lumMod val="50000"/>
            </a:schemeClr>
          </a:solidFill>
        </p:spPr>
        <p:txBody>
          <a:bodyPr wrap="square" tIns="108000" bIns="108000" anchor="t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05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BDA7-8BE9-42D5-ACF1-0F51423A2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EF73F-3CCA-4312-8E9C-2B4629DA1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F716-502C-4821-A3A0-19C2C508EE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83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B651-5612-4E6A-9B35-A555D082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389A2-D77B-40CA-AD1E-0178AEFA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CA993-CBEA-48C5-BD35-50ABDFF64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ED8E0-95EC-469F-9B7E-562FBDFDE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34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6F88-2A37-410D-A685-E455AF3D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64B46-B015-44F7-8DC0-AFB8D275E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C8232-2077-497A-9142-B787E2B03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6077C-D913-4FD0-B6E0-6D70BEFD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05DBB-3AA9-4435-AC97-732293FDE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4C901-FCAF-4DFB-A621-6A969641C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45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2623-2255-4BBA-9577-B3A3FD2AE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59F0F0-5E7C-4FC9-8E90-6ADCD7A71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53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D3FFB-BE14-4D90-A515-10EDD1BEE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73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1E51-BE82-4B1B-9CB6-89C26464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BF8C-3CF7-47E6-9AB0-15584178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7DA3C-0298-45CF-AFC3-41031C07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4FF87-D01E-416B-9EF8-E107C4EDD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33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5851185-BC8F-4E3A-8DDD-F9AC4752588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99981" y="778850"/>
            <a:ext cx="5688013" cy="3506561"/>
          </a:xfrm>
          <a:custGeom>
            <a:avLst/>
            <a:gdLst>
              <a:gd name="connsiteX0" fmla="*/ 0 w 5688013"/>
              <a:gd name="connsiteY0" fmla="*/ 0 h 3506561"/>
              <a:gd name="connsiteX1" fmla="*/ 5688013 w 5688013"/>
              <a:gd name="connsiteY1" fmla="*/ 0 h 3506561"/>
              <a:gd name="connsiteX2" fmla="*/ 5688013 w 5688013"/>
              <a:gd name="connsiteY2" fmla="*/ 3506561 h 3506561"/>
              <a:gd name="connsiteX3" fmla="*/ 0 w 5688013"/>
              <a:gd name="connsiteY3" fmla="*/ 3506561 h 35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8013" h="3506561">
                <a:moveTo>
                  <a:pt x="0" y="0"/>
                </a:moveTo>
                <a:lnTo>
                  <a:pt x="5688013" y="0"/>
                </a:lnTo>
                <a:lnTo>
                  <a:pt x="5688013" y="3506561"/>
                </a:lnTo>
                <a:lnTo>
                  <a:pt x="0" y="350656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 dirty="0"/>
              <a:t>Photo Placeholders. 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0F0FE11-6E2B-408B-B478-B89A9280A3F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73534" y="1104518"/>
            <a:ext cx="5221224" cy="2587752"/>
          </a:xfrm>
        </p:spPr>
        <p:txBody>
          <a:bodyPr anchor="t"/>
          <a:lstStyle>
            <a:lvl1pPr>
              <a:defRPr sz="5400" b="0" i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8010824-0DBB-43F2-A9A7-1358D92209EB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6697270" y="4618487"/>
            <a:ext cx="4690872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7DF0A48-F214-4A96-B060-2BCB622DA46C}"/>
              </a:ext>
            </a:extLst>
          </p:cNvPr>
          <p:cNvSpPr>
            <a:spLocks noGrp="1"/>
          </p:cNvSpPr>
          <p:nvPr userDrawn="1">
            <p:ph type="body" sz="quarter" idx="21"/>
          </p:nvPr>
        </p:nvSpPr>
        <p:spPr>
          <a:xfrm>
            <a:off x="6697270" y="4911443"/>
            <a:ext cx="4690872" cy="1280160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8F17923-A5DA-4F59-AAE9-2AB2C70BFE5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3534" y="4045150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1E3980B-FDCC-42C2-8314-F77E7054CD0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3534" y="4339213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90E82F9-BF9E-48C1-B2CB-7463ABBDC2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3534" y="5295596"/>
            <a:ext cx="5221224" cy="274320"/>
          </a:xfrm>
        </p:spPr>
        <p:txBody>
          <a:bodyPr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5C3C59AB-D0EC-46D7-B5C4-B1BF8449C8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3534" y="5589659"/>
            <a:ext cx="5221224" cy="603504"/>
          </a:xfr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accent5"/>
                </a:solidFill>
              </a:defRPr>
            </a:lvl2pPr>
            <a:lvl3pPr>
              <a:defRPr sz="1200">
                <a:solidFill>
                  <a:schemeClr val="accent5"/>
                </a:solidFill>
              </a:defRPr>
            </a:lvl3pPr>
            <a:lvl4pPr>
              <a:defRPr sz="1200">
                <a:solidFill>
                  <a:schemeClr val="accent5"/>
                </a:solidFill>
              </a:defRPr>
            </a:lvl4pPr>
            <a:lvl5pPr>
              <a:defRPr sz="120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97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5968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8E4AFE-E166-4B84-B0C8-9205038D8033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17517-B672-49BA-AC6E-AB66D063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92C27-7843-4B22-9200-B7304E6AE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59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4F10-F75B-41A8-B994-BFF68949E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61475"/>
            <a:ext cx="838200" cy="360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D21E2-8DEB-4F43-A26E-B8DA900A923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92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65" r:id="rId4"/>
    <p:sldLayoutId id="2147483666" r:id="rId5"/>
    <p:sldLayoutId id="2147483650" r:id="rId6"/>
    <p:sldLayoutId id="2147483663" r:id="rId7"/>
    <p:sldLayoutId id="2147483664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68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treamlit.io/playground" TargetMode="Externa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uss.streamlit.io/t/streamlit-quests-getting-started-with-streamlit/33534" TargetMode="External"/><Relationship Id="rId2" Type="http://schemas.openxmlformats.org/officeDocument/2006/relationships/hyperlink" Target="https://www.youtube.com/watch?v=d7fnzDQ5qM8" TargetMode="Externa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C5037-DA4A-44E2-A9FB-84B14987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</a:t>
            </a:r>
            <a:br>
              <a:rPr lang="en-US" dirty="0"/>
            </a:br>
            <a:r>
              <a:rPr lang="en-US" dirty="0"/>
              <a:t>Data Analytics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97C2DB-90F2-4971-AC44-7CDDF5A3B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73612" y="4611901"/>
            <a:ext cx="4097994" cy="1749574"/>
          </a:xfrm>
        </p:spPr>
        <p:txBody>
          <a:bodyPr>
            <a:normAutofit/>
          </a:bodyPr>
          <a:lstStyle/>
          <a:p>
            <a:r>
              <a:rPr lang="en-US" sz="2000" dirty="0"/>
              <a:t>Instructor: Chris Santo</a:t>
            </a:r>
          </a:p>
          <a:p>
            <a:r>
              <a:rPr lang="en-US" sz="2000" dirty="0"/>
              <a:t>Using </a:t>
            </a:r>
            <a:r>
              <a:rPr lang="en-US" sz="2000" dirty="0" err="1"/>
              <a:t>Streamlit</a:t>
            </a:r>
            <a:r>
              <a:rPr lang="en-US" sz="2000" dirty="0"/>
              <a:t> and Python for</a:t>
            </a:r>
            <a:br>
              <a:rPr lang="en-US" sz="2000" dirty="0"/>
            </a:br>
            <a:r>
              <a:rPr lang="en-US" sz="2000" dirty="0"/>
              <a:t>Advanced Data Analytics</a:t>
            </a:r>
          </a:p>
          <a:p>
            <a:r>
              <a:rPr lang="en-US" sz="2000" dirty="0"/>
              <a:t>Wednesday 6/3/2026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6F5C050-EB87-421A-8A5C-E6CB30102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4A9B5881-4007-4345-955A-79C2656F0C4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028" name="Picture 4" descr="Why Use Python? - Full Stack Python">
            <a:extLst>
              <a:ext uri="{FF2B5EF4-FFF2-40B4-BE49-F238E27FC236}">
                <a16:creationId xmlns:a16="http://schemas.microsoft.com/office/drawing/2014/main" id="{EE4ABF62-7A77-0014-3B23-91DC27DF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15" y="152400"/>
            <a:ext cx="6452832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03B98B-2CC4-C151-F85F-93C92C16A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15" y="2260599"/>
            <a:ext cx="4181634" cy="4248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C36949-1A1E-5185-C512-B5E486C5F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828" y="2260600"/>
            <a:ext cx="2286319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5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430F-8D32-1136-87AF-FB5A19AA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1991B98E-6FEC-7B67-383A-B746D273A867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Goal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D4EBA-150C-DF62-EA18-7A4FB80D3CAA}"/>
              </a:ext>
            </a:extLst>
          </p:cNvPr>
          <p:cNvSpPr txBox="1"/>
          <p:nvPr/>
        </p:nvSpPr>
        <p:spPr>
          <a:xfrm>
            <a:off x="673534" y="2080260"/>
            <a:ext cx="112144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We will explore the </a:t>
            </a:r>
            <a:r>
              <a:rPr lang="en-US" sz="3200" dirty="0" err="1">
                <a:solidFill>
                  <a:schemeClr val="bg1"/>
                </a:solidFill>
              </a:rPr>
              <a:t>Streamlit</a:t>
            </a:r>
            <a:r>
              <a:rPr lang="en-US" sz="3200" dirty="0">
                <a:solidFill>
                  <a:schemeClr val="bg1"/>
                </a:solidFill>
              </a:rPr>
              <a:t> app framework in Python to develop interactive data apps.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  <a:p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86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DAEB1EDF-A769-B28A-A75F-3F1601A9F283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56BD6-34C1-48B3-8666-C26059DDE3C6}"/>
              </a:ext>
            </a:extLst>
          </p:cNvPr>
          <p:cNvSpPr txBox="1"/>
          <p:nvPr/>
        </p:nvSpPr>
        <p:spPr>
          <a:xfrm>
            <a:off x="607039" y="1635760"/>
            <a:ext cx="1144526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is an open-source app development framework that enables python developers to create full-featured and performant applications and primary "data apps" quickly, with only a few lines of code.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Used by over 90% of Fortune 50 companies.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For more information:</a:t>
            </a:r>
          </a:p>
          <a:p>
            <a:r>
              <a:rPr lang="en-US" sz="2800" dirty="0">
                <a:solidFill>
                  <a:schemeClr val="bg1"/>
                </a:solidFill>
                <a:hlinkClick r:id="rId2"/>
              </a:rPr>
              <a:t>https://streamlit.io/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3F075-78F2-94E8-6E8A-393817780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702C-D31D-632C-9129-B55A0DD6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087567B-CA36-D71E-7A21-3D8D589287F0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Playground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ECAE23-3234-4919-E516-27E32BBEC23D}"/>
              </a:ext>
            </a:extLst>
          </p:cNvPr>
          <p:cNvSpPr txBox="1"/>
          <p:nvPr/>
        </p:nvSpPr>
        <p:spPr>
          <a:xfrm>
            <a:off x="607039" y="1635760"/>
            <a:ext cx="1144526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Let's first take a look at a web-based playground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Access: (Instructor to Demo)</a:t>
            </a:r>
          </a:p>
          <a:p>
            <a:r>
              <a:rPr lang="en-US" sz="2800" dirty="0">
                <a:solidFill>
                  <a:schemeClr val="bg1"/>
                </a:solidFill>
                <a:hlinkClick r:id="rId2"/>
              </a:rPr>
              <a:t>https://streamlit.io/playground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DA2435-2045-6D23-7F56-DE27037F0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5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211F9-46FC-83B5-E97E-CCE6D36A8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657B9684-AC60-3601-3841-20AE8572145D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App Deployment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BA68A-4CB1-6DF9-7FE1-D082CF5F5919}"/>
              </a:ext>
            </a:extLst>
          </p:cNvPr>
          <p:cNvSpPr txBox="1"/>
          <p:nvPr/>
        </p:nvSpPr>
        <p:spPr>
          <a:xfrm>
            <a:off x="607039" y="1505132"/>
            <a:ext cx="114452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 apps are relatively easy to get going.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How do apps get deployed so they can be run by yourself and others?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Here are a few deployment methods: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Local Computer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from Anaconda/another Python environment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Run apps from your browser using a localhost URL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2"/>
                </a:solidFill>
              </a:rPr>
              <a:t>Streamlit</a:t>
            </a:r>
            <a:r>
              <a:rPr lang="en-US" sz="2400" b="1" dirty="0">
                <a:solidFill>
                  <a:schemeClr val="accent2"/>
                </a:solidFill>
              </a:rPr>
              <a:t> Community Cloud</a:t>
            </a:r>
            <a:r>
              <a:rPr lang="en-US" sz="2400" dirty="0">
                <a:solidFill>
                  <a:schemeClr val="bg1"/>
                </a:solidFill>
              </a:rPr>
              <a:t> public apps, totally free, needs a GitHub acct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Run apps from your browser, but can't restrict usage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Snowflake</a:t>
            </a:r>
            <a:r>
              <a:rPr lang="en-US" sz="2400" dirty="0">
                <a:solidFill>
                  <a:schemeClr val="bg1"/>
                </a:solidFill>
              </a:rPr>
              <a:t> enterprise-grade reliability and security, costs $$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2"/>
                </a:solidFill>
              </a:rPr>
              <a:t>Colab</a:t>
            </a:r>
            <a:r>
              <a:rPr lang="en-US" sz="2400" b="1" dirty="0">
                <a:solidFill>
                  <a:schemeClr val="accent2"/>
                </a:solidFill>
              </a:rPr>
              <a:t> Notebook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uses a tunnelling technique (which is IMHO awkward)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Requires no local installation and works from a browser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AB87F-1D3B-E5BC-AB71-58917CB9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936C-6B04-AD77-1F1E-D8BF136A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073C8398-AF46-E89B-D756-2616EB4BF9E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Warning:  Experimental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23F7A-018D-DEA0-5265-BB1DFE38205C}"/>
              </a:ext>
            </a:extLst>
          </p:cNvPr>
          <p:cNvSpPr txBox="1"/>
          <p:nvPr/>
        </p:nvSpPr>
        <p:spPr>
          <a:xfrm>
            <a:off x="607040" y="1635760"/>
            <a:ext cx="29316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I've never run these labs in a classroom.  This is an experiment, so our results may vary.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Please be kind on my surveys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050" name="Picture 2" descr="Experimental Quantum Information ...">
            <a:extLst>
              <a:ext uri="{FF2B5EF4-FFF2-40B4-BE49-F238E27FC236}">
                <a16:creationId xmlns:a16="http://schemas.microsoft.com/office/drawing/2014/main" id="{A9EF4BFF-E9DB-338A-8358-3FA9E834D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369" y="1789423"/>
            <a:ext cx="7936591" cy="444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rning: Exposure to RoundUp Weed ...">
            <a:extLst>
              <a:ext uri="{FF2B5EF4-FFF2-40B4-BE49-F238E27FC236}">
                <a16:creationId xmlns:a16="http://schemas.microsoft.com/office/drawing/2014/main" id="{1709D9AC-D642-8B72-9009-C7C90CDB5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064" y="38084"/>
            <a:ext cx="3071896" cy="172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077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942C-99D1-DDCE-71CA-EEE95B54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1A866C6-C33C-71F3-44A2-45AA2440EE6A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bg1"/>
                </a:solidFill>
              </a:rPr>
              <a:t>Warning:  Experimental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87E05-1463-14A0-3CA3-4A60375B6C12}"/>
              </a:ext>
            </a:extLst>
          </p:cNvPr>
          <p:cNvSpPr txBox="1"/>
          <p:nvPr/>
        </p:nvSpPr>
        <p:spPr>
          <a:xfrm>
            <a:off x="607040" y="1635760"/>
            <a:ext cx="29316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I've never run these labs in a classroom.  This is an experiment, so our results may vary.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Please be kind on my surveys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AF4207-6846-EB3C-DE68-E230D458A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8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677F-DEB0-0EBC-9037-E08F1B505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3F01D354-1619-4A7D-AAC3-D56DB2715442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E5185-C6AA-C24C-79D7-44A2DB601919}"/>
              </a:ext>
            </a:extLst>
          </p:cNvPr>
          <p:cNvSpPr txBox="1"/>
          <p:nvPr/>
        </p:nvSpPr>
        <p:spPr>
          <a:xfrm>
            <a:off x="607039" y="1635760"/>
            <a:ext cx="114452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Our first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lab will be run in the Google </a:t>
            </a:r>
            <a:r>
              <a:rPr lang="en-US" sz="2800" dirty="0" err="1">
                <a:solidFill>
                  <a:schemeClr val="bg1"/>
                </a:solidFill>
              </a:rPr>
              <a:t>Colab</a:t>
            </a:r>
            <a:r>
              <a:rPr lang="en-US" sz="2800" dirty="0">
                <a:solidFill>
                  <a:schemeClr val="bg1"/>
                </a:solidFill>
              </a:rPr>
              <a:t> environment.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Goals: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We will set up an IP "tunnel" to </a:t>
            </a:r>
            <a:r>
              <a:rPr lang="en-US" sz="2800" dirty="0" err="1">
                <a:solidFill>
                  <a:schemeClr val="bg1"/>
                </a:solidFill>
              </a:rPr>
              <a:t>Colab</a:t>
            </a:r>
            <a:r>
              <a:rPr lang="en-US" sz="2800" dirty="0">
                <a:solidFill>
                  <a:schemeClr val="bg1"/>
                </a:solidFill>
              </a:rPr>
              <a:t> so we can access our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app.</a:t>
            </a:r>
          </a:p>
          <a:p>
            <a:r>
              <a:rPr lang="en-US" sz="2800" dirty="0">
                <a:solidFill>
                  <a:schemeClr val="bg1"/>
                </a:solidFill>
              </a:rPr>
              <a:t>We will create a "Hello World" app in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and deploy it.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2D0D9-50DD-7A96-38A4-D26EA7D1E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36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F76C-9333-0C09-9A9F-AFF531854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EF041571-6180-8449-3B5C-CAA9D4C276D0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09C6B-445D-69DE-B5FF-AF01DC945950}"/>
              </a:ext>
            </a:extLst>
          </p:cNvPr>
          <p:cNvSpPr txBox="1"/>
          <p:nvPr/>
        </p:nvSpPr>
        <p:spPr>
          <a:xfrm>
            <a:off x="607039" y="1635760"/>
            <a:ext cx="1144526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Lab Walkthrough Steps: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Create a new Google </a:t>
            </a:r>
            <a:r>
              <a:rPr lang="en-US" sz="2800" dirty="0" err="1">
                <a:solidFill>
                  <a:schemeClr val="bg1"/>
                </a:solidFill>
              </a:rPr>
              <a:t>Colab</a:t>
            </a:r>
            <a:r>
              <a:rPr lang="en-US" sz="2800" dirty="0">
                <a:solidFill>
                  <a:schemeClr val="bg1"/>
                </a:solidFill>
              </a:rPr>
              <a:t> notebook and call it "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Hello World"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at </a:t>
            </a:r>
            <a:r>
              <a:rPr lang="en-US" sz="2800" dirty="0">
                <a:solidFill>
                  <a:schemeClr val="bg1"/>
                </a:solidFill>
                <a:hlinkClick r:id="rId2"/>
              </a:rPr>
              <a:t>https://colab.research.google.com</a:t>
            </a:r>
            <a:br>
              <a:rPr lang="en-US" sz="2800" dirty="0">
                <a:solidFill>
                  <a:schemeClr val="bg1"/>
                </a:solidFill>
              </a:rPr>
            </a:br>
            <a:endParaRPr lang="en-US" sz="2800" dirty="0">
              <a:solidFill>
                <a:schemeClr val="bg1"/>
              </a:solidFill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o, *World!* :sunglasses:')</a:t>
            </a: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312B8-0BC1-5789-2B25-53E3EBABA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8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B0FB-002D-0D3A-21E3-3B7D2937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E7FC82-84E7-53CA-9759-7C565CAB0A60}"/>
              </a:ext>
            </a:extLst>
          </p:cNvPr>
          <p:cNvSpPr/>
          <p:nvPr/>
        </p:nvSpPr>
        <p:spPr>
          <a:xfrm>
            <a:off x="239486" y="2558143"/>
            <a:ext cx="11647714" cy="12845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CB16B7BF-4355-7DFA-6C94-E1FADA24361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4587FC-2CF3-0515-EA6F-9E90D8AA80B7}"/>
              </a:ext>
            </a:extLst>
          </p:cNvPr>
          <p:cNvSpPr txBox="1"/>
          <p:nvPr/>
        </p:nvSpPr>
        <p:spPr>
          <a:xfrm>
            <a:off x="607039" y="1635760"/>
            <a:ext cx="1144526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2.  Enter the code that follows in 5 separate cells:  (Cell #1)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!pip install -q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4CCD05-FB93-69BE-FBC9-61B4AEEEB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5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6F8B-EA4C-47D5-AC7C-42DF47052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FA856A-4C3C-8FB3-012D-6E5B95A7C998}"/>
              </a:ext>
            </a:extLst>
          </p:cNvPr>
          <p:cNvSpPr/>
          <p:nvPr/>
        </p:nvSpPr>
        <p:spPr>
          <a:xfrm>
            <a:off x="239486" y="2558143"/>
            <a:ext cx="11647714" cy="2797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1E80EC2C-965E-8B82-307B-2A8AFD4B6343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24FD9F-ADA5-4226-BC85-2353297CCF40}"/>
              </a:ext>
            </a:extLst>
          </p:cNvPr>
          <p:cNvSpPr txBox="1"/>
          <p:nvPr/>
        </p:nvSpPr>
        <p:spPr>
          <a:xfrm>
            <a:off x="607039" y="1635760"/>
            <a:ext cx="11445261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3.  Enter the code that follows in 5 separate cells:  (Cell #2)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%%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writefile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app.py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st.write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('Hello, *World!* :sunglasses:')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9495-2144-4CF5-695B-9207C631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7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AC307-1094-ACCD-4B8D-4BA686AC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B7C0A5-4171-5930-A08A-E3AD576B0A07}"/>
              </a:ext>
            </a:extLst>
          </p:cNvPr>
          <p:cNvSpPr/>
          <p:nvPr/>
        </p:nvSpPr>
        <p:spPr>
          <a:xfrm>
            <a:off x="239486" y="2558143"/>
            <a:ext cx="11647714" cy="15022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436766CE-1A07-E598-B7F8-2BCB24790C0F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79CED-8748-9DD7-C1AB-0C82AE77C8A7}"/>
              </a:ext>
            </a:extLst>
          </p:cNvPr>
          <p:cNvSpPr txBox="1"/>
          <p:nvPr/>
        </p:nvSpPr>
        <p:spPr>
          <a:xfrm>
            <a:off x="607039" y="1635760"/>
            <a:ext cx="114452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4.  Enter the code that follows in 5 separate cells:  (Cell #3)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install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localtunnel</a:t>
            </a: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05DABF-E80D-0FAF-B6E1-E72C469DD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4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60AF-78D3-5A9A-AFB4-C214903D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2F4252-C9B4-B836-4F3F-DCF5FD4D1C55}"/>
              </a:ext>
            </a:extLst>
          </p:cNvPr>
          <p:cNvSpPr/>
          <p:nvPr/>
        </p:nvSpPr>
        <p:spPr>
          <a:xfrm>
            <a:off x="239486" y="2558143"/>
            <a:ext cx="11647714" cy="15675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BF227049-C16D-7E1A-0AEA-CD1249E4553A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493DBC-03B0-5EF2-74EA-7343518A41F3}"/>
              </a:ext>
            </a:extLst>
          </p:cNvPr>
          <p:cNvSpPr txBox="1"/>
          <p:nvPr/>
        </p:nvSpPr>
        <p:spPr>
          <a:xfrm>
            <a:off x="607039" y="1635760"/>
            <a:ext cx="114452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5.  Enter the code that follows in 5 separate cells:  (Cell #4)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run app.py &amp;&gt;/content/logs.txt &amp; curl ipv4.icanhazip.com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E75BB-CE6E-53D1-B129-E6465EB2B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6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073F-88C8-139F-7452-2C26BEFF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E6845C-9EB5-E03E-4C66-20D021B283E0}"/>
              </a:ext>
            </a:extLst>
          </p:cNvPr>
          <p:cNvSpPr/>
          <p:nvPr/>
        </p:nvSpPr>
        <p:spPr>
          <a:xfrm>
            <a:off x="239486" y="2558143"/>
            <a:ext cx="11647714" cy="1491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1">
            <a:extLst>
              <a:ext uri="{FF2B5EF4-FFF2-40B4-BE49-F238E27FC236}">
                <a16:creationId xmlns:a16="http://schemas.microsoft.com/office/drawing/2014/main" id="{159B5A14-4307-EF3D-73BF-574EACD8AA25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A5A0F-450B-388B-A623-A1A294E19658}"/>
              </a:ext>
            </a:extLst>
          </p:cNvPr>
          <p:cNvSpPr txBox="1"/>
          <p:nvPr/>
        </p:nvSpPr>
        <p:spPr>
          <a:xfrm>
            <a:off x="607039" y="1635760"/>
            <a:ext cx="114452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6.  Enter the code that follows in 5 separate cells:  (Cell #5)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3600" dirty="0">
                <a:solidFill>
                  <a:schemeClr val="bg1"/>
                </a:solidFill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localtunnel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--port 8501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AutoNum type="arabicPeriod"/>
            </a:pPr>
            <a:endParaRPr lang="en-US" sz="2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187A70-E010-09A2-B3BF-EFADD3DE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5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E2E7-C6ED-ECA3-CA09-3D99FA40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44D4470C-9C20-6B9D-F68F-CAA620FE39BC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85A17-B42E-7212-2C95-3E729D9D63A9}"/>
              </a:ext>
            </a:extLst>
          </p:cNvPr>
          <p:cNvSpPr txBox="1"/>
          <p:nvPr/>
        </p:nvSpPr>
        <p:spPr>
          <a:xfrm>
            <a:off x="607039" y="1635760"/>
            <a:ext cx="114452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7.  Run all cells in the notebook.  Assuming there are no errors in any cells, you should see an IP address in the output of the 4</a:t>
            </a:r>
            <a:r>
              <a:rPr lang="en-US" sz="2800" baseline="30000" dirty="0">
                <a:solidFill>
                  <a:schemeClr val="bg1"/>
                </a:solidFill>
              </a:rPr>
              <a:t>th</a:t>
            </a:r>
            <a:r>
              <a:rPr lang="en-US" sz="2800" dirty="0">
                <a:solidFill>
                  <a:schemeClr val="bg1"/>
                </a:solidFill>
              </a:rPr>
              <a:t> cell and a URL in the output of the 5</a:t>
            </a:r>
            <a:r>
              <a:rPr lang="en-US" sz="2800" baseline="30000" dirty="0">
                <a:solidFill>
                  <a:schemeClr val="bg1"/>
                </a:solidFill>
              </a:rPr>
              <a:t>th</a:t>
            </a:r>
            <a:r>
              <a:rPr lang="en-US" sz="2800" dirty="0">
                <a:solidFill>
                  <a:schemeClr val="bg1"/>
                </a:solidFill>
              </a:rPr>
              <a:t> cell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(An example is shown below—yours will be different)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3FFB4A-348C-6121-858C-B34A7124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74DAF5-8060-E4F0-C7F9-E352BEAC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20624"/>
            <a:ext cx="12192000" cy="200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72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665C-EC1F-B91A-3D7E-DD73D99F8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C6F68C5B-30C7-79B5-169B-1FED38D428D8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ED3D5-AD29-10C5-D5B6-D5DC661FB979}"/>
              </a:ext>
            </a:extLst>
          </p:cNvPr>
          <p:cNvSpPr txBox="1"/>
          <p:nvPr/>
        </p:nvSpPr>
        <p:spPr>
          <a:xfrm>
            <a:off x="607039" y="1635760"/>
            <a:ext cx="114452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8.  Click on the URL link in the output of cell 5.  The webpage will ask for a password.  The password is the IP address output in cell 4.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Copy/Paste the IP address from the output in cell 4 from the notebook to the password page and "click to submit"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E203E-FDFD-CECC-ED4A-E810E7455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FB7A0E-E574-2FAF-B494-CD8C270F9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20624"/>
            <a:ext cx="12192000" cy="200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2FBF-1237-7F5B-F3A6-0F0E25D96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9F3F2B27-C4B3-7E8D-B0CE-F5AF37DB10CB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 in </a:t>
            </a:r>
            <a:r>
              <a:rPr lang="en-US" sz="4800" dirty="0" err="1">
                <a:solidFill>
                  <a:schemeClr val="bg1"/>
                </a:solidFill>
              </a:rPr>
              <a:t>Colab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9E19B-6EC8-3510-A918-8874470AB107}"/>
              </a:ext>
            </a:extLst>
          </p:cNvPr>
          <p:cNvSpPr txBox="1"/>
          <p:nvPr/>
        </p:nvSpPr>
        <p:spPr>
          <a:xfrm>
            <a:off x="607039" y="1635760"/>
            <a:ext cx="114452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9.  If everything works correctly, you should now see the output from your hello world app in the browser.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4AADD2-73CC-7802-A316-4320A5B73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A359DC-2054-4CCD-F968-2B1888C6B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986" y="3114185"/>
            <a:ext cx="6529974" cy="33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8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D6134-31B1-B3D9-AD4F-CA101BD4C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EC02EE8A-8B75-0EB4-1884-045ED6BD34C3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Hello World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B8BB3-0CE7-A3FE-8463-969AA06D4A02}"/>
              </a:ext>
            </a:extLst>
          </p:cNvPr>
          <p:cNvSpPr txBox="1"/>
          <p:nvPr/>
        </p:nvSpPr>
        <p:spPr>
          <a:xfrm>
            <a:off x="607039" y="1635760"/>
            <a:ext cx="59461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Steps: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10.  Save your </a:t>
            </a:r>
            <a:r>
              <a:rPr lang="en-US" sz="2800" dirty="0" err="1">
                <a:solidFill>
                  <a:schemeClr val="bg1"/>
                </a:solidFill>
              </a:rPr>
              <a:t>Colab</a:t>
            </a:r>
            <a:r>
              <a:rPr lang="en-US" sz="2800" dirty="0">
                <a:solidFill>
                  <a:schemeClr val="bg1"/>
                </a:solidFill>
              </a:rPr>
              <a:t> Notebook in your Google Drive.  </a:t>
            </a:r>
            <a:br>
              <a:rPr lang="en-US" sz="2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By default, the notebooks are saved in a folder called "</a:t>
            </a:r>
            <a:r>
              <a:rPr lang="en-US" sz="2800" dirty="0" err="1">
                <a:solidFill>
                  <a:schemeClr val="bg1"/>
                </a:solidFill>
              </a:rPr>
              <a:t>Colab</a:t>
            </a:r>
            <a:r>
              <a:rPr lang="en-US" sz="2800" dirty="0">
                <a:solidFill>
                  <a:schemeClr val="bg1"/>
                </a:solidFill>
              </a:rPr>
              <a:t> Notebooks"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4CE59-504B-1221-A42C-F64B05282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EA89C5-33C6-58CC-3081-F3AFF0581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217" y="0"/>
            <a:ext cx="4406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41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7401-911B-D4EC-10F9-2ABB5822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508EA167-0DBF-FFC0-C112-A1A1E6F4E5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Streamlit</a:t>
            </a:r>
            <a:r>
              <a:rPr lang="en-US" sz="4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– Hello World Lab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DD6170-550A-779F-1390-29D994FDA5AA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Reflections – Comments – Questions?</a:t>
            </a:r>
          </a:p>
        </p:txBody>
      </p:sp>
      <p:pic>
        <p:nvPicPr>
          <p:cNvPr id="3074" name="Picture 2" descr="Answering the Question Behind the ...">
            <a:extLst>
              <a:ext uri="{FF2B5EF4-FFF2-40B4-BE49-F238E27FC236}">
                <a16:creationId xmlns:a16="http://schemas.microsoft.com/office/drawing/2014/main" id="{7E12F0BF-DD17-227D-FB84-057B2196C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377483"/>
            <a:ext cx="5181600" cy="32476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4">
            <a:extLst>
              <a:ext uri="{FF2B5EF4-FFF2-40B4-BE49-F238E27FC236}">
                <a16:creationId xmlns:a16="http://schemas.microsoft.com/office/drawing/2014/main" id="{B7290D22-BFC4-DEC4-76A0-1AAEC7378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361475"/>
            <a:ext cx="838200" cy="360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PAGE </a:t>
            </a:r>
            <a:fld id="{4A9B5881-4007-4345-955A-79C2656F0C49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7A6F32-9245-96DD-BD32-F553E163F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8405" y="624086"/>
            <a:ext cx="1115470" cy="79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276D-6D71-0617-087A-4398DBD7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DD46D702-37E7-BEB0-8090-71D9C9338944}"/>
              </a:ext>
            </a:extLst>
          </p:cNvPr>
          <p:cNvSpPr txBox="1">
            <a:spLocks/>
          </p:cNvSpPr>
          <p:nvPr/>
        </p:nvSpPr>
        <p:spPr>
          <a:xfrm>
            <a:off x="607039" y="624086"/>
            <a:ext cx="10977921" cy="796767"/>
          </a:xfrm>
          <a:prstGeom prst="rect">
            <a:avLst/>
          </a:prstGeom>
          <a:solidFill>
            <a:srgbClr val="0C5968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i="0" kern="120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bg1"/>
                </a:solidFill>
              </a:rPr>
              <a:t>Streamlit</a:t>
            </a:r>
            <a:r>
              <a:rPr lang="en-US" sz="4800" dirty="0">
                <a:solidFill>
                  <a:schemeClr val="bg1"/>
                </a:solidFill>
              </a:rPr>
              <a:t> – Resources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91A04-EE9B-A912-2FD2-DAA562F78218}"/>
              </a:ext>
            </a:extLst>
          </p:cNvPr>
          <p:cNvSpPr txBox="1"/>
          <p:nvPr/>
        </p:nvSpPr>
        <p:spPr>
          <a:xfrm>
            <a:off x="607039" y="1635760"/>
            <a:ext cx="111604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chemeClr val="bg1"/>
                </a:solidFill>
              </a:rPr>
              <a:t>Streamlit</a:t>
            </a:r>
            <a:r>
              <a:rPr lang="en-US" sz="3600" dirty="0">
                <a:solidFill>
                  <a:schemeClr val="bg1"/>
                </a:solidFill>
              </a:rPr>
              <a:t> Crash Course:  From Zero to Data App (25 min)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  <a:hlinkClick r:id="rId2"/>
              </a:rPr>
              <a:t>https://www.youtube.com/watch?v=d7fnzDQ5qM8</a:t>
            </a:r>
            <a:endParaRPr lang="en-US" sz="36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chemeClr val="bg1"/>
                </a:solidFill>
              </a:rPr>
              <a:t>Streamlit</a:t>
            </a:r>
            <a:r>
              <a:rPr lang="en-US" sz="3600" dirty="0">
                <a:solidFill>
                  <a:schemeClr val="bg1"/>
                </a:solidFill>
              </a:rPr>
              <a:t> Quests:  Getting Started with </a:t>
            </a:r>
            <a:r>
              <a:rPr lang="en-US" sz="3600" dirty="0" err="1">
                <a:solidFill>
                  <a:schemeClr val="bg1"/>
                </a:solidFill>
              </a:rPr>
              <a:t>Streamlit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  <a:hlinkClick r:id="rId3"/>
              </a:rPr>
              <a:t>https://discuss.streamlit.io/t/streamlit-quests-getting-started-with-streamlit/33534</a:t>
            </a:r>
            <a:endParaRPr lang="en-US" sz="3600" dirty="0">
              <a:solidFill>
                <a:schemeClr val="bg1"/>
              </a:solidFill>
            </a:endParaRPr>
          </a:p>
          <a:p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84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CD3F-C547-401E-630D-25DC5865A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3CBF5-AB29-6792-9179-0EDBEF10D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PAGE </a:t>
            </a:r>
            <a:fld id="{4A9B5881-4007-4345-955A-79C2656F0C4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122" name="Picture 2" descr="Free Vectors | THE END (shaded text)">
            <a:extLst>
              <a:ext uri="{FF2B5EF4-FFF2-40B4-BE49-F238E27FC236}">
                <a16:creationId xmlns:a16="http://schemas.microsoft.com/office/drawing/2014/main" id="{36D14B9C-3E27-8F0E-B7C4-024A226BA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949" y="812800"/>
            <a:ext cx="693964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39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4">
      <a:dk1>
        <a:srgbClr val="000000"/>
      </a:dk1>
      <a:lt1>
        <a:srgbClr val="FFFFFF"/>
      </a:lt1>
      <a:dk2>
        <a:srgbClr val="242A41"/>
      </a:dk2>
      <a:lt2>
        <a:srgbClr val="E2E8E3"/>
      </a:lt2>
      <a:accent1>
        <a:srgbClr val="5370C5"/>
      </a:accent1>
      <a:accent2>
        <a:srgbClr val="17B2D1"/>
      </a:accent2>
      <a:accent3>
        <a:srgbClr val="2978E7"/>
      </a:accent3>
      <a:accent4>
        <a:srgbClr val="7829E7"/>
      </a:accent4>
      <a:accent5>
        <a:srgbClr val="B517D5"/>
      </a:accent5>
      <a:accent6>
        <a:srgbClr val="E729B7"/>
      </a:accent6>
      <a:hlink>
        <a:srgbClr val="5370C5"/>
      </a:hlink>
      <a:folHlink>
        <a:srgbClr val="7F7F7F"/>
      </a:folHlink>
    </a:clrScheme>
    <a:fontScheme name="MS Surge Teach Light and Dar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98415_win32_fixed" id="{1E7205E9-DD76-422B-B9FD-343E9C2C894B}" vid="{008E2BBC-A2E4-4140-B026-F6CAB78406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Custom 254">
    <a:dk1>
      <a:srgbClr val="000000"/>
    </a:dk1>
    <a:lt1>
      <a:srgbClr val="FFFFFF"/>
    </a:lt1>
    <a:dk2>
      <a:srgbClr val="242A41"/>
    </a:dk2>
    <a:lt2>
      <a:srgbClr val="E2E8E3"/>
    </a:lt2>
    <a:accent1>
      <a:srgbClr val="5370C5"/>
    </a:accent1>
    <a:accent2>
      <a:srgbClr val="17B2D1"/>
    </a:accent2>
    <a:accent3>
      <a:srgbClr val="2978E7"/>
    </a:accent3>
    <a:accent4>
      <a:srgbClr val="7829E7"/>
    </a:accent4>
    <a:accent5>
      <a:srgbClr val="B517D5"/>
    </a:accent5>
    <a:accent6>
      <a:srgbClr val="E729B7"/>
    </a:accent6>
    <a:hlink>
      <a:srgbClr val="5370C5"/>
    </a:hlink>
    <a:folHlink>
      <a:srgbClr val="7F7F7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7B5194-E537-408E-9CFF-66A6141D5DE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CFB5EA-1DDA-4423-A8FC-85579F36D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9969FA-0C19-40F2-9B6F-EADA7B231A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with animation</Template>
  <TotalTime>7432</TotalTime>
  <Words>857</Words>
  <Application>Microsoft Office PowerPoint</Application>
  <PresentationFormat>Widescreen</PresentationFormat>
  <Paragraphs>95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Wingdings</vt:lpstr>
      <vt:lpstr>Office Theme</vt:lpstr>
      <vt:lpstr>Advanced Data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Santo</dc:creator>
  <cp:lastModifiedBy>Santo,Chris</cp:lastModifiedBy>
  <cp:revision>31</cp:revision>
  <dcterms:created xsi:type="dcterms:W3CDTF">2024-06-28T21:19:00Z</dcterms:created>
  <dcterms:modified xsi:type="dcterms:W3CDTF">2026-05-10T00:57:49Z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