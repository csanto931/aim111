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354" r:id="rId6"/>
    <p:sldId id="432" r:id="rId7"/>
    <p:sldId id="433" r:id="rId8"/>
    <p:sldId id="440" r:id="rId9"/>
    <p:sldId id="434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52" r:id="rId22"/>
    <p:sldId id="439" r:id="rId23"/>
    <p:sldId id="32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5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712" autoAdjust="0"/>
  </p:normalViewPr>
  <p:slideViewPr>
    <p:cSldViewPr snapToGrid="0">
      <p:cViewPr varScale="1">
        <p:scale>
          <a:sx n="85" d="100"/>
          <a:sy n="85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8B7E-6604-4F74-86DB-B30627D56244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8A1F-3E69-47E5-AE93-E7F2155A24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9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28A1F-3E69-47E5-AE93-E7F2155A242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3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641ECAC-0557-4843-8433-067E4414E2F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7512001" cy="6727855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3943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38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3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7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vert="horz" lIns="91440" tIns="108000" rIns="91440" bIns="108000" rtlCol="0" anchor="ctr">
            <a:spAutoFit/>
          </a:bodyPr>
          <a:lstStyle>
            <a:lvl1pPr>
              <a:defRPr lang="en-US" sz="40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5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3C5ED2-B01D-4104-B193-BC78D76A464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6305550" cy="6721475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7974" y="611077"/>
            <a:ext cx="4695825" cy="833663"/>
          </a:xfrm>
          <a:solidFill>
            <a:schemeClr val="accent2">
              <a:lumMod val="50000"/>
            </a:schemeClr>
          </a:solidFill>
        </p:spPr>
        <p:txBody>
          <a:bodyPr wrap="square"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74" y="1825625"/>
            <a:ext cx="4695826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0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05300" cy="6721472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vert="horz" lIns="396000" tIns="0" rIns="396000" bIns="0" rtlCol="0" anchor="ctr">
            <a:noAutofit/>
          </a:bodyPr>
          <a:lstStyle>
            <a:lvl1pPr algn="r">
              <a:lnSpc>
                <a:spcPct val="70000"/>
              </a:lnSpc>
              <a:defRPr lang="en-US" sz="5200" b="0" spc="-150" dirty="0"/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365124"/>
            <a:ext cx="6648448" cy="5984875"/>
          </a:xfrm>
        </p:spPr>
        <p:txBody>
          <a:bodyPr lIns="108000" tIns="108000" rIns="108000" bIns="10800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9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5237DA4-112F-40B2-8C8C-EB23506D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00" y="0"/>
            <a:ext cx="4680000" cy="6721473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lIns="396000" rIns="396000">
            <a:normAutofit/>
          </a:bodyPr>
          <a:lstStyle>
            <a:lvl1pPr>
              <a:lnSpc>
                <a:spcPct val="70000"/>
              </a:lnSpc>
              <a:defRPr sz="5200" spc="-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6156323" cy="5984875"/>
          </a:xfrm>
        </p:spPr>
        <p:txBody>
          <a:bodyPr lIns="108000" tIns="108000" rIns="108000" bIns="108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8E6EF2-4B2F-4D0D-9505-CE9287297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611076"/>
            <a:ext cx="6648448" cy="5738923"/>
          </a:xfrm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1A21B9-BA54-413B-940E-027C32E4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3440502" cy="2064769"/>
          </a:xfrm>
          <a:solidFill>
            <a:schemeClr val="accent2">
              <a:lumMod val="50000"/>
            </a:schemeClr>
          </a:solidFill>
        </p:spPr>
        <p:txBody>
          <a:bodyPr wrap="square" tIns="108000" bIns="108000" anchor="t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5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BDA7-8BE9-42D5-ACF1-0F51423A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EF73F-3CCA-4312-8E9C-2B4629DA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BF716-502C-4821-A3A0-19C2C508E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8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B651-5612-4E6A-9B35-A555D082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89A2-D77B-40CA-AD1E-0178AEFA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CA993-CBEA-48C5-BD35-50ABDFF6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ED8E0-95EC-469F-9B7E-562FBDFDE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4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6F88-2A37-410D-A685-E455AF3D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4B46-B015-44F7-8DC0-AFB8D275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C8232-2077-497A-9142-B787E2B03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6077C-D913-4FD0-B6E0-6D70BEFD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05DBB-3AA9-4435-AC97-732293FDE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4C901-FCAF-4DFB-A621-6A969641C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45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2623-2255-4BBA-9577-B3A3FD2A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9F0F0-5E7C-4FC9-8E90-6ADCD7A71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3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D3FFB-BE14-4D90-A515-10EDD1BEE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73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1E51-BE82-4B1B-9CB6-89C26464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BF8C-3CF7-47E6-9AB0-15584178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7DA3C-0298-45CF-AFC3-41031C07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FF87-D01E-416B-9EF8-E107C4EDD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3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5851185-BC8F-4E3A-8DDD-F9AC4752588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99981" y="778850"/>
            <a:ext cx="5688013" cy="3506561"/>
          </a:xfrm>
          <a:custGeom>
            <a:avLst/>
            <a:gdLst>
              <a:gd name="connsiteX0" fmla="*/ 0 w 5688013"/>
              <a:gd name="connsiteY0" fmla="*/ 0 h 3506561"/>
              <a:gd name="connsiteX1" fmla="*/ 5688013 w 5688013"/>
              <a:gd name="connsiteY1" fmla="*/ 0 h 3506561"/>
              <a:gd name="connsiteX2" fmla="*/ 5688013 w 5688013"/>
              <a:gd name="connsiteY2" fmla="*/ 3506561 h 3506561"/>
              <a:gd name="connsiteX3" fmla="*/ 0 w 5688013"/>
              <a:gd name="connsiteY3" fmla="*/ 3506561 h 35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8013" h="3506561">
                <a:moveTo>
                  <a:pt x="0" y="0"/>
                </a:moveTo>
                <a:lnTo>
                  <a:pt x="5688013" y="0"/>
                </a:lnTo>
                <a:lnTo>
                  <a:pt x="5688013" y="3506561"/>
                </a:lnTo>
                <a:lnTo>
                  <a:pt x="0" y="350656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 dirty="0"/>
              <a:t>Photo Placeholders. 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F0FE11-6E2B-408B-B478-B89A9280A3F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73534" y="1104518"/>
            <a:ext cx="5221224" cy="2587752"/>
          </a:xfrm>
        </p:spPr>
        <p:txBody>
          <a:bodyPr anchor="t"/>
          <a:lstStyle>
            <a:lvl1pPr>
              <a:defRPr sz="5400" b="0" i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8010824-0DBB-43F2-A9A7-1358D92209EB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6697270" y="4618487"/>
            <a:ext cx="4690872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7DF0A48-F214-4A96-B060-2BCB622DA46C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6697270" y="4911443"/>
            <a:ext cx="4690872" cy="1280160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8F17923-A5DA-4F59-AAE9-2AB2C70BFE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3534" y="4045150"/>
            <a:ext cx="5221224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1E3980B-FDCC-42C2-8314-F77E7054CD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3534" y="4339213"/>
            <a:ext cx="5221224" cy="603504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90E82F9-BF9E-48C1-B2CB-7463ABBDC2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3534" y="5295596"/>
            <a:ext cx="5221224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C3C59AB-D0EC-46D7-B5C4-B1BF8449C8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3534" y="5589659"/>
            <a:ext cx="5221224" cy="603504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97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5968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8E4AFE-E166-4B84-B0C8-9205038D8033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17517-B672-49BA-AC6E-AB66D063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92C27-7843-4B22-9200-B7304E6A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5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4F10-F75B-41A8-B994-BFF68949E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61475"/>
            <a:ext cx="838200" cy="36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D21E2-8DEB-4F43-A26E-B8DA900A923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2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65" r:id="rId4"/>
    <p:sldLayoutId id="2147483666" r:id="rId5"/>
    <p:sldLayoutId id="2147483650" r:id="rId6"/>
    <p:sldLayoutId id="2147483663" r:id="rId7"/>
    <p:sldLayoutId id="2147483664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68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C5037-DA4A-44E2-A9FB-84B14987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</a:t>
            </a:r>
            <a:br>
              <a:rPr lang="en-US" dirty="0"/>
            </a:br>
            <a:r>
              <a:rPr lang="en-US" dirty="0"/>
              <a:t>Data 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97C2DB-90F2-4971-AC44-7CDDF5A3B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3612" y="4611901"/>
            <a:ext cx="4097994" cy="1749574"/>
          </a:xfrm>
        </p:spPr>
        <p:txBody>
          <a:bodyPr>
            <a:normAutofit/>
          </a:bodyPr>
          <a:lstStyle/>
          <a:p>
            <a:r>
              <a:rPr lang="en-US" sz="2000" dirty="0"/>
              <a:t>Instructor: Chris Santo</a:t>
            </a:r>
          </a:p>
          <a:p>
            <a:r>
              <a:rPr lang="en-US" sz="2000" dirty="0"/>
              <a:t>Lab:</a:t>
            </a:r>
            <a:br>
              <a:rPr lang="en-US" sz="2000" dirty="0"/>
            </a:br>
            <a:r>
              <a:rPr lang="en-US" sz="2000" dirty="0"/>
              <a:t>Financial Analysis using </a:t>
            </a:r>
            <a:r>
              <a:rPr lang="en-US" sz="2000" dirty="0" err="1"/>
              <a:t>yfinance</a:t>
            </a:r>
            <a:r>
              <a:rPr lang="en-US" sz="2000" dirty="0"/>
              <a:t> and </a:t>
            </a:r>
            <a:r>
              <a:rPr lang="en-US" sz="2000" dirty="0" err="1"/>
              <a:t>streamlit</a:t>
            </a:r>
            <a:endParaRPr lang="en-US" sz="2000" dirty="0"/>
          </a:p>
          <a:p>
            <a:r>
              <a:rPr lang="en-US" sz="2000" dirty="0"/>
              <a:t>Wednesday 6/3/2026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6F5C050-EB87-421A-8A5C-E6CB30102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8" name="Picture 4" descr="Why Use Python? - Full Stack Python">
            <a:extLst>
              <a:ext uri="{FF2B5EF4-FFF2-40B4-BE49-F238E27FC236}">
                <a16:creationId xmlns:a16="http://schemas.microsoft.com/office/drawing/2014/main" id="{EE4ABF62-7A77-0014-3B23-91DC27DF6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15" y="152400"/>
            <a:ext cx="6452832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03B98B-2CC4-C151-F85F-93C92C16A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15" y="2260599"/>
            <a:ext cx="4181634" cy="4248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36949-1A1E-5185-C512-B5E486C5F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828" y="2260600"/>
            <a:ext cx="228631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5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936C-6B04-AD77-1F1E-D8BF136A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073C8398-AF46-E89B-D756-2616EB4BF9EB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Warning:  Experimental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23F7A-018D-DEA0-5265-BB1DFE38205C}"/>
              </a:ext>
            </a:extLst>
          </p:cNvPr>
          <p:cNvSpPr txBox="1"/>
          <p:nvPr/>
        </p:nvSpPr>
        <p:spPr>
          <a:xfrm>
            <a:off x="607040" y="1635760"/>
            <a:ext cx="29316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I've never run these labs in a classroom.  This is an experiment, so our results may vary.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Please be kind on my surveys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050" name="Picture 2" descr="Experimental Quantum Information ...">
            <a:extLst>
              <a:ext uri="{FF2B5EF4-FFF2-40B4-BE49-F238E27FC236}">
                <a16:creationId xmlns:a16="http://schemas.microsoft.com/office/drawing/2014/main" id="{A9EF4BFF-E9DB-338A-8358-3FA9E834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369" y="1789423"/>
            <a:ext cx="7936591" cy="444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rning: Exposure to RoundUp Weed ...">
            <a:extLst>
              <a:ext uri="{FF2B5EF4-FFF2-40B4-BE49-F238E27FC236}">
                <a16:creationId xmlns:a16="http://schemas.microsoft.com/office/drawing/2014/main" id="{1709D9AC-D642-8B72-9009-C7C90CDB5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064" y="38084"/>
            <a:ext cx="3071896" cy="172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07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126E-DB0D-838E-DCE8-EDC16E92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1049C454-BA40-15DC-2314-F6104F929E67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6214B-BE7E-7CDF-8029-6AF3E6C6CCEC}"/>
              </a:ext>
            </a:extLst>
          </p:cNvPr>
          <p:cNvSpPr txBox="1"/>
          <p:nvPr/>
        </p:nvSpPr>
        <p:spPr>
          <a:xfrm>
            <a:off x="607039" y="1635760"/>
            <a:ext cx="114452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Now we will create a financial analysis app in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using </a:t>
            </a:r>
            <a:r>
              <a:rPr lang="en-US" sz="2800" dirty="0" err="1">
                <a:solidFill>
                  <a:schemeClr val="bg1"/>
                </a:solidFill>
              </a:rPr>
              <a:t>yfinance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Goals: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Create an interactive financial analysis app that uses </a:t>
            </a:r>
            <a:r>
              <a:rPr lang="en-US" sz="2800" dirty="0" err="1">
                <a:solidFill>
                  <a:schemeClr val="bg1"/>
                </a:solidFill>
              </a:rPr>
              <a:t>yfinance</a:t>
            </a:r>
            <a:r>
              <a:rPr lang="en-US" sz="2800" dirty="0">
                <a:solidFill>
                  <a:schemeClr val="bg1"/>
                </a:solidFill>
              </a:rPr>
              <a:t> data in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C8393-A092-991A-15E8-E6F9CAC4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0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0420-C060-914A-5F55-9B0C94BB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1FCE3435-DD17-C4C7-9CC1-AC0C826011FD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21D3D-85A6-C2CA-8A42-E1B841E83B1B}"/>
              </a:ext>
            </a:extLst>
          </p:cNvPr>
          <p:cNvSpPr txBox="1"/>
          <p:nvPr/>
        </p:nvSpPr>
        <p:spPr>
          <a:xfrm>
            <a:off x="607039" y="1635760"/>
            <a:ext cx="111604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 the world of finance, understanding stock price trends, calculating performance metrics, and optimizing portfolios is crucial for making informed investment decisions.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In this lab, we’ll build a financial analysis web app using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, Yahoo Finance, and Python libraries like pandas, matplotlib, and </a:t>
            </a:r>
            <a:r>
              <a:rPr lang="en-US" sz="2800" dirty="0" err="1">
                <a:solidFill>
                  <a:schemeClr val="bg1"/>
                </a:solidFill>
              </a:rPr>
              <a:t>yfinance</a:t>
            </a:r>
            <a:r>
              <a:rPr lang="en-US" sz="2800" dirty="0">
                <a:solidFill>
                  <a:schemeClr val="bg1"/>
                </a:solidFill>
              </a:rPr>
              <a:t>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Our app will allow users to explore stock price data, visualize trends, calculate key performance metrics like the Sharpe and Sortino ratios, and even optimize their portfolio weights.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44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2557-F945-1B5C-237E-3F2853E3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1890B550-41B5-B51E-86E8-51F7F1550BEF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8641C-98B6-DB32-F3D6-976BE30F6840}"/>
              </a:ext>
            </a:extLst>
          </p:cNvPr>
          <p:cNvSpPr txBox="1"/>
          <p:nvPr/>
        </p:nvSpPr>
        <p:spPr>
          <a:xfrm>
            <a:off x="607039" y="1505132"/>
            <a:ext cx="1116041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</a:rPr>
              <a:t>What we will build</a:t>
            </a:r>
          </a:p>
          <a:p>
            <a:endParaRPr lang="en-US" sz="2800" b="1" u="sng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Stock Data Fetching: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Using Yahoo Finance to download stock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Visualizations: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Displaying stock prices and returns with line charts.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Performance Metrics: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Calculating key financial ratios, including Sharpe and Sortino ratios.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Portfolio Optimization: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Helping users to balance their investments in an optimal portfolio.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B050"/>
                </a:solidFill>
              </a:rPr>
              <a:t>Download Option: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Allowing users to download the stock data.</a:t>
            </a:r>
          </a:p>
        </p:txBody>
      </p:sp>
    </p:spTree>
    <p:extLst>
      <p:ext uri="{BB962C8B-B14F-4D97-AF65-F5344CB8AC3E}">
        <p14:creationId xmlns:p14="http://schemas.microsoft.com/office/powerpoint/2010/main" val="414628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46C3-440F-91E3-C248-C0E2F034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9E7C560-CAF3-610F-6CBB-1F5ABACE6044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34F85-2B7D-9AA6-13DD-757789EF6DAA}"/>
              </a:ext>
            </a:extLst>
          </p:cNvPr>
          <p:cNvSpPr txBox="1"/>
          <p:nvPr/>
        </p:nvSpPr>
        <p:spPr>
          <a:xfrm>
            <a:off x="607039" y="1635760"/>
            <a:ext cx="111604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Let's start by creating a new app file in your </a:t>
            </a:r>
            <a:r>
              <a:rPr lang="en-US" sz="2800" dirty="0" err="1">
                <a:solidFill>
                  <a:schemeClr val="bg1"/>
                </a:solidFill>
              </a:rPr>
              <a:t>github</a:t>
            </a:r>
            <a:r>
              <a:rPr lang="en-US" sz="2800" dirty="0">
                <a:solidFill>
                  <a:schemeClr val="bg1"/>
                </a:solidFill>
              </a:rPr>
              <a:t> repository called "finanalysis.py"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We will add the </a:t>
            </a:r>
            <a:r>
              <a:rPr lang="en-US" sz="2800" dirty="0" err="1">
                <a:solidFill>
                  <a:schemeClr val="bg1"/>
                </a:solidFill>
              </a:rPr>
              <a:t>fetch_data</a:t>
            </a:r>
            <a:r>
              <a:rPr lang="en-US" sz="2800" dirty="0">
                <a:solidFill>
                  <a:schemeClr val="bg1"/>
                </a:solidFill>
              </a:rPr>
              <a:t> function with three parameters:  tickers, </a:t>
            </a:r>
            <a:r>
              <a:rPr lang="en-US" sz="2800" dirty="0" err="1">
                <a:solidFill>
                  <a:schemeClr val="bg1"/>
                </a:solidFill>
              </a:rPr>
              <a:t>start_date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dirty="0" err="1">
                <a:solidFill>
                  <a:schemeClr val="bg1"/>
                </a:solidFill>
              </a:rPr>
              <a:t>end_date</a:t>
            </a:r>
            <a:r>
              <a:rPr lang="en-US" sz="2800" dirty="0">
                <a:solidFill>
                  <a:schemeClr val="bg1"/>
                </a:solidFill>
              </a:rPr>
              <a:t>.  This will serve as a "wrapper function" to the </a:t>
            </a:r>
            <a:r>
              <a:rPr lang="en-US" sz="2800" dirty="0" err="1">
                <a:solidFill>
                  <a:schemeClr val="bg1"/>
                </a:solidFill>
              </a:rPr>
              <a:t>yfinance</a:t>
            </a:r>
            <a:r>
              <a:rPr lang="en-US" sz="2800" dirty="0">
                <a:solidFill>
                  <a:schemeClr val="bg1"/>
                </a:solidFill>
              </a:rPr>
              <a:t> API.  Code on next slide.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84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5713-9AC0-CDCF-164A-EF6D433F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3504C3F1-DD10-1402-3BD9-B44A57ECE27F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AAB54-5070-4380-FA00-FFFBF5E3E555}"/>
              </a:ext>
            </a:extLst>
          </p:cNvPr>
          <p:cNvSpPr txBox="1"/>
          <p:nvPr/>
        </p:nvSpPr>
        <p:spPr>
          <a:xfrm>
            <a:off x="607039" y="1635760"/>
            <a:ext cx="1116041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Add the following code to your finanalysis.py file:</a:t>
            </a:r>
          </a:p>
          <a:p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yfinance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yf</a:t>
            </a:r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(tickers,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data_frames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ticker in tickers: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yf.download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(ticker, start=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end=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)['Close']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data_frames.append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data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pd.concat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data_frames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axis=1, keys=tickers)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data.columns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tickers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data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46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99FD-28D4-2E9B-1589-F35471C7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45977584-68B0-967C-709E-A3C16949BE33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29A33-415E-5314-CD99-BE221B558E69}"/>
              </a:ext>
            </a:extLst>
          </p:cNvPr>
          <p:cNvSpPr txBox="1"/>
          <p:nvPr/>
        </p:nvSpPr>
        <p:spPr>
          <a:xfrm>
            <a:off x="607039" y="1635760"/>
            <a:ext cx="111604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Since our app requires </a:t>
            </a:r>
            <a:r>
              <a:rPr lang="en-US" sz="2800" dirty="0" err="1">
                <a:solidFill>
                  <a:schemeClr val="bg1"/>
                </a:solidFill>
              </a:rPr>
              <a:t>yfinance</a:t>
            </a:r>
            <a:r>
              <a:rPr lang="en-US" sz="2800" dirty="0">
                <a:solidFill>
                  <a:schemeClr val="bg1"/>
                </a:solidFill>
              </a:rPr>
              <a:t>, and </a:t>
            </a:r>
            <a:r>
              <a:rPr lang="en-US" sz="2800" dirty="0" err="1">
                <a:solidFill>
                  <a:schemeClr val="bg1"/>
                </a:solidFill>
              </a:rPr>
              <a:t>yfinance</a:t>
            </a:r>
            <a:r>
              <a:rPr lang="en-US" sz="2800" dirty="0">
                <a:solidFill>
                  <a:schemeClr val="bg1"/>
                </a:solidFill>
              </a:rPr>
              <a:t> is not automatically installed in the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Community Cloud, we need to create a "requirements.txt" file in our </a:t>
            </a:r>
            <a:r>
              <a:rPr lang="en-US" sz="2800" dirty="0" err="1">
                <a:solidFill>
                  <a:schemeClr val="bg1"/>
                </a:solidFill>
              </a:rPr>
              <a:t>github</a:t>
            </a:r>
            <a:r>
              <a:rPr lang="en-US" sz="2800" dirty="0">
                <a:solidFill>
                  <a:schemeClr val="bg1"/>
                </a:solidFill>
              </a:rPr>
              <a:t> repository.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Create a new file called "requirements.txt" and add the following line to it: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yfinance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47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40AA-11FC-16D1-1B66-76CDAC93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CF20AED8-100E-50AB-71EE-59FCA03DC91B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385D5-DBD5-7530-FCEB-340A1A46A2DB}"/>
              </a:ext>
            </a:extLst>
          </p:cNvPr>
          <p:cNvSpPr txBox="1"/>
          <p:nvPr/>
        </p:nvSpPr>
        <p:spPr>
          <a:xfrm>
            <a:off x="607039" y="1635760"/>
            <a:ext cx="111604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Before anything shows up on our web app, we need to add some calls to the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api</a:t>
            </a:r>
            <a:r>
              <a:rPr lang="en-US" sz="2800" dirty="0">
                <a:solidFill>
                  <a:schemeClr val="bg1"/>
                </a:solidFill>
              </a:rPr>
              <a:t>.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 code is on the next slide.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Add the import line at the top and the rest of the code below the </a:t>
            </a:r>
            <a:r>
              <a:rPr lang="en-US" sz="2800" dirty="0" err="1">
                <a:solidFill>
                  <a:schemeClr val="bg1"/>
                </a:solidFill>
              </a:rPr>
              <a:t>fetch_data</a:t>
            </a:r>
            <a:r>
              <a:rPr lang="en-US" sz="2800" dirty="0">
                <a:solidFill>
                  <a:schemeClr val="bg1"/>
                </a:solidFill>
              </a:rPr>
              <a:t> function</a:t>
            </a:r>
          </a:p>
          <a:p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19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C1DE-9D6F-73B9-6AAC-BC15CCF9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6CFD4F2-0040-70B3-601F-0D1DF268F596}"/>
              </a:ext>
            </a:extLst>
          </p:cNvPr>
          <p:cNvSpPr txBox="1"/>
          <p:nvPr/>
        </p:nvSpPr>
        <p:spPr>
          <a:xfrm>
            <a:off x="515791" y="582067"/>
            <a:ext cx="1116041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streamlit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add at top with other imports, the rest at the bottom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st.title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("Financial Analysis Web App")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User inputs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tickers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st.text_input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("Enter stock tickers (comma separated)", "AAPL, MSFT, GOOG").split(",")</a:t>
            </a: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tickers = [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ticker.strip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for ticker in tickers]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st.date_input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("Start Date",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("2020-01-01"))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st.date_input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("End Date",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("2023-01-01"))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Fetch stock data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(tickers,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end_date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stock_data.pct_change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dropna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Visualizations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st.subheader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("Stock Prices")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st.line_chart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st.subheader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("Stock Returns")</a:t>
            </a:r>
          </a:p>
          <a:p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st.line_chart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returns_data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30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C370-F5F7-7281-AB9D-996DA702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311F25B9-1B79-037B-0D42-E1F46B535DF6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05BDD-94CE-32EC-4BDD-7078E1AEBFBB}"/>
              </a:ext>
            </a:extLst>
          </p:cNvPr>
          <p:cNvSpPr txBox="1"/>
          <p:nvPr/>
        </p:nvSpPr>
        <p:spPr>
          <a:xfrm>
            <a:off x="607039" y="1635760"/>
            <a:ext cx="111604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code on the previous slide enables the user inputs for ticker, start date and end date.  It also displays two visualizations for stock price trends and daily returns. </a:t>
            </a:r>
          </a:p>
          <a:p>
            <a:endParaRPr lang="en-US" sz="2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Next, we’ll compute two key metrics used in finance to measure risk-adjusted returns: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Sharpe Ratio: A ratio that compares the return of an investment to its risk.</a:t>
            </a:r>
          </a:p>
          <a:p>
            <a:r>
              <a:rPr lang="en-US" sz="2800" dirty="0">
                <a:solidFill>
                  <a:schemeClr val="bg1"/>
                </a:solidFill>
              </a:rPr>
              <a:t>Sortino Ratio: A variation of the Sharpe ratio, but it only considers the downside risk (negative returns).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64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0BE9-E5CF-F90C-250F-4C0D8E45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C29B2D72-10CE-9E1D-178D-D51BAFFC72C5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A21AF-BD09-1FB3-B219-251B8ED9E03C}"/>
              </a:ext>
            </a:extLst>
          </p:cNvPr>
          <p:cNvSpPr txBox="1"/>
          <p:nvPr/>
        </p:nvSpPr>
        <p:spPr>
          <a:xfrm>
            <a:off x="607039" y="1635760"/>
            <a:ext cx="1116041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Add these new functions below your first </a:t>
            </a:r>
            <a:r>
              <a:rPr lang="en-US" sz="2800" dirty="0" err="1">
                <a:solidFill>
                  <a:schemeClr val="bg1"/>
                </a:solidFill>
              </a:rPr>
              <a:t>fetch_data</a:t>
            </a:r>
            <a:r>
              <a:rPr lang="en-US" sz="2800" dirty="0">
                <a:solidFill>
                  <a:schemeClr val="bg1"/>
                </a:solidFill>
              </a:rPr>
              <a:t> function:</a:t>
            </a:r>
          </a:p>
          <a:p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calculate_sharpe_ratio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(returns,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risk_free_rate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=0.02):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portfolio_return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returns.mean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().mean()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portfolio_volatility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returns.std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().mean()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portfolio_return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risk_free_rate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/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portfolio_volatility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calculate_sortino_ratio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(returns,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risk_free_rate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=0.02):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portfolio_return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returns.mean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().mean()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downside_returns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returns[returns &lt; 0]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downside_deviation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downside_returns.std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().mean()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portfolio_return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risk_free_rate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/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downside_deviation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17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A46C-986B-5499-3C87-2209831C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D6BA5089-66C0-C8DD-09F8-59AB0F794BA9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B7B31-2900-7D06-C1AE-099B9F5C1A9B}"/>
              </a:ext>
            </a:extLst>
          </p:cNvPr>
          <p:cNvSpPr txBox="1"/>
          <p:nvPr/>
        </p:nvSpPr>
        <p:spPr>
          <a:xfrm>
            <a:off x="607039" y="1635760"/>
            <a:ext cx="1116041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Now add this code at the bottom of your finanalysis.py file:</a:t>
            </a:r>
          </a:p>
          <a:p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sharpe_ratio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calculate_sharpe_ratio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returns_data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sortino_ratio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calculate_sortino_ratio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returns_data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st.subheader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("Performance Metrics")</a:t>
            </a: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st.write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f"Sharpe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Ratio: {sharpe_ratio:.2f}")</a:t>
            </a: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st.write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f"Sortino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Ratio: {sortino_ratio:.2f}")</a:t>
            </a:r>
          </a:p>
          <a:p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48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9939-9CC3-B262-A49B-8EF90CA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DBE7BC05-6BD0-89ED-4CA4-2CDAE4A18104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F9080-58B1-CF0A-12AE-AFD428C47E16}"/>
              </a:ext>
            </a:extLst>
          </p:cNvPr>
          <p:cNvSpPr txBox="1"/>
          <p:nvPr/>
        </p:nvSpPr>
        <p:spPr>
          <a:xfrm>
            <a:off x="607039" y="1635760"/>
            <a:ext cx="1116041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We can use a simple equal-weighted portfolio or implement more advanced optimization algorithms.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For this next step, let’s start with an equal-weighted portfolio.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First add the import with the other imports in your file:</a:t>
            </a:r>
          </a:p>
          <a:p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81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1EE2-2B80-6822-5826-1D23D114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A19CCE3-60F4-A89F-7BAC-A6271839AB34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C24BD-FF33-913D-2C41-3639ED6B7FBE}"/>
              </a:ext>
            </a:extLst>
          </p:cNvPr>
          <p:cNvSpPr txBox="1"/>
          <p:nvPr/>
        </p:nvSpPr>
        <p:spPr>
          <a:xfrm>
            <a:off x="607039" y="1635760"/>
            <a:ext cx="1116041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Add this new function below your other functions:</a:t>
            </a:r>
          </a:p>
          <a:p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portfolio_optimization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(returns):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returns.columns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/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returns.columns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24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0EE8-CF4A-B95D-BD8E-59BD4E68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287752BF-2969-AED9-FE42-610E64985ABC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70A5E-8473-33D3-ED56-7C42BE2B3202}"/>
              </a:ext>
            </a:extLst>
          </p:cNvPr>
          <p:cNvSpPr txBox="1"/>
          <p:nvPr/>
        </p:nvSpPr>
        <p:spPr>
          <a:xfrm>
            <a:off x="607039" y="1635760"/>
            <a:ext cx="1116041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Add this code to the bottom of the file:</a:t>
            </a:r>
          </a:p>
          <a:p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optimal_weights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portfolio_optimization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returns_data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st.subheader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("Portfolio Optimization")</a:t>
            </a: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st.write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("Optimal Portfolio Weights:")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ticker, weight in zip(tickers,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optimal_weights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st.write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(f"{ticker}: {weight:.2%}")</a:t>
            </a:r>
          </a:p>
          <a:p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76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94DE-6A63-88ED-3BCC-1A300B09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834346CE-90FC-C2F1-BE78-C5507F73F3DA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3A982-FA9B-0CD7-5ACE-B9627BF76BB3}"/>
              </a:ext>
            </a:extLst>
          </p:cNvPr>
          <p:cNvSpPr txBox="1"/>
          <p:nvPr/>
        </p:nvSpPr>
        <p:spPr>
          <a:xfrm>
            <a:off x="607039" y="1635760"/>
            <a:ext cx="111604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Now let's provide users with the option to download the stock data they are analyzing. 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makes this super easy with the </a:t>
            </a:r>
            <a:r>
              <a:rPr lang="en-US" sz="2800" dirty="0" err="1">
                <a:solidFill>
                  <a:schemeClr val="bg1"/>
                </a:solidFill>
              </a:rPr>
              <a:t>download_button</a:t>
            </a:r>
            <a:r>
              <a:rPr lang="en-US" sz="2800" dirty="0">
                <a:solidFill>
                  <a:schemeClr val="bg1"/>
                </a:solidFill>
              </a:rPr>
              <a:t> widget.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Add the following code to the bottom of your file:</a:t>
            </a:r>
          </a:p>
          <a:p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csv_data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stock_data.to_csv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st.download_button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("Download Stock Data CSV", </a:t>
            </a: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csv_data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"stock_data.csv")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91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725E-0A8B-F142-928E-0E567B04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64F622AE-A6C8-8971-2B1C-A1E4D575AFA5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DCAECD-8B8E-5D15-3223-31E221CE46ED}"/>
              </a:ext>
            </a:extLst>
          </p:cNvPr>
          <p:cNvSpPr txBox="1"/>
          <p:nvPr/>
        </p:nvSpPr>
        <p:spPr>
          <a:xfrm>
            <a:off x="607039" y="1635760"/>
            <a:ext cx="646867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Commit all the changes and deploy your app to the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Cloud.  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Looks great!</a:t>
            </a:r>
          </a:p>
          <a:p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sz="28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9E6F0-5F70-AB45-2923-94D60BA3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962" y="0"/>
            <a:ext cx="3238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2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E52B-C5D5-74CF-EA52-32644C87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9F0FABFC-5578-A2EC-7BCD-17EED4D4BB7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Streamlit</a:t>
            </a: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Financial Analysis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DCE2E-5D61-5A18-5A04-133E14E0F331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Reflections – Comments – Questions?</a:t>
            </a:r>
          </a:p>
        </p:txBody>
      </p:sp>
      <p:pic>
        <p:nvPicPr>
          <p:cNvPr id="3074" name="Picture 2" descr="Answering the Question Behind the ...">
            <a:extLst>
              <a:ext uri="{FF2B5EF4-FFF2-40B4-BE49-F238E27FC236}">
                <a16:creationId xmlns:a16="http://schemas.microsoft.com/office/drawing/2014/main" id="{F6C5D578-52B7-B3F4-7E59-62DC9C0D1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377483"/>
            <a:ext cx="5181600" cy="324762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4">
            <a:extLst>
              <a:ext uri="{FF2B5EF4-FFF2-40B4-BE49-F238E27FC236}">
                <a16:creationId xmlns:a16="http://schemas.microsoft.com/office/drawing/2014/main" id="{AA447CA5-726F-CDF0-B430-EA053818F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4A9B5881-4007-4345-955A-79C2656F0C49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8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CD3F-C547-401E-630D-25DC5865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CBF5-AB29-6792-9179-0EDBEF10D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4A9B5881-4007-4345-955A-79C2656F0C4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122" name="Picture 2" descr="Free Vectors | THE END (shaded text)">
            <a:extLst>
              <a:ext uri="{FF2B5EF4-FFF2-40B4-BE49-F238E27FC236}">
                <a16:creationId xmlns:a16="http://schemas.microsoft.com/office/drawing/2014/main" id="{36D14B9C-3E27-8F0E-B7C4-024A226BA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49" y="812800"/>
            <a:ext cx="693964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39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4">
      <a:dk1>
        <a:srgbClr val="000000"/>
      </a:dk1>
      <a:lt1>
        <a:srgbClr val="FFFFFF"/>
      </a:lt1>
      <a:dk2>
        <a:srgbClr val="242A41"/>
      </a:dk2>
      <a:lt2>
        <a:srgbClr val="E2E8E3"/>
      </a:lt2>
      <a:accent1>
        <a:srgbClr val="5370C5"/>
      </a:accent1>
      <a:accent2>
        <a:srgbClr val="17B2D1"/>
      </a:accent2>
      <a:accent3>
        <a:srgbClr val="2978E7"/>
      </a:accent3>
      <a:accent4>
        <a:srgbClr val="7829E7"/>
      </a:accent4>
      <a:accent5>
        <a:srgbClr val="B517D5"/>
      </a:accent5>
      <a:accent6>
        <a:srgbClr val="E729B7"/>
      </a:accent6>
      <a:hlink>
        <a:srgbClr val="5370C5"/>
      </a:hlink>
      <a:folHlink>
        <a:srgbClr val="7F7F7F"/>
      </a:folHlink>
    </a:clrScheme>
    <a:fontScheme name="MS Surge Teach Light and Dar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98415_win32_fixed" id="{1E7205E9-DD76-422B-B9FD-343E9C2C894B}" vid="{008E2BBC-A2E4-4140-B026-F6CAB78406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7B5194-E537-408E-9CFF-66A6141D5DE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F9969FA-0C19-40F2-9B6F-EADA7B231A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CFB5EA-1DDA-4423-A8FC-85579F36D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with animation</Template>
  <TotalTime>7712</TotalTime>
  <Words>1353</Words>
  <Application>Microsoft Office PowerPoint</Application>
  <PresentationFormat>Widescreen</PresentationFormat>
  <Paragraphs>169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Wingdings</vt:lpstr>
      <vt:lpstr>Office Theme</vt:lpstr>
      <vt:lpstr>Advanced 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Santo</dc:creator>
  <cp:lastModifiedBy>Santo,Chris</cp:lastModifiedBy>
  <cp:revision>33</cp:revision>
  <dcterms:created xsi:type="dcterms:W3CDTF">2024-06-28T21:19:00Z</dcterms:created>
  <dcterms:modified xsi:type="dcterms:W3CDTF">2026-05-10T01:01:34Z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